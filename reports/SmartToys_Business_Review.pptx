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DM Sans" pitchFamily="2" charset="0"/>
      <p:regular r:id="rId22"/>
      <p:bold r:id="rId23"/>
    </p:embeddedFont>
    <p:embeddedFont>
      <p:font typeface="Nunito Light" pitchFamily="2" charset="0"/>
      <p:regular r:id="rId24"/>
    </p:embeddedFont>
    <p:embeddedFont>
      <p:font typeface="Outfit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6D339-7C54-44C9-989D-88CB491ACD33}" v="4" dt="2026-09-09T07:47:33.203"/>
  </p1510:revLst>
</p1510:revInfo>
</file>

<file path=ppt/tableStyles.xml><?xml version="1.0" encoding="utf-8"?>
<a:tblStyleLst xmlns:a="http://schemas.openxmlformats.org/drawingml/2006/main" def="{B4535D46-4488-4ECE-AE60-50CAF0AF805C}">
  <a:tblStyle styleId="{B4535D46-4488-4ECE-AE60-50CAF0AF80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y Ngo" userId="60c5046ce41d3b27" providerId="LiveId" clId="{6D8D5DE6-2973-46B7-BA81-D711C2A90C59}"/>
    <pc:docChg chg="undo custSel modSld">
      <pc:chgData name="Duy Ngo" userId="60c5046ce41d3b27" providerId="LiveId" clId="{6D8D5DE6-2973-46B7-BA81-D711C2A90C59}" dt="2026-09-09T07:47:37.086" v="22" actId="20577"/>
      <pc:docMkLst>
        <pc:docMk/>
      </pc:docMkLst>
      <pc:sldChg chg="delSp modSp mod">
        <pc:chgData name="Duy Ngo" userId="60c5046ce41d3b27" providerId="LiveId" clId="{6D8D5DE6-2973-46B7-BA81-D711C2A90C59}" dt="2026-09-09T07:47:37.086" v="22" actId="20577"/>
        <pc:sldMkLst>
          <pc:docMk/>
          <pc:sldMk cId="4164362170" sldId="274"/>
        </pc:sldMkLst>
        <pc:spChg chg="mod">
          <ac:chgData name="Duy Ngo" userId="60c5046ce41d3b27" providerId="LiveId" clId="{6D8D5DE6-2973-46B7-BA81-D711C2A90C59}" dt="2026-09-09T07:47:37.086" v="22" actId="20577"/>
          <ac:spMkLst>
            <pc:docMk/>
            <pc:sldMk cId="4164362170" sldId="274"/>
            <ac:spMk id="5" creationId="{73D1AADE-6DD1-59C7-44D7-AA4C69393241}"/>
          </ac:spMkLst>
        </pc:spChg>
        <pc:spChg chg="del mod">
          <ac:chgData name="Duy Ngo" userId="60c5046ce41d3b27" providerId="LiveId" clId="{6D8D5DE6-2973-46B7-BA81-D711C2A90C59}" dt="2026-09-09T07:46:43.278" v="14" actId="478"/>
          <ac:spMkLst>
            <pc:docMk/>
            <pc:sldMk cId="4164362170" sldId="274"/>
            <ac:spMk id="9" creationId="{36D22020-81E4-EA05-695D-E8673A5369DD}"/>
          </ac:spMkLst>
        </pc:spChg>
        <pc:spChg chg="mod">
          <ac:chgData name="Duy Ngo" userId="60c5046ce41d3b27" providerId="LiveId" clId="{6D8D5DE6-2973-46B7-BA81-D711C2A90C59}" dt="2026-09-09T07:45:50.086" v="7" actId="14100"/>
          <ac:spMkLst>
            <pc:docMk/>
            <pc:sldMk cId="4164362170" sldId="274"/>
            <ac:spMk id="11" creationId="{F96C5FA3-B27B-338C-65F1-EFD3855B21FC}"/>
          </ac:spMkLst>
        </pc:spChg>
        <pc:grpChg chg="del mod">
          <ac:chgData name="Duy Ngo" userId="60c5046ce41d3b27" providerId="LiveId" clId="{6D8D5DE6-2973-46B7-BA81-D711C2A90C59}" dt="2026-09-09T07:46:43.278" v="14" actId="478"/>
          <ac:grpSpMkLst>
            <pc:docMk/>
            <pc:sldMk cId="4164362170" sldId="274"/>
            <ac:grpSpMk id="10" creationId="{709BD7A0-3595-005E-C849-2274AF6017DD}"/>
          </ac:grpSpMkLst>
        </pc:grpChg>
        <pc:grpChg chg="del">
          <ac:chgData name="Duy Ngo" userId="60c5046ce41d3b27" providerId="LiveId" clId="{6D8D5DE6-2973-46B7-BA81-D711C2A90C59}" dt="2026-09-09T07:46:43.278" v="14" actId="478"/>
          <ac:grpSpMkLst>
            <pc:docMk/>
            <pc:sldMk cId="4164362170" sldId="274"/>
            <ac:grpSpMk id="15" creationId="{11C5EC68-08DD-2D1C-D308-7ACAD730435E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e71a4a86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e71a4a86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1e71a4a866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1e71a4a866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1e71a4a866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1e71a4a866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EC4DD899-B067-DF88-8E5B-2BEE5E87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>
            <a:extLst>
              <a:ext uri="{FF2B5EF4-FFF2-40B4-BE49-F238E27FC236}">
                <a16:creationId xmlns:a16="http://schemas.microsoft.com/office/drawing/2014/main" id="{D58A24AD-8DC0-A6B7-CC75-DA20C4EED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>
            <a:extLst>
              <a:ext uri="{FF2B5EF4-FFF2-40B4-BE49-F238E27FC236}">
                <a16:creationId xmlns:a16="http://schemas.microsoft.com/office/drawing/2014/main" id="{B330B64B-0BD3-93B0-0CC7-EDD31F376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1749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>
            <a:spLocks noGrp="1"/>
          </p:cNvSpPr>
          <p:nvPr>
            <p:ph type="subTitle" idx="1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rot="10800000" flipH="1">
              <a:off x="534577" y="46792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rot="10800000" flipH="1">
              <a:off x="-125483" y="-4286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1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>
            <a:spLocks noGrp="1"/>
          </p:cNvSpPr>
          <p:nvPr>
            <p:ph type="pic" idx="2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rot="10800000" flipH="1">
              <a:off x="-118698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rot="10800000" flipH="1">
              <a:off x="-519458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1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3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4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6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7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rot="10800000" flipH="1">
              <a:off x="-266473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rot="10800000" flipH="1">
              <a:off x="-151033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subTitle" idx="3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4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5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6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ubTitle" idx="7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ubTitle" idx="8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9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13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14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15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>
            <a:spLocks noGrp="1"/>
          </p:cNvSpPr>
          <p:nvPr>
            <p:ph type="title" hasCustomPrompt="1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title" idx="2" hasCustomPrompt="1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title" idx="4" hasCustomPrompt="1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>
            <a:spLocks noGrp="1"/>
          </p:cNvSpPr>
          <p:nvPr>
            <p:ph type="subTitle" idx="5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7" r:id="rId27"/>
    <p:sldLayoutId id="2147483678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uyngoduyngo/smarttoys-ecommerce-analytic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duyngoduyngo@gmail.com" TargetMode="External"/><Relationship Id="rId4" Type="http://schemas.openxmlformats.org/officeDocument/2006/relationships/hyperlink" Target="https://github.com/duyngoduyngo/smarttoys-ecommerce-analytics/blob/main/notebooks/smarttoys_business_review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713232" y="1051560"/>
            <a:ext cx="4343400" cy="1691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dirty="0" err="1">
                <a:solidFill>
                  <a:srgbClr val="384655"/>
                </a:solidFill>
                <a:latin typeface="Be vietnam pro"/>
              </a:rPr>
              <a:t>SmartToys</a:t>
            </a:r>
            <a:endParaRPr sz="4800" dirty="0">
              <a:latin typeface="Be vietnam pro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400" b="1" dirty="0">
                <a:solidFill>
                  <a:srgbClr val="384655"/>
                </a:solidFill>
                <a:latin typeface="Be vietnam pro"/>
              </a:rPr>
              <a:t>Business Review &amp; Growth Strategy</a:t>
            </a:r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713232" y="3383280"/>
            <a:ext cx="4343400" cy="1463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 err="1">
                <a:solidFill>
                  <a:srgbClr val="2E9CBF"/>
                </a:solidFill>
                <a:latin typeface="Be vietnam pro"/>
              </a:rPr>
              <a:t>Giải</a:t>
            </a:r>
            <a:r>
              <a:rPr sz="1600" b="1" dirty="0">
                <a:solidFill>
                  <a:srgbClr val="2E9CBF"/>
                </a:solidFill>
                <a:latin typeface="Be vietnam pro"/>
              </a:rPr>
              <a:t> </a:t>
            </a:r>
            <a:r>
              <a:rPr sz="1600" b="1" dirty="0" err="1">
                <a:solidFill>
                  <a:srgbClr val="2E9CBF"/>
                </a:solidFill>
                <a:latin typeface="Be vietnam pro"/>
              </a:rPr>
              <a:t>mã</a:t>
            </a:r>
            <a:r>
              <a:rPr sz="1600" b="1" dirty="0">
                <a:solidFill>
                  <a:srgbClr val="2E9CBF"/>
                </a:solidFill>
                <a:latin typeface="Be vietnam pro"/>
              </a:rPr>
              <a:t> </a:t>
            </a:r>
            <a:r>
              <a:rPr sz="1600" b="1" dirty="0" err="1">
                <a:solidFill>
                  <a:srgbClr val="2E9CBF"/>
                </a:solidFill>
                <a:latin typeface="Be vietnam pro"/>
              </a:rPr>
              <a:t>hiện</a:t>
            </a:r>
            <a:r>
              <a:rPr sz="1600" b="1" dirty="0">
                <a:solidFill>
                  <a:srgbClr val="2E9CBF"/>
                </a:solidFill>
                <a:latin typeface="Be vietnam pro"/>
              </a:rPr>
              <a:t> </a:t>
            </a:r>
            <a:r>
              <a:rPr sz="1600" b="1" dirty="0" err="1">
                <a:solidFill>
                  <a:srgbClr val="2E9CBF"/>
                </a:solidFill>
                <a:latin typeface="Be vietnam pro"/>
              </a:rPr>
              <a:t>tượng</a:t>
            </a:r>
            <a:r>
              <a:rPr sz="1600" b="1" dirty="0">
                <a:solidFill>
                  <a:srgbClr val="2E9CBF"/>
                </a:solidFill>
                <a:latin typeface="Be vietnam pro"/>
              </a:rPr>
              <a:t> </a:t>
            </a:r>
            <a:r>
              <a:rPr sz="1600" b="1" dirty="0" err="1">
                <a:solidFill>
                  <a:srgbClr val="2E9CBF"/>
                </a:solidFill>
                <a:latin typeface="Be vietnam pro"/>
              </a:rPr>
              <a:t>trượt</a:t>
            </a:r>
            <a:r>
              <a:rPr sz="1600" b="1" dirty="0">
                <a:solidFill>
                  <a:srgbClr val="2E9CBF"/>
                </a:solidFill>
                <a:latin typeface="Be vietnam pro"/>
              </a:rPr>
              <a:t> </a:t>
            </a:r>
            <a:r>
              <a:rPr sz="1600" b="1" dirty="0" err="1">
                <a:solidFill>
                  <a:srgbClr val="2E9CBF"/>
                </a:solidFill>
                <a:latin typeface="Be vietnam pro"/>
              </a:rPr>
              <a:t>lợi</a:t>
            </a:r>
            <a:r>
              <a:rPr sz="1600" b="1" dirty="0">
                <a:solidFill>
                  <a:srgbClr val="2E9CBF"/>
                </a:solidFill>
                <a:latin typeface="Be vietnam pro"/>
              </a:rPr>
              <a:t> </a:t>
            </a:r>
            <a:r>
              <a:rPr sz="1600" b="1" dirty="0" err="1">
                <a:solidFill>
                  <a:srgbClr val="2E9CBF"/>
                </a:solidFill>
                <a:latin typeface="Be vietnam pro"/>
              </a:rPr>
              <a:t>nhuận</a:t>
            </a:r>
            <a:endParaRPr dirty="0">
              <a:latin typeface="Be vietnam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384655"/>
                </a:solidFill>
                <a:latin typeface="Be vietnam pro"/>
              </a:rPr>
              <a:t>Unit Economics · Cohort · Funnel · Market Basket · Refund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 err="1">
                <a:solidFill>
                  <a:srgbClr val="384655"/>
                </a:solidFill>
                <a:latin typeface="Be vietnam pro"/>
              </a:rPr>
              <a:t>Dữ</a:t>
            </a:r>
            <a:r>
              <a:rPr sz="14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400" b="0" dirty="0" err="1">
                <a:solidFill>
                  <a:srgbClr val="384655"/>
                </a:solidFill>
                <a:latin typeface="Be vietnam pro"/>
              </a:rPr>
              <a:t>liệu</a:t>
            </a:r>
            <a:r>
              <a:rPr sz="1400" b="0" dirty="0">
                <a:solidFill>
                  <a:srgbClr val="384655"/>
                </a:solidFill>
                <a:latin typeface="Be vietnam pro"/>
              </a:rPr>
              <a:t> 03/2012 – 03/2015 · 472,871 </a:t>
            </a:r>
            <a:r>
              <a:rPr sz="1400" b="0" dirty="0" err="1">
                <a:solidFill>
                  <a:srgbClr val="384655"/>
                </a:solidFill>
                <a:latin typeface="Be vietnam pro"/>
              </a:rPr>
              <a:t>phiên</a:t>
            </a:r>
            <a:r>
              <a:rPr sz="1400" b="0" dirty="0">
                <a:solidFill>
                  <a:srgbClr val="384655"/>
                </a:solidFill>
                <a:latin typeface="Be vietnam pro"/>
              </a:rPr>
              <a:t> · 32,313 </a:t>
            </a:r>
            <a:r>
              <a:rPr sz="1400" b="0" dirty="0" err="1">
                <a:solidFill>
                  <a:srgbClr val="384655"/>
                </a:solidFill>
                <a:latin typeface="Be vietnam pro"/>
              </a:rPr>
              <a:t>đơn</a:t>
            </a:r>
            <a:r>
              <a:rPr sz="14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400" b="0" dirty="0" err="1">
                <a:solidFill>
                  <a:srgbClr val="384655"/>
                </a:solidFill>
                <a:latin typeface="Be vietnam pro"/>
              </a:rPr>
              <a:t>hàng</a:t>
            </a:r>
            <a:endParaRPr sz="1400" b="0" dirty="0">
              <a:solidFill>
                <a:srgbClr val="384655"/>
              </a:solidFill>
              <a:latin typeface="Be vietnam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84655"/>
                </a:solidFill>
                <a:latin typeface="Be vietnam pro"/>
              </a:rPr>
              <a:t>Ngô Đức Duy</a:t>
            </a:r>
            <a:r>
              <a:rPr sz="1400" b="1" dirty="0">
                <a:solidFill>
                  <a:srgbClr val="384655"/>
                </a:solidFill>
                <a:latin typeface="Be vietnam pro"/>
              </a:rPr>
              <a:t> · Data Analyst Portfolio</a:t>
            </a:r>
          </a:p>
        </p:txBody>
      </p:sp>
      <p:cxnSp>
        <p:nvCxnSpPr>
          <p:cNvPr id="346" name="Google Shape;346;p36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384655"/>
                </a:solidFill>
                <a:latin typeface="Be vietnam pro"/>
              </a:rPr>
              <a:t>Ba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phát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hiện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chính</a:t>
            </a:r>
            <a:endParaRPr dirty="0">
              <a:latin typeface="Be vietnam pro"/>
            </a:endParaRP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722376" y="2517380"/>
            <a:ext cx="2606040" cy="197784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384655"/>
                </a:solidFill>
                <a:latin typeface="Be vietnam pro"/>
              </a:rPr>
              <a:t>98.14%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khách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chỉ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mua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một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lần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; retention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tháng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1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là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0.84%.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Mỗi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khách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chỉ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đem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về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$61.16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rồi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biến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mất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,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nên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mọi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tăng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trưởng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đều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phải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mua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bằng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ngân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sách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quảng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cáo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mới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.</a:t>
            </a:r>
            <a:endParaRPr dirty="0">
              <a:latin typeface="Be vietnam pro"/>
            </a:endParaRPr>
          </a:p>
        </p:txBody>
      </p:sp>
      <p:sp>
        <p:nvSpPr>
          <p:cNvPr id="505" name="Google Shape;505;p44"/>
          <p:cNvSpPr txBox="1">
            <a:spLocks noGrp="1"/>
          </p:cNvSpPr>
          <p:nvPr>
            <p:ph type="subTitle" idx="2"/>
          </p:nvPr>
        </p:nvSpPr>
        <p:spPr>
          <a:xfrm>
            <a:off x="3520440" y="2517380"/>
            <a:ext cx="2606040" cy="14310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CR 3.09% so với Desktop 8.50%. Ước tính $473,000 doanh thu bị bỏ lỡ, và khoảng cách đang nới rộng.</a:t>
            </a:r>
            <a:endParaRPr>
              <a:latin typeface="Be vietnam pro"/>
            </a:endParaRPr>
          </a:p>
        </p:txBody>
      </p:sp>
      <p:sp>
        <p:nvSpPr>
          <p:cNvPr id="506" name="Google Shape;506;p44"/>
          <p:cNvSpPr txBox="1">
            <a:spLocks noGrp="1"/>
          </p:cNvSpPr>
          <p:nvPr>
            <p:ph type="subTitle" idx="3"/>
          </p:nvPr>
        </p:nvSpPr>
        <p:spPr>
          <a:xfrm>
            <a:off x="6318504" y="2517380"/>
            <a:ext cx="2606040" cy="14310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Hudson có biên ròng cao nhất 67.08% và refund thấp nhất 1.28%, nhưng chỉ 1.00% khách xem danh mục click vào.</a:t>
            </a:r>
            <a:endParaRPr>
              <a:latin typeface="Be vietnam pro"/>
            </a:endParaRPr>
          </a:p>
        </p:txBody>
      </p:sp>
      <p:sp>
        <p:nvSpPr>
          <p:cNvPr id="507" name="Google Shape;507;p44"/>
          <p:cNvSpPr txBox="1">
            <a:spLocks noGrp="1"/>
          </p:cNvSpPr>
          <p:nvPr>
            <p:ph type="subTitle" idx="4"/>
          </p:nvPr>
        </p:nvSpPr>
        <p:spPr>
          <a:xfrm>
            <a:off x="722376" y="1799394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 err="1">
                <a:solidFill>
                  <a:srgbClr val="384655"/>
                </a:solidFill>
                <a:latin typeface="Be vietnam pro"/>
              </a:rPr>
              <a:t>Không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có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vòng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đời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khách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hàng</a:t>
            </a:r>
            <a:endParaRPr dirty="0">
              <a:latin typeface="Be vietnam pro"/>
            </a:endParaRPr>
          </a:p>
        </p:txBody>
      </p:sp>
      <p:sp>
        <p:nvSpPr>
          <p:cNvPr id="508" name="Google Shape;508;p44"/>
          <p:cNvSpPr txBox="1">
            <a:spLocks noGrp="1"/>
          </p:cNvSpPr>
          <p:nvPr>
            <p:ph type="subTitle" idx="5"/>
          </p:nvPr>
        </p:nvSpPr>
        <p:spPr>
          <a:xfrm>
            <a:off x="3520440" y="1799394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Mobile là lỗ hổng tốn kém nhất</a:t>
            </a:r>
            <a:endParaRPr>
              <a:latin typeface="Be vietnam pro"/>
            </a:endParaRPr>
          </a:p>
        </p:txBody>
      </p:sp>
      <p:sp>
        <p:nvSpPr>
          <p:cNvPr id="509" name="Google Shape;509;p44"/>
          <p:cNvSpPr txBox="1">
            <a:spLocks noGrp="1"/>
          </p:cNvSpPr>
          <p:nvPr>
            <p:ph type="subTitle" idx="6"/>
          </p:nvPr>
        </p:nvSpPr>
        <p:spPr>
          <a:xfrm>
            <a:off x="6318504" y="1799394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Sản phẩm sinh lời nhất bị chôn vùi</a:t>
            </a:r>
            <a:endParaRPr>
              <a:latin typeface="Be vietnam pro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1829318" y="1206093"/>
            <a:ext cx="392155" cy="392133"/>
          </a:xfrm>
          <a:custGeom>
            <a:avLst/>
            <a:gdLst/>
            <a:ahLst/>
            <a:cxnLst/>
            <a:rect l="l" t="t" r="r" b="b"/>
            <a:pathLst>
              <a:path w="17352" h="17351" extrusionOk="0">
                <a:moveTo>
                  <a:pt x="10906" y="1018"/>
                </a:moveTo>
                <a:lnTo>
                  <a:pt x="10906" y="2036"/>
                </a:lnTo>
                <a:lnTo>
                  <a:pt x="6447" y="2036"/>
                </a:lnTo>
                <a:lnTo>
                  <a:pt x="6447" y="1018"/>
                </a:lnTo>
                <a:close/>
                <a:moveTo>
                  <a:pt x="10906" y="5089"/>
                </a:moveTo>
                <a:lnTo>
                  <a:pt x="10906" y="6107"/>
                </a:lnTo>
                <a:lnTo>
                  <a:pt x="6447" y="6107"/>
                </a:lnTo>
                <a:lnTo>
                  <a:pt x="6447" y="5089"/>
                </a:lnTo>
                <a:close/>
                <a:moveTo>
                  <a:pt x="8676" y="9209"/>
                </a:moveTo>
                <a:lnTo>
                  <a:pt x="10276" y="9984"/>
                </a:lnTo>
                <a:lnTo>
                  <a:pt x="8676" y="10760"/>
                </a:lnTo>
                <a:lnTo>
                  <a:pt x="7077" y="9984"/>
                </a:lnTo>
                <a:lnTo>
                  <a:pt x="8676" y="9209"/>
                </a:lnTo>
                <a:close/>
                <a:moveTo>
                  <a:pt x="4120" y="15315"/>
                </a:moveTo>
                <a:lnTo>
                  <a:pt x="4314" y="15364"/>
                </a:lnTo>
                <a:lnTo>
                  <a:pt x="4508" y="15461"/>
                </a:lnTo>
                <a:lnTo>
                  <a:pt x="4605" y="15655"/>
                </a:lnTo>
                <a:lnTo>
                  <a:pt x="4654" y="15848"/>
                </a:lnTo>
                <a:lnTo>
                  <a:pt x="4605" y="16042"/>
                </a:lnTo>
                <a:lnTo>
                  <a:pt x="4508" y="16188"/>
                </a:lnTo>
                <a:lnTo>
                  <a:pt x="4314" y="16285"/>
                </a:lnTo>
                <a:lnTo>
                  <a:pt x="4120" y="16333"/>
                </a:lnTo>
                <a:lnTo>
                  <a:pt x="1503" y="16333"/>
                </a:lnTo>
                <a:lnTo>
                  <a:pt x="1310" y="16285"/>
                </a:lnTo>
                <a:lnTo>
                  <a:pt x="1164" y="16188"/>
                </a:lnTo>
                <a:lnTo>
                  <a:pt x="1067" y="16042"/>
                </a:lnTo>
                <a:lnTo>
                  <a:pt x="1019" y="15848"/>
                </a:lnTo>
                <a:lnTo>
                  <a:pt x="1067" y="15655"/>
                </a:lnTo>
                <a:lnTo>
                  <a:pt x="1164" y="15461"/>
                </a:lnTo>
                <a:lnTo>
                  <a:pt x="1310" y="15364"/>
                </a:lnTo>
                <a:lnTo>
                  <a:pt x="1503" y="15315"/>
                </a:lnTo>
                <a:close/>
                <a:moveTo>
                  <a:pt x="15801" y="15315"/>
                </a:moveTo>
                <a:lnTo>
                  <a:pt x="15994" y="15364"/>
                </a:lnTo>
                <a:lnTo>
                  <a:pt x="16188" y="15461"/>
                </a:lnTo>
                <a:lnTo>
                  <a:pt x="16285" y="15655"/>
                </a:lnTo>
                <a:lnTo>
                  <a:pt x="16334" y="15848"/>
                </a:lnTo>
                <a:lnTo>
                  <a:pt x="16285" y="16042"/>
                </a:lnTo>
                <a:lnTo>
                  <a:pt x="16188" y="16188"/>
                </a:lnTo>
                <a:lnTo>
                  <a:pt x="15994" y="16285"/>
                </a:lnTo>
                <a:lnTo>
                  <a:pt x="15801" y="16333"/>
                </a:lnTo>
                <a:lnTo>
                  <a:pt x="13232" y="16333"/>
                </a:lnTo>
                <a:lnTo>
                  <a:pt x="12990" y="16285"/>
                </a:lnTo>
                <a:lnTo>
                  <a:pt x="12844" y="16188"/>
                </a:lnTo>
                <a:lnTo>
                  <a:pt x="12747" y="16042"/>
                </a:lnTo>
                <a:lnTo>
                  <a:pt x="12699" y="15848"/>
                </a:lnTo>
                <a:lnTo>
                  <a:pt x="12747" y="15655"/>
                </a:lnTo>
                <a:lnTo>
                  <a:pt x="12844" y="15461"/>
                </a:lnTo>
                <a:lnTo>
                  <a:pt x="12990" y="15364"/>
                </a:lnTo>
                <a:lnTo>
                  <a:pt x="13232" y="15315"/>
                </a:lnTo>
                <a:close/>
                <a:moveTo>
                  <a:pt x="5914" y="0"/>
                </a:moveTo>
                <a:lnTo>
                  <a:pt x="5720" y="49"/>
                </a:lnTo>
                <a:lnTo>
                  <a:pt x="5574" y="146"/>
                </a:lnTo>
                <a:lnTo>
                  <a:pt x="5478" y="340"/>
                </a:lnTo>
                <a:lnTo>
                  <a:pt x="5429" y="534"/>
                </a:lnTo>
                <a:lnTo>
                  <a:pt x="5429" y="2569"/>
                </a:lnTo>
                <a:lnTo>
                  <a:pt x="5478" y="2763"/>
                </a:lnTo>
                <a:lnTo>
                  <a:pt x="5574" y="2908"/>
                </a:lnTo>
                <a:lnTo>
                  <a:pt x="5720" y="3005"/>
                </a:lnTo>
                <a:lnTo>
                  <a:pt x="5914" y="3054"/>
                </a:lnTo>
                <a:lnTo>
                  <a:pt x="8143" y="3054"/>
                </a:lnTo>
                <a:lnTo>
                  <a:pt x="8143" y="4072"/>
                </a:lnTo>
                <a:lnTo>
                  <a:pt x="5914" y="4072"/>
                </a:lnTo>
                <a:lnTo>
                  <a:pt x="5720" y="4120"/>
                </a:lnTo>
                <a:lnTo>
                  <a:pt x="5574" y="4217"/>
                </a:lnTo>
                <a:lnTo>
                  <a:pt x="5478" y="4411"/>
                </a:lnTo>
                <a:lnTo>
                  <a:pt x="5429" y="4605"/>
                </a:lnTo>
                <a:lnTo>
                  <a:pt x="5429" y="6640"/>
                </a:lnTo>
                <a:lnTo>
                  <a:pt x="5478" y="6834"/>
                </a:lnTo>
                <a:lnTo>
                  <a:pt x="5574" y="6979"/>
                </a:lnTo>
                <a:lnTo>
                  <a:pt x="5720" y="7076"/>
                </a:lnTo>
                <a:lnTo>
                  <a:pt x="5914" y="7125"/>
                </a:lnTo>
                <a:lnTo>
                  <a:pt x="8143" y="7125"/>
                </a:lnTo>
                <a:lnTo>
                  <a:pt x="8143" y="8336"/>
                </a:lnTo>
                <a:lnTo>
                  <a:pt x="5817" y="9451"/>
                </a:lnTo>
                <a:lnTo>
                  <a:pt x="2860" y="9451"/>
                </a:lnTo>
                <a:lnTo>
                  <a:pt x="2667" y="9500"/>
                </a:lnTo>
                <a:lnTo>
                  <a:pt x="2473" y="9596"/>
                </a:lnTo>
                <a:lnTo>
                  <a:pt x="2376" y="9790"/>
                </a:lnTo>
                <a:lnTo>
                  <a:pt x="2327" y="9984"/>
                </a:lnTo>
                <a:lnTo>
                  <a:pt x="2327" y="14298"/>
                </a:lnTo>
                <a:lnTo>
                  <a:pt x="1503" y="14298"/>
                </a:lnTo>
                <a:lnTo>
                  <a:pt x="1213" y="14346"/>
                </a:lnTo>
                <a:lnTo>
                  <a:pt x="922" y="14443"/>
                </a:lnTo>
                <a:lnTo>
                  <a:pt x="679" y="14588"/>
                </a:lnTo>
                <a:lnTo>
                  <a:pt x="437" y="14782"/>
                </a:lnTo>
                <a:lnTo>
                  <a:pt x="243" y="14976"/>
                </a:lnTo>
                <a:lnTo>
                  <a:pt x="98" y="15267"/>
                </a:lnTo>
                <a:lnTo>
                  <a:pt x="49" y="15509"/>
                </a:lnTo>
                <a:lnTo>
                  <a:pt x="1" y="15848"/>
                </a:lnTo>
                <a:lnTo>
                  <a:pt x="49" y="16139"/>
                </a:lnTo>
                <a:lnTo>
                  <a:pt x="98" y="16430"/>
                </a:lnTo>
                <a:lnTo>
                  <a:pt x="243" y="16672"/>
                </a:lnTo>
                <a:lnTo>
                  <a:pt x="437" y="16915"/>
                </a:lnTo>
                <a:lnTo>
                  <a:pt x="679" y="17109"/>
                </a:lnTo>
                <a:lnTo>
                  <a:pt x="922" y="17254"/>
                </a:lnTo>
                <a:lnTo>
                  <a:pt x="1213" y="17351"/>
                </a:lnTo>
                <a:lnTo>
                  <a:pt x="4460" y="17351"/>
                </a:lnTo>
                <a:lnTo>
                  <a:pt x="4702" y="17254"/>
                </a:lnTo>
                <a:lnTo>
                  <a:pt x="4993" y="17109"/>
                </a:lnTo>
                <a:lnTo>
                  <a:pt x="5187" y="16915"/>
                </a:lnTo>
                <a:lnTo>
                  <a:pt x="5381" y="16672"/>
                </a:lnTo>
                <a:lnTo>
                  <a:pt x="5526" y="16430"/>
                </a:lnTo>
                <a:lnTo>
                  <a:pt x="5623" y="16139"/>
                </a:lnTo>
                <a:lnTo>
                  <a:pt x="5671" y="15848"/>
                </a:lnTo>
                <a:lnTo>
                  <a:pt x="5623" y="15509"/>
                </a:lnTo>
                <a:lnTo>
                  <a:pt x="5526" y="15267"/>
                </a:lnTo>
                <a:lnTo>
                  <a:pt x="5381" y="14976"/>
                </a:lnTo>
                <a:lnTo>
                  <a:pt x="5187" y="14782"/>
                </a:lnTo>
                <a:lnTo>
                  <a:pt x="4993" y="14588"/>
                </a:lnTo>
                <a:lnTo>
                  <a:pt x="4702" y="14443"/>
                </a:lnTo>
                <a:lnTo>
                  <a:pt x="4460" y="14346"/>
                </a:lnTo>
                <a:lnTo>
                  <a:pt x="4120" y="14298"/>
                </a:lnTo>
                <a:lnTo>
                  <a:pt x="3345" y="14298"/>
                </a:lnTo>
                <a:lnTo>
                  <a:pt x="3345" y="10469"/>
                </a:lnTo>
                <a:lnTo>
                  <a:pt x="5817" y="10469"/>
                </a:lnTo>
                <a:lnTo>
                  <a:pt x="8434" y="11777"/>
                </a:lnTo>
                <a:lnTo>
                  <a:pt x="8676" y="11826"/>
                </a:lnTo>
                <a:lnTo>
                  <a:pt x="8870" y="11777"/>
                </a:lnTo>
                <a:lnTo>
                  <a:pt x="11536" y="10469"/>
                </a:lnTo>
                <a:lnTo>
                  <a:pt x="14007" y="10469"/>
                </a:lnTo>
                <a:lnTo>
                  <a:pt x="14007" y="14298"/>
                </a:lnTo>
                <a:lnTo>
                  <a:pt x="13232" y="14298"/>
                </a:lnTo>
                <a:lnTo>
                  <a:pt x="12893" y="14346"/>
                </a:lnTo>
                <a:lnTo>
                  <a:pt x="12602" y="14443"/>
                </a:lnTo>
                <a:lnTo>
                  <a:pt x="12360" y="14588"/>
                </a:lnTo>
                <a:lnTo>
                  <a:pt x="12117" y="14782"/>
                </a:lnTo>
                <a:lnTo>
                  <a:pt x="11923" y="14976"/>
                </a:lnTo>
                <a:lnTo>
                  <a:pt x="11826" y="15267"/>
                </a:lnTo>
                <a:lnTo>
                  <a:pt x="11730" y="15509"/>
                </a:lnTo>
                <a:lnTo>
                  <a:pt x="11681" y="15848"/>
                </a:lnTo>
                <a:lnTo>
                  <a:pt x="11730" y="16139"/>
                </a:lnTo>
                <a:lnTo>
                  <a:pt x="11826" y="16430"/>
                </a:lnTo>
                <a:lnTo>
                  <a:pt x="11923" y="16672"/>
                </a:lnTo>
                <a:lnTo>
                  <a:pt x="12117" y="16915"/>
                </a:lnTo>
                <a:lnTo>
                  <a:pt x="12360" y="17109"/>
                </a:lnTo>
                <a:lnTo>
                  <a:pt x="12602" y="17254"/>
                </a:lnTo>
                <a:lnTo>
                  <a:pt x="12893" y="17351"/>
                </a:lnTo>
                <a:lnTo>
                  <a:pt x="16140" y="17351"/>
                </a:lnTo>
                <a:lnTo>
                  <a:pt x="16431" y="17254"/>
                </a:lnTo>
                <a:lnTo>
                  <a:pt x="16673" y="17109"/>
                </a:lnTo>
                <a:lnTo>
                  <a:pt x="16915" y="16915"/>
                </a:lnTo>
                <a:lnTo>
                  <a:pt x="17061" y="16672"/>
                </a:lnTo>
                <a:lnTo>
                  <a:pt x="17206" y="16430"/>
                </a:lnTo>
                <a:lnTo>
                  <a:pt x="17303" y="16139"/>
                </a:lnTo>
                <a:lnTo>
                  <a:pt x="17351" y="15848"/>
                </a:lnTo>
                <a:lnTo>
                  <a:pt x="17303" y="15509"/>
                </a:lnTo>
                <a:lnTo>
                  <a:pt x="17206" y="15267"/>
                </a:lnTo>
                <a:lnTo>
                  <a:pt x="17061" y="14976"/>
                </a:lnTo>
                <a:lnTo>
                  <a:pt x="16915" y="14782"/>
                </a:lnTo>
                <a:lnTo>
                  <a:pt x="16673" y="14588"/>
                </a:lnTo>
                <a:lnTo>
                  <a:pt x="16431" y="14443"/>
                </a:lnTo>
                <a:lnTo>
                  <a:pt x="16140" y="14346"/>
                </a:lnTo>
                <a:lnTo>
                  <a:pt x="15801" y="14298"/>
                </a:lnTo>
                <a:lnTo>
                  <a:pt x="15025" y="14298"/>
                </a:lnTo>
                <a:lnTo>
                  <a:pt x="15025" y="9984"/>
                </a:lnTo>
                <a:lnTo>
                  <a:pt x="14977" y="9790"/>
                </a:lnTo>
                <a:lnTo>
                  <a:pt x="14880" y="9596"/>
                </a:lnTo>
                <a:lnTo>
                  <a:pt x="14686" y="9500"/>
                </a:lnTo>
                <a:lnTo>
                  <a:pt x="14492" y="9451"/>
                </a:lnTo>
                <a:lnTo>
                  <a:pt x="11536" y="9451"/>
                </a:lnTo>
                <a:lnTo>
                  <a:pt x="9161" y="8336"/>
                </a:lnTo>
                <a:lnTo>
                  <a:pt x="9161" y="7125"/>
                </a:lnTo>
                <a:lnTo>
                  <a:pt x="11439" y="7125"/>
                </a:lnTo>
                <a:lnTo>
                  <a:pt x="11633" y="7076"/>
                </a:lnTo>
                <a:lnTo>
                  <a:pt x="11778" y="6979"/>
                </a:lnTo>
                <a:lnTo>
                  <a:pt x="11875" y="6834"/>
                </a:lnTo>
                <a:lnTo>
                  <a:pt x="11923" y="6640"/>
                </a:lnTo>
                <a:lnTo>
                  <a:pt x="11923" y="4605"/>
                </a:lnTo>
                <a:lnTo>
                  <a:pt x="11875" y="4411"/>
                </a:lnTo>
                <a:lnTo>
                  <a:pt x="11778" y="4217"/>
                </a:lnTo>
                <a:lnTo>
                  <a:pt x="11633" y="4120"/>
                </a:lnTo>
                <a:lnTo>
                  <a:pt x="11439" y="4072"/>
                </a:lnTo>
                <a:lnTo>
                  <a:pt x="9161" y="4072"/>
                </a:lnTo>
                <a:lnTo>
                  <a:pt x="9161" y="3054"/>
                </a:lnTo>
                <a:lnTo>
                  <a:pt x="11439" y="3054"/>
                </a:lnTo>
                <a:lnTo>
                  <a:pt x="11633" y="3005"/>
                </a:lnTo>
                <a:lnTo>
                  <a:pt x="11778" y="2908"/>
                </a:lnTo>
                <a:lnTo>
                  <a:pt x="11875" y="2763"/>
                </a:lnTo>
                <a:lnTo>
                  <a:pt x="11923" y="2569"/>
                </a:lnTo>
                <a:lnTo>
                  <a:pt x="11923" y="534"/>
                </a:lnTo>
                <a:lnTo>
                  <a:pt x="11875" y="340"/>
                </a:lnTo>
                <a:lnTo>
                  <a:pt x="11778" y="146"/>
                </a:lnTo>
                <a:lnTo>
                  <a:pt x="11633" y="49"/>
                </a:lnTo>
                <a:lnTo>
                  <a:pt x="1143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</a:endParaRPr>
          </a:p>
        </p:txBody>
      </p:sp>
      <p:grpSp>
        <p:nvGrpSpPr>
          <p:cNvPr id="511" name="Google Shape;511;p44"/>
          <p:cNvGrpSpPr/>
          <p:nvPr/>
        </p:nvGrpSpPr>
        <p:grpSpPr>
          <a:xfrm>
            <a:off x="4627382" y="1206093"/>
            <a:ext cx="392155" cy="392133"/>
            <a:chOff x="3944375" y="1333902"/>
            <a:chExt cx="392155" cy="392133"/>
          </a:xfrm>
        </p:grpSpPr>
        <p:sp>
          <p:nvSpPr>
            <p:cNvPr id="512" name="Google Shape;512;p44"/>
            <p:cNvSpPr/>
            <p:nvPr/>
          </p:nvSpPr>
          <p:spPr>
            <a:xfrm>
              <a:off x="3944375" y="1333902"/>
              <a:ext cx="276036" cy="392133"/>
            </a:xfrm>
            <a:custGeom>
              <a:avLst/>
              <a:gdLst/>
              <a:ahLst/>
              <a:cxnLst/>
              <a:rect l="l" t="t" r="r" b="b"/>
              <a:pathLst>
                <a:path w="12214" h="17351" extrusionOk="0">
                  <a:moveTo>
                    <a:pt x="8337" y="1018"/>
                  </a:moveTo>
                  <a:lnTo>
                    <a:pt x="8337" y="2036"/>
                  </a:lnTo>
                  <a:lnTo>
                    <a:pt x="7319" y="2036"/>
                  </a:lnTo>
                  <a:lnTo>
                    <a:pt x="7319" y="1018"/>
                  </a:lnTo>
                  <a:close/>
                  <a:moveTo>
                    <a:pt x="6301" y="5429"/>
                  </a:moveTo>
                  <a:lnTo>
                    <a:pt x="6495" y="5477"/>
                  </a:lnTo>
                  <a:lnTo>
                    <a:pt x="6640" y="5574"/>
                  </a:lnTo>
                  <a:lnTo>
                    <a:pt x="6737" y="5719"/>
                  </a:lnTo>
                  <a:lnTo>
                    <a:pt x="6786" y="5913"/>
                  </a:lnTo>
                  <a:lnTo>
                    <a:pt x="6737" y="6155"/>
                  </a:lnTo>
                  <a:lnTo>
                    <a:pt x="6640" y="6301"/>
                  </a:lnTo>
                  <a:lnTo>
                    <a:pt x="6495" y="6398"/>
                  </a:lnTo>
                  <a:lnTo>
                    <a:pt x="6301" y="6446"/>
                  </a:lnTo>
                  <a:lnTo>
                    <a:pt x="6107" y="6398"/>
                  </a:lnTo>
                  <a:lnTo>
                    <a:pt x="5913" y="6301"/>
                  </a:lnTo>
                  <a:lnTo>
                    <a:pt x="5816" y="6155"/>
                  </a:lnTo>
                  <a:lnTo>
                    <a:pt x="5768" y="5913"/>
                  </a:lnTo>
                  <a:lnTo>
                    <a:pt x="5816" y="5719"/>
                  </a:lnTo>
                  <a:lnTo>
                    <a:pt x="5913" y="5574"/>
                  </a:lnTo>
                  <a:lnTo>
                    <a:pt x="6107" y="5477"/>
                  </a:lnTo>
                  <a:lnTo>
                    <a:pt x="6301" y="5429"/>
                  </a:lnTo>
                  <a:close/>
                  <a:moveTo>
                    <a:pt x="8821" y="3054"/>
                  </a:moveTo>
                  <a:lnTo>
                    <a:pt x="8821" y="9257"/>
                  </a:lnTo>
                  <a:lnTo>
                    <a:pt x="6786" y="9257"/>
                  </a:lnTo>
                  <a:lnTo>
                    <a:pt x="6786" y="7367"/>
                  </a:lnTo>
                  <a:lnTo>
                    <a:pt x="6979" y="7270"/>
                  </a:lnTo>
                  <a:lnTo>
                    <a:pt x="7173" y="7173"/>
                  </a:lnTo>
                  <a:lnTo>
                    <a:pt x="7367" y="6979"/>
                  </a:lnTo>
                  <a:lnTo>
                    <a:pt x="7513" y="6834"/>
                  </a:lnTo>
                  <a:lnTo>
                    <a:pt x="7658" y="6640"/>
                  </a:lnTo>
                  <a:lnTo>
                    <a:pt x="7706" y="6398"/>
                  </a:lnTo>
                  <a:lnTo>
                    <a:pt x="7803" y="6204"/>
                  </a:lnTo>
                  <a:lnTo>
                    <a:pt x="7803" y="5913"/>
                  </a:lnTo>
                  <a:lnTo>
                    <a:pt x="7803" y="5671"/>
                  </a:lnTo>
                  <a:lnTo>
                    <a:pt x="7706" y="5477"/>
                  </a:lnTo>
                  <a:lnTo>
                    <a:pt x="7658" y="5235"/>
                  </a:lnTo>
                  <a:lnTo>
                    <a:pt x="7513" y="5041"/>
                  </a:lnTo>
                  <a:lnTo>
                    <a:pt x="7367" y="4895"/>
                  </a:lnTo>
                  <a:lnTo>
                    <a:pt x="7173" y="4702"/>
                  </a:lnTo>
                  <a:lnTo>
                    <a:pt x="6979" y="4605"/>
                  </a:lnTo>
                  <a:lnTo>
                    <a:pt x="6786" y="4508"/>
                  </a:lnTo>
                  <a:lnTo>
                    <a:pt x="6786" y="3054"/>
                  </a:lnTo>
                  <a:close/>
                  <a:moveTo>
                    <a:pt x="4847" y="5429"/>
                  </a:moveTo>
                  <a:lnTo>
                    <a:pt x="4799" y="5671"/>
                  </a:lnTo>
                  <a:lnTo>
                    <a:pt x="4750" y="5913"/>
                  </a:lnTo>
                  <a:lnTo>
                    <a:pt x="4799" y="6204"/>
                  </a:lnTo>
                  <a:lnTo>
                    <a:pt x="4847" y="6446"/>
                  </a:lnTo>
                  <a:lnTo>
                    <a:pt x="4314" y="6592"/>
                  </a:lnTo>
                  <a:lnTo>
                    <a:pt x="3829" y="6786"/>
                  </a:lnTo>
                  <a:lnTo>
                    <a:pt x="3393" y="7028"/>
                  </a:lnTo>
                  <a:lnTo>
                    <a:pt x="3005" y="7367"/>
                  </a:lnTo>
                  <a:lnTo>
                    <a:pt x="2763" y="7609"/>
                  </a:lnTo>
                  <a:lnTo>
                    <a:pt x="2569" y="7852"/>
                  </a:lnTo>
                  <a:lnTo>
                    <a:pt x="2424" y="8143"/>
                  </a:lnTo>
                  <a:lnTo>
                    <a:pt x="2278" y="8433"/>
                  </a:lnTo>
                  <a:lnTo>
                    <a:pt x="2181" y="8724"/>
                  </a:lnTo>
                  <a:lnTo>
                    <a:pt x="2133" y="9015"/>
                  </a:lnTo>
                  <a:lnTo>
                    <a:pt x="2085" y="9306"/>
                  </a:lnTo>
                  <a:lnTo>
                    <a:pt x="2036" y="9645"/>
                  </a:lnTo>
                  <a:lnTo>
                    <a:pt x="2036" y="14298"/>
                  </a:lnTo>
                  <a:lnTo>
                    <a:pt x="1018" y="14298"/>
                  </a:lnTo>
                  <a:lnTo>
                    <a:pt x="1018" y="9645"/>
                  </a:lnTo>
                  <a:lnTo>
                    <a:pt x="1067" y="9209"/>
                  </a:lnTo>
                  <a:lnTo>
                    <a:pt x="1115" y="8821"/>
                  </a:lnTo>
                  <a:lnTo>
                    <a:pt x="1212" y="8433"/>
                  </a:lnTo>
                  <a:lnTo>
                    <a:pt x="1358" y="8046"/>
                  </a:lnTo>
                  <a:lnTo>
                    <a:pt x="1503" y="7658"/>
                  </a:lnTo>
                  <a:lnTo>
                    <a:pt x="1745" y="7319"/>
                  </a:lnTo>
                  <a:lnTo>
                    <a:pt x="1988" y="6979"/>
                  </a:lnTo>
                  <a:lnTo>
                    <a:pt x="2278" y="6640"/>
                  </a:lnTo>
                  <a:lnTo>
                    <a:pt x="2521" y="6398"/>
                  </a:lnTo>
                  <a:lnTo>
                    <a:pt x="2811" y="6204"/>
                  </a:lnTo>
                  <a:lnTo>
                    <a:pt x="3151" y="6010"/>
                  </a:lnTo>
                  <a:lnTo>
                    <a:pt x="3442" y="5816"/>
                  </a:lnTo>
                  <a:lnTo>
                    <a:pt x="3781" y="5671"/>
                  </a:lnTo>
                  <a:lnTo>
                    <a:pt x="4120" y="5574"/>
                  </a:lnTo>
                  <a:lnTo>
                    <a:pt x="4459" y="5477"/>
                  </a:lnTo>
                  <a:lnTo>
                    <a:pt x="4847" y="5429"/>
                  </a:lnTo>
                  <a:close/>
                  <a:moveTo>
                    <a:pt x="9984" y="13280"/>
                  </a:moveTo>
                  <a:lnTo>
                    <a:pt x="9984" y="14298"/>
                  </a:lnTo>
                  <a:lnTo>
                    <a:pt x="5622" y="14298"/>
                  </a:lnTo>
                  <a:lnTo>
                    <a:pt x="5622" y="13280"/>
                  </a:lnTo>
                  <a:close/>
                  <a:moveTo>
                    <a:pt x="10517" y="15315"/>
                  </a:moveTo>
                  <a:lnTo>
                    <a:pt x="10760" y="15364"/>
                  </a:lnTo>
                  <a:lnTo>
                    <a:pt x="11002" y="15509"/>
                  </a:lnTo>
                  <a:lnTo>
                    <a:pt x="11147" y="15752"/>
                  </a:lnTo>
                  <a:lnTo>
                    <a:pt x="11196" y="15994"/>
                  </a:lnTo>
                  <a:lnTo>
                    <a:pt x="11196" y="16333"/>
                  </a:lnTo>
                  <a:lnTo>
                    <a:pt x="1018" y="16333"/>
                  </a:lnTo>
                  <a:lnTo>
                    <a:pt x="1018" y="15315"/>
                  </a:lnTo>
                  <a:close/>
                  <a:moveTo>
                    <a:pt x="6786" y="0"/>
                  </a:moveTo>
                  <a:lnTo>
                    <a:pt x="6592" y="49"/>
                  </a:lnTo>
                  <a:lnTo>
                    <a:pt x="6446" y="146"/>
                  </a:lnTo>
                  <a:lnTo>
                    <a:pt x="6301" y="340"/>
                  </a:lnTo>
                  <a:lnTo>
                    <a:pt x="6301" y="534"/>
                  </a:lnTo>
                  <a:lnTo>
                    <a:pt x="6301" y="2036"/>
                  </a:lnTo>
                  <a:lnTo>
                    <a:pt x="6107" y="2084"/>
                  </a:lnTo>
                  <a:lnTo>
                    <a:pt x="5913" y="2181"/>
                  </a:lnTo>
                  <a:lnTo>
                    <a:pt x="5816" y="2375"/>
                  </a:lnTo>
                  <a:lnTo>
                    <a:pt x="5768" y="2569"/>
                  </a:lnTo>
                  <a:lnTo>
                    <a:pt x="5768" y="4411"/>
                  </a:lnTo>
                  <a:lnTo>
                    <a:pt x="5235" y="4411"/>
                  </a:lnTo>
                  <a:lnTo>
                    <a:pt x="4702" y="4459"/>
                  </a:lnTo>
                  <a:lnTo>
                    <a:pt x="4217" y="4508"/>
                  </a:lnTo>
                  <a:lnTo>
                    <a:pt x="3732" y="4653"/>
                  </a:lnTo>
                  <a:lnTo>
                    <a:pt x="3248" y="4798"/>
                  </a:lnTo>
                  <a:lnTo>
                    <a:pt x="2763" y="5041"/>
                  </a:lnTo>
                  <a:lnTo>
                    <a:pt x="2327" y="5283"/>
                  </a:lnTo>
                  <a:lnTo>
                    <a:pt x="1939" y="5574"/>
                  </a:lnTo>
                  <a:lnTo>
                    <a:pt x="1551" y="5962"/>
                  </a:lnTo>
                  <a:lnTo>
                    <a:pt x="1212" y="6349"/>
                  </a:lnTo>
                  <a:lnTo>
                    <a:pt x="873" y="6737"/>
                  </a:lnTo>
                  <a:lnTo>
                    <a:pt x="631" y="7173"/>
                  </a:lnTo>
                  <a:lnTo>
                    <a:pt x="388" y="7658"/>
                  </a:lnTo>
                  <a:lnTo>
                    <a:pt x="243" y="8094"/>
                  </a:lnTo>
                  <a:lnTo>
                    <a:pt x="97" y="8627"/>
                  </a:lnTo>
                  <a:lnTo>
                    <a:pt x="49" y="9112"/>
                  </a:lnTo>
                  <a:lnTo>
                    <a:pt x="1" y="9645"/>
                  </a:lnTo>
                  <a:lnTo>
                    <a:pt x="1" y="14831"/>
                  </a:lnTo>
                  <a:lnTo>
                    <a:pt x="1" y="16866"/>
                  </a:lnTo>
                  <a:lnTo>
                    <a:pt x="49" y="17060"/>
                  </a:lnTo>
                  <a:lnTo>
                    <a:pt x="146" y="17205"/>
                  </a:lnTo>
                  <a:lnTo>
                    <a:pt x="340" y="17302"/>
                  </a:lnTo>
                  <a:lnTo>
                    <a:pt x="534" y="17351"/>
                  </a:lnTo>
                  <a:lnTo>
                    <a:pt x="11681" y="17351"/>
                  </a:lnTo>
                  <a:lnTo>
                    <a:pt x="11874" y="17302"/>
                  </a:lnTo>
                  <a:lnTo>
                    <a:pt x="12068" y="17205"/>
                  </a:lnTo>
                  <a:lnTo>
                    <a:pt x="12165" y="17060"/>
                  </a:lnTo>
                  <a:lnTo>
                    <a:pt x="12214" y="16866"/>
                  </a:lnTo>
                  <a:lnTo>
                    <a:pt x="12214" y="15994"/>
                  </a:lnTo>
                  <a:lnTo>
                    <a:pt x="12165" y="15703"/>
                  </a:lnTo>
                  <a:lnTo>
                    <a:pt x="12117" y="15461"/>
                  </a:lnTo>
                  <a:lnTo>
                    <a:pt x="12020" y="15218"/>
                  </a:lnTo>
                  <a:lnTo>
                    <a:pt x="11874" y="14976"/>
                  </a:lnTo>
                  <a:lnTo>
                    <a:pt x="11681" y="14782"/>
                  </a:lnTo>
                  <a:lnTo>
                    <a:pt x="11487" y="14637"/>
                  </a:lnTo>
                  <a:lnTo>
                    <a:pt x="11293" y="14491"/>
                  </a:lnTo>
                  <a:lnTo>
                    <a:pt x="11002" y="14395"/>
                  </a:lnTo>
                  <a:lnTo>
                    <a:pt x="11002" y="12795"/>
                  </a:lnTo>
                  <a:lnTo>
                    <a:pt x="11002" y="12601"/>
                  </a:lnTo>
                  <a:lnTo>
                    <a:pt x="10857" y="12407"/>
                  </a:lnTo>
                  <a:lnTo>
                    <a:pt x="10711" y="12311"/>
                  </a:lnTo>
                  <a:lnTo>
                    <a:pt x="10517" y="12262"/>
                  </a:lnTo>
                  <a:lnTo>
                    <a:pt x="5089" y="12262"/>
                  </a:lnTo>
                  <a:lnTo>
                    <a:pt x="4895" y="12311"/>
                  </a:lnTo>
                  <a:lnTo>
                    <a:pt x="4750" y="12407"/>
                  </a:lnTo>
                  <a:lnTo>
                    <a:pt x="4605" y="12601"/>
                  </a:lnTo>
                  <a:lnTo>
                    <a:pt x="4605" y="12795"/>
                  </a:lnTo>
                  <a:lnTo>
                    <a:pt x="4605" y="14298"/>
                  </a:lnTo>
                  <a:lnTo>
                    <a:pt x="3054" y="14298"/>
                  </a:lnTo>
                  <a:lnTo>
                    <a:pt x="3054" y="9645"/>
                  </a:lnTo>
                  <a:lnTo>
                    <a:pt x="3102" y="9209"/>
                  </a:lnTo>
                  <a:lnTo>
                    <a:pt x="3248" y="8821"/>
                  </a:lnTo>
                  <a:lnTo>
                    <a:pt x="3442" y="8433"/>
                  </a:lnTo>
                  <a:lnTo>
                    <a:pt x="3684" y="8094"/>
                  </a:lnTo>
                  <a:lnTo>
                    <a:pt x="4023" y="7803"/>
                  </a:lnTo>
                  <a:lnTo>
                    <a:pt x="4411" y="7609"/>
                  </a:lnTo>
                  <a:lnTo>
                    <a:pt x="4799" y="7513"/>
                  </a:lnTo>
                  <a:lnTo>
                    <a:pt x="5235" y="7464"/>
                  </a:lnTo>
                  <a:lnTo>
                    <a:pt x="5768" y="7464"/>
                  </a:lnTo>
                  <a:lnTo>
                    <a:pt x="5768" y="9742"/>
                  </a:lnTo>
                  <a:lnTo>
                    <a:pt x="5816" y="9984"/>
                  </a:lnTo>
                  <a:lnTo>
                    <a:pt x="5913" y="10130"/>
                  </a:lnTo>
                  <a:lnTo>
                    <a:pt x="6107" y="10227"/>
                  </a:lnTo>
                  <a:lnTo>
                    <a:pt x="6301" y="10275"/>
                  </a:lnTo>
                  <a:lnTo>
                    <a:pt x="7319" y="10275"/>
                  </a:lnTo>
                  <a:lnTo>
                    <a:pt x="7319" y="10760"/>
                  </a:lnTo>
                  <a:lnTo>
                    <a:pt x="7319" y="10954"/>
                  </a:lnTo>
                  <a:lnTo>
                    <a:pt x="7464" y="11099"/>
                  </a:lnTo>
                  <a:lnTo>
                    <a:pt x="7610" y="11196"/>
                  </a:lnTo>
                  <a:lnTo>
                    <a:pt x="7803" y="11244"/>
                  </a:lnTo>
                  <a:lnTo>
                    <a:pt x="7997" y="11196"/>
                  </a:lnTo>
                  <a:lnTo>
                    <a:pt x="8143" y="11099"/>
                  </a:lnTo>
                  <a:lnTo>
                    <a:pt x="8288" y="10954"/>
                  </a:lnTo>
                  <a:lnTo>
                    <a:pt x="8337" y="10760"/>
                  </a:lnTo>
                  <a:lnTo>
                    <a:pt x="8337" y="10275"/>
                  </a:lnTo>
                  <a:lnTo>
                    <a:pt x="9306" y="10275"/>
                  </a:lnTo>
                  <a:lnTo>
                    <a:pt x="9548" y="10227"/>
                  </a:lnTo>
                  <a:lnTo>
                    <a:pt x="9694" y="10130"/>
                  </a:lnTo>
                  <a:lnTo>
                    <a:pt x="9790" y="9984"/>
                  </a:lnTo>
                  <a:lnTo>
                    <a:pt x="9839" y="9742"/>
                  </a:lnTo>
                  <a:lnTo>
                    <a:pt x="9839" y="2569"/>
                  </a:lnTo>
                  <a:lnTo>
                    <a:pt x="9790" y="2375"/>
                  </a:lnTo>
                  <a:lnTo>
                    <a:pt x="9694" y="2181"/>
                  </a:lnTo>
                  <a:lnTo>
                    <a:pt x="9548" y="2084"/>
                  </a:lnTo>
                  <a:lnTo>
                    <a:pt x="9306" y="2036"/>
                  </a:lnTo>
                  <a:lnTo>
                    <a:pt x="9306" y="534"/>
                  </a:lnTo>
                  <a:lnTo>
                    <a:pt x="9306" y="340"/>
                  </a:lnTo>
                  <a:lnTo>
                    <a:pt x="9160" y="146"/>
                  </a:lnTo>
                  <a:lnTo>
                    <a:pt x="9015" y="49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4193021" y="1451106"/>
              <a:ext cx="143510" cy="171986"/>
            </a:xfrm>
            <a:custGeom>
              <a:avLst/>
              <a:gdLst/>
              <a:ahLst/>
              <a:cxnLst/>
              <a:rect l="l" t="t" r="r" b="b"/>
              <a:pathLst>
                <a:path w="6350" h="7610" extrusionOk="0">
                  <a:moveTo>
                    <a:pt x="2520" y="1018"/>
                  </a:moveTo>
                  <a:lnTo>
                    <a:pt x="2956" y="1793"/>
                  </a:lnTo>
                  <a:lnTo>
                    <a:pt x="2520" y="2617"/>
                  </a:lnTo>
                  <a:lnTo>
                    <a:pt x="1551" y="2617"/>
                  </a:lnTo>
                  <a:lnTo>
                    <a:pt x="1115" y="1793"/>
                  </a:lnTo>
                  <a:lnTo>
                    <a:pt x="1551" y="1018"/>
                  </a:lnTo>
                  <a:close/>
                  <a:moveTo>
                    <a:pt x="2520" y="3635"/>
                  </a:moveTo>
                  <a:lnTo>
                    <a:pt x="2956" y="4459"/>
                  </a:lnTo>
                  <a:lnTo>
                    <a:pt x="2520" y="5234"/>
                  </a:lnTo>
                  <a:lnTo>
                    <a:pt x="1551" y="5234"/>
                  </a:lnTo>
                  <a:lnTo>
                    <a:pt x="1115" y="4459"/>
                  </a:lnTo>
                  <a:lnTo>
                    <a:pt x="1551" y="3635"/>
                  </a:lnTo>
                  <a:close/>
                  <a:moveTo>
                    <a:pt x="4798" y="4944"/>
                  </a:moveTo>
                  <a:lnTo>
                    <a:pt x="5283" y="5768"/>
                  </a:lnTo>
                  <a:lnTo>
                    <a:pt x="4798" y="6591"/>
                  </a:lnTo>
                  <a:lnTo>
                    <a:pt x="3877" y="6591"/>
                  </a:lnTo>
                  <a:lnTo>
                    <a:pt x="3393" y="5768"/>
                  </a:lnTo>
                  <a:lnTo>
                    <a:pt x="3877" y="4944"/>
                  </a:lnTo>
                  <a:close/>
                  <a:moveTo>
                    <a:pt x="1163" y="0"/>
                  </a:moveTo>
                  <a:lnTo>
                    <a:pt x="1018" y="49"/>
                  </a:lnTo>
                  <a:lnTo>
                    <a:pt x="921" y="146"/>
                  </a:lnTo>
                  <a:lnTo>
                    <a:pt x="824" y="243"/>
                  </a:lnTo>
                  <a:lnTo>
                    <a:pt x="97" y="1551"/>
                  </a:lnTo>
                  <a:lnTo>
                    <a:pt x="49" y="1696"/>
                  </a:lnTo>
                  <a:lnTo>
                    <a:pt x="0" y="1793"/>
                  </a:lnTo>
                  <a:lnTo>
                    <a:pt x="49" y="1939"/>
                  </a:lnTo>
                  <a:lnTo>
                    <a:pt x="97" y="2084"/>
                  </a:lnTo>
                  <a:lnTo>
                    <a:pt x="679" y="3150"/>
                  </a:lnTo>
                  <a:lnTo>
                    <a:pt x="97" y="4217"/>
                  </a:lnTo>
                  <a:lnTo>
                    <a:pt x="49" y="4314"/>
                  </a:lnTo>
                  <a:lnTo>
                    <a:pt x="0" y="4459"/>
                  </a:lnTo>
                  <a:lnTo>
                    <a:pt x="49" y="4556"/>
                  </a:lnTo>
                  <a:lnTo>
                    <a:pt x="97" y="4701"/>
                  </a:lnTo>
                  <a:lnTo>
                    <a:pt x="824" y="6010"/>
                  </a:lnTo>
                  <a:lnTo>
                    <a:pt x="921" y="6107"/>
                  </a:lnTo>
                  <a:lnTo>
                    <a:pt x="1018" y="6204"/>
                  </a:lnTo>
                  <a:lnTo>
                    <a:pt x="1163" y="6252"/>
                  </a:lnTo>
                  <a:lnTo>
                    <a:pt x="2520" y="6252"/>
                  </a:lnTo>
                  <a:lnTo>
                    <a:pt x="3102" y="7318"/>
                  </a:lnTo>
                  <a:lnTo>
                    <a:pt x="3199" y="7464"/>
                  </a:lnTo>
                  <a:lnTo>
                    <a:pt x="3296" y="7512"/>
                  </a:lnTo>
                  <a:lnTo>
                    <a:pt x="3441" y="7561"/>
                  </a:lnTo>
                  <a:lnTo>
                    <a:pt x="3587" y="7609"/>
                  </a:lnTo>
                  <a:lnTo>
                    <a:pt x="5089" y="7609"/>
                  </a:lnTo>
                  <a:lnTo>
                    <a:pt x="5234" y="7561"/>
                  </a:lnTo>
                  <a:lnTo>
                    <a:pt x="5331" y="7512"/>
                  </a:lnTo>
                  <a:lnTo>
                    <a:pt x="5428" y="7464"/>
                  </a:lnTo>
                  <a:lnTo>
                    <a:pt x="5525" y="7318"/>
                  </a:lnTo>
                  <a:lnTo>
                    <a:pt x="6301" y="6010"/>
                  </a:lnTo>
                  <a:lnTo>
                    <a:pt x="6349" y="5913"/>
                  </a:lnTo>
                  <a:lnTo>
                    <a:pt x="6349" y="5768"/>
                  </a:lnTo>
                  <a:lnTo>
                    <a:pt x="6349" y="5622"/>
                  </a:lnTo>
                  <a:lnTo>
                    <a:pt x="6301" y="5525"/>
                  </a:lnTo>
                  <a:lnTo>
                    <a:pt x="5525" y="4217"/>
                  </a:lnTo>
                  <a:lnTo>
                    <a:pt x="5428" y="4071"/>
                  </a:lnTo>
                  <a:lnTo>
                    <a:pt x="5331" y="4023"/>
                  </a:lnTo>
                  <a:lnTo>
                    <a:pt x="5234" y="3974"/>
                  </a:lnTo>
                  <a:lnTo>
                    <a:pt x="5089" y="3926"/>
                  </a:lnTo>
                  <a:lnTo>
                    <a:pt x="3877" y="3926"/>
                  </a:lnTo>
                  <a:lnTo>
                    <a:pt x="3393" y="3150"/>
                  </a:lnTo>
                  <a:lnTo>
                    <a:pt x="4023" y="2084"/>
                  </a:lnTo>
                  <a:lnTo>
                    <a:pt x="4071" y="1939"/>
                  </a:lnTo>
                  <a:lnTo>
                    <a:pt x="4071" y="1793"/>
                  </a:lnTo>
                  <a:lnTo>
                    <a:pt x="4071" y="1696"/>
                  </a:lnTo>
                  <a:lnTo>
                    <a:pt x="4023" y="1551"/>
                  </a:lnTo>
                  <a:lnTo>
                    <a:pt x="3247" y="243"/>
                  </a:lnTo>
                  <a:lnTo>
                    <a:pt x="3150" y="146"/>
                  </a:lnTo>
                  <a:lnTo>
                    <a:pt x="3053" y="49"/>
                  </a:lnTo>
                  <a:lnTo>
                    <a:pt x="2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grpSp>
        <p:nvGrpSpPr>
          <p:cNvPr id="514" name="Google Shape;514;p44"/>
          <p:cNvGrpSpPr/>
          <p:nvPr/>
        </p:nvGrpSpPr>
        <p:grpSpPr>
          <a:xfrm>
            <a:off x="7428734" y="1206093"/>
            <a:ext cx="385579" cy="392133"/>
            <a:chOff x="1363817" y="2636227"/>
            <a:chExt cx="385579" cy="392133"/>
          </a:xfrm>
        </p:grpSpPr>
        <p:sp>
          <p:nvSpPr>
            <p:cNvPr id="515" name="Google Shape;515;p44"/>
            <p:cNvSpPr/>
            <p:nvPr/>
          </p:nvSpPr>
          <p:spPr>
            <a:xfrm>
              <a:off x="1672691" y="2704117"/>
              <a:ext cx="56997" cy="23029"/>
            </a:xfrm>
            <a:custGeom>
              <a:avLst/>
              <a:gdLst/>
              <a:ahLst/>
              <a:cxnLst/>
              <a:rect l="l" t="t" r="r" b="b"/>
              <a:pathLst>
                <a:path w="2522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9"/>
                  </a:lnTo>
                  <a:lnTo>
                    <a:pt x="1988" y="1019"/>
                  </a:lnTo>
                  <a:lnTo>
                    <a:pt x="2182" y="970"/>
                  </a:lnTo>
                  <a:lnTo>
                    <a:pt x="2376" y="873"/>
                  </a:lnTo>
                  <a:lnTo>
                    <a:pt x="2473" y="679"/>
                  </a:lnTo>
                  <a:lnTo>
                    <a:pt x="2521" y="486"/>
                  </a:lnTo>
                  <a:lnTo>
                    <a:pt x="2473" y="292"/>
                  </a:lnTo>
                  <a:lnTo>
                    <a:pt x="2376" y="146"/>
                  </a:lnTo>
                  <a:lnTo>
                    <a:pt x="2182" y="49"/>
                  </a:lnTo>
                  <a:lnTo>
                    <a:pt x="1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1665030" y="2754515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388" y="0"/>
                  </a:moveTo>
                  <a:lnTo>
                    <a:pt x="195" y="49"/>
                  </a:lnTo>
                  <a:lnTo>
                    <a:pt x="49" y="194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49" y="776"/>
                  </a:lnTo>
                  <a:lnTo>
                    <a:pt x="195" y="921"/>
                  </a:lnTo>
                  <a:lnTo>
                    <a:pt x="1455" y="1697"/>
                  </a:lnTo>
                  <a:lnTo>
                    <a:pt x="1649" y="1794"/>
                  </a:lnTo>
                  <a:lnTo>
                    <a:pt x="1842" y="1794"/>
                  </a:lnTo>
                  <a:lnTo>
                    <a:pt x="2036" y="1697"/>
                  </a:lnTo>
                  <a:lnTo>
                    <a:pt x="2182" y="1551"/>
                  </a:lnTo>
                  <a:lnTo>
                    <a:pt x="2230" y="1357"/>
                  </a:lnTo>
                  <a:lnTo>
                    <a:pt x="2230" y="1163"/>
                  </a:lnTo>
                  <a:lnTo>
                    <a:pt x="2182" y="1018"/>
                  </a:lnTo>
                  <a:lnTo>
                    <a:pt x="2036" y="873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1665030" y="2636227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1649" y="0"/>
                  </a:moveTo>
                  <a:lnTo>
                    <a:pt x="1455" y="49"/>
                  </a:lnTo>
                  <a:lnTo>
                    <a:pt x="195" y="872"/>
                  </a:lnTo>
                  <a:lnTo>
                    <a:pt x="49" y="1018"/>
                  </a:lnTo>
                  <a:lnTo>
                    <a:pt x="1" y="1212"/>
                  </a:lnTo>
                  <a:lnTo>
                    <a:pt x="1" y="1406"/>
                  </a:lnTo>
                  <a:lnTo>
                    <a:pt x="49" y="1551"/>
                  </a:lnTo>
                  <a:lnTo>
                    <a:pt x="146" y="1696"/>
                  </a:lnTo>
                  <a:lnTo>
                    <a:pt x="243" y="1745"/>
                  </a:lnTo>
                  <a:lnTo>
                    <a:pt x="388" y="1793"/>
                  </a:lnTo>
                  <a:lnTo>
                    <a:pt x="631" y="1793"/>
                  </a:lnTo>
                  <a:lnTo>
                    <a:pt x="776" y="1745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30" y="582"/>
                  </a:lnTo>
                  <a:lnTo>
                    <a:pt x="2230" y="388"/>
                  </a:lnTo>
                  <a:lnTo>
                    <a:pt x="2182" y="242"/>
                  </a:lnTo>
                  <a:lnTo>
                    <a:pt x="2036" y="97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1383547" y="2704117"/>
              <a:ext cx="56975" cy="23029"/>
            </a:xfrm>
            <a:custGeom>
              <a:avLst/>
              <a:gdLst/>
              <a:ahLst/>
              <a:cxnLst/>
              <a:rect l="l" t="t" r="r" b="b"/>
              <a:pathLst>
                <a:path w="2521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9"/>
                  </a:lnTo>
                  <a:lnTo>
                    <a:pt x="1987" y="1019"/>
                  </a:lnTo>
                  <a:lnTo>
                    <a:pt x="2181" y="970"/>
                  </a:lnTo>
                  <a:lnTo>
                    <a:pt x="2327" y="873"/>
                  </a:lnTo>
                  <a:lnTo>
                    <a:pt x="2472" y="679"/>
                  </a:lnTo>
                  <a:lnTo>
                    <a:pt x="2520" y="486"/>
                  </a:lnTo>
                  <a:lnTo>
                    <a:pt x="2472" y="292"/>
                  </a:lnTo>
                  <a:lnTo>
                    <a:pt x="2327" y="146"/>
                  </a:lnTo>
                  <a:lnTo>
                    <a:pt x="2181" y="49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1396677" y="2754515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1697" y="0"/>
                  </a:moveTo>
                  <a:lnTo>
                    <a:pt x="1503" y="49"/>
                  </a:lnTo>
                  <a:lnTo>
                    <a:pt x="243" y="873"/>
                  </a:lnTo>
                  <a:lnTo>
                    <a:pt x="98" y="1018"/>
                  </a:lnTo>
                  <a:lnTo>
                    <a:pt x="1" y="1163"/>
                  </a:lnTo>
                  <a:lnTo>
                    <a:pt x="1" y="1357"/>
                  </a:lnTo>
                  <a:lnTo>
                    <a:pt x="98" y="1551"/>
                  </a:lnTo>
                  <a:lnTo>
                    <a:pt x="146" y="1648"/>
                  </a:lnTo>
                  <a:lnTo>
                    <a:pt x="292" y="1745"/>
                  </a:lnTo>
                  <a:lnTo>
                    <a:pt x="389" y="1794"/>
                  </a:lnTo>
                  <a:lnTo>
                    <a:pt x="631" y="1794"/>
                  </a:lnTo>
                  <a:lnTo>
                    <a:pt x="776" y="1697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79" y="582"/>
                  </a:lnTo>
                  <a:lnTo>
                    <a:pt x="2279" y="388"/>
                  </a:lnTo>
                  <a:lnTo>
                    <a:pt x="2182" y="194"/>
                  </a:lnTo>
                  <a:lnTo>
                    <a:pt x="2036" y="4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20" name="Google Shape;520;p44"/>
            <p:cNvSpPr/>
            <p:nvPr/>
          </p:nvSpPr>
          <p:spPr>
            <a:xfrm>
              <a:off x="1396677" y="2636227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389" y="0"/>
                  </a:moveTo>
                  <a:lnTo>
                    <a:pt x="243" y="97"/>
                  </a:lnTo>
                  <a:lnTo>
                    <a:pt x="98" y="242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98" y="776"/>
                  </a:lnTo>
                  <a:lnTo>
                    <a:pt x="243" y="921"/>
                  </a:lnTo>
                  <a:lnTo>
                    <a:pt x="1503" y="1745"/>
                  </a:lnTo>
                  <a:lnTo>
                    <a:pt x="1600" y="1793"/>
                  </a:lnTo>
                  <a:lnTo>
                    <a:pt x="1891" y="1793"/>
                  </a:lnTo>
                  <a:lnTo>
                    <a:pt x="1988" y="1745"/>
                  </a:lnTo>
                  <a:lnTo>
                    <a:pt x="2085" y="1696"/>
                  </a:lnTo>
                  <a:lnTo>
                    <a:pt x="2182" y="1551"/>
                  </a:lnTo>
                  <a:lnTo>
                    <a:pt x="2279" y="1406"/>
                  </a:lnTo>
                  <a:lnTo>
                    <a:pt x="2279" y="1212"/>
                  </a:lnTo>
                  <a:lnTo>
                    <a:pt x="2182" y="1018"/>
                  </a:lnTo>
                  <a:lnTo>
                    <a:pt x="2036" y="872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1363817" y="2636227"/>
              <a:ext cx="385579" cy="392133"/>
            </a:xfrm>
            <a:custGeom>
              <a:avLst/>
              <a:gdLst/>
              <a:ahLst/>
              <a:cxnLst/>
              <a:rect l="l" t="t" r="r" b="b"/>
              <a:pathLst>
                <a:path w="17061" h="17351" extrusionOk="0">
                  <a:moveTo>
                    <a:pt x="9161" y="1018"/>
                  </a:moveTo>
                  <a:lnTo>
                    <a:pt x="9645" y="1066"/>
                  </a:lnTo>
                  <a:lnTo>
                    <a:pt x="10082" y="1163"/>
                  </a:lnTo>
                  <a:lnTo>
                    <a:pt x="10469" y="1406"/>
                  </a:lnTo>
                  <a:lnTo>
                    <a:pt x="10809" y="1696"/>
                  </a:lnTo>
                  <a:lnTo>
                    <a:pt x="11099" y="2036"/>
                  </a:lnTo>
                  <a:lnTo>
                    <a:pt x="11342" y="2423"/>
                  </a:lnTo>
                  <a:lnTo>
                    <a:pt x="11487" y="2860"/>
                  </a:lnTo>
                  <a:lnTo>
                    <a:pt x="11536" y="3296"/>
                  </a:lnTo>
                  <a:lnTo>
                    <a:pt x="11487" y="3780"/>
                  </a:lnTo>
                  <a:lnTo>
                    <a:pt x="11342" y="4265"/>
                  </a:lnTo>
                  <a:lnTo>
                    <a:pt x="11099" y="4653"/>
                  </a:lnTo>
                  <a:lnTo>
                    <a:pt x="10809" y="5040"/>
                  </a:lnTo>
                  <a:lnTo>
                    <a:pt x="10518" y="5331"/>
                  </a:lnTo>
                  <a:lnTo>
                    <a:pt x="10275" y="5622"/>
                  </a:lnTo>
                  <a:lnTo>
                    <a:pt x="10082" y="5961"/>
                  </a:lnTo>
                  <a:lnTo>
                    <a:pt x="9888" y="6301"/>
                  </a:lnTo>
                  <a:lnTo>
                    <a:pt x="9742" y="6640"/>
                  </a:lnTo>
                  <a:lnTo>
                    <a:pt x="9597" y="7028"/>
                  </a:lnTo>
                  <a:lnTo>
                    <a:pt x="9500" y="7367"/>
                  </a:lnTo>
                  <a:lnTo>
                    <a:pt x="9452" y="7754"/>
                  </a:lnTo>
                  <a:lnTo>
                    <a:pt x="9015" y="7754"/>
                  </a:lnTo>
                  <a:lnTo>
                    <a:pt x="9015" y="4944"/>
                  </a:lnTo>
                  <a:lnTo>
                    <a:pt x="9452" y="4798"/>
                  </a:lnTo>
                  <a:lnTo>
                    <a:pt x="9888" y="4556"/>
                  </a:lnTo>
                  <a:lnTo>
                    <a:pt x="9985" y="4410"/>
                  </a:lnTo>
                  <a:lnTo>
                    <a:pt x="10082" y="4217"/>
                  </a:lnTo>
                  <a:lnTo>
                    <a:pt x="10082" y="4023"/>
                  </a:lnTo>
                  <a:lnTo>
                    <a:pt x="9985" y="3829"/>
                  </a:lnTo>
                  <a:lnTo>
                    <a:pt x="9839" y="3732"/>
                  </a:lnTo>
                  <a:lnTo>
                    <a:pt x="9645" y="3635"/>
                  </a:lnTo>
                  <a:lnTo>
                    <a:pt x="9452" y="3635"/>
                  </a:lnTo>
                  <a:lnTo>
                    <a:pt x="9258" y="3732"/>
                  </a:lnTo>
                  <a:lnTo>
                    <a:pt x="9112" y="3829"/>
                  </a:lnTo>
                  <a:lnTo>
                    <a:pt x="8918" y="3926"/>
                  </a:lnTo>
                  <a:lnTo>
                    <a:pt x="8725" y="3974"/>
                  </a:lnTo>
                  <a:lnTo>
                    <a:pt x="8337" y="3974"/>
                  </a:lnTo>
                  <a:lnTo>
                    <a:pt x="8143" y="3926"/>
                  </a:lnTo>
                  <a:lnTo>
                    <a:pt x="7949" y="3829"/>
                  </a:lnTo>
                  <a:lnTo>
                    <a:pt x="7755" y="3732"/>
                  </a:lnTo>
                  <a:lnTo>
                    <a:pt x="7610" y="3635"/>
                  </a:lnTo>
                  <a:lnTo>
                    <a:pt x="7416" y="3635"/>
                  </a:lnTo>
                  <a:lnTo>
                    <a:pt x="7222" y="3732"/>
                  </a:lnTo>
                  <a:lnTo>
                    <a:pt x="7077" y="3829"/>
                  </a:lnTo>
                  <a:lnTo>
                    <a:pt x="6980" y="4023"/>
                  </a:lnTo>
                  <a:lnTo>
                    <a:pt x="6980" y="4217"/>
                  </a:lnTo>
                  <a:lnTo>
                    <a:pt x="7028" y="4410"/>
                  </a:lnTo>
                  <a:lnTo>
                    <a:pt x="7174" y="4556"/>
                  </a:lnTo>
                  <a:lnTo>
                    <a:pt x="7561" y="4798"/>
                  </a:lnTo>
                  <a:lnTo>
                    <a:pt x="7998" y="4944"/>
                  </a:lnTo>
                  <a:lnTo>
                    <a:pt x="7998" y="7754"/>
                  </a:lnTo>
                  <a:lnTo>
                    <a:pt x="7561" y="7754"/>
                  </a:lnTo>
                  <a:lnTo>
                    <a:pt x="7513" y="7415"/>
                  </a:lnTo>
                  <a:lnTo>
                    <a:pt x="7416" y="7028"/>
                  </a:lnTo>
                  <a:lnTo>
                    <a:pt x="7271" y="6640"/>
                  </a:lnTo>
                  <a:lnTo>
                    <a:pt x="7125" y="6301"/>
                  </a:lnTo>
                  <a:lnTo>
                    <a:pt x="6931" y="5961"/>
                  </a:lnTo>
                  <a:lnTo>
                    <a:pt x="6737" y="5622"/>
                  </a:lnTo>
                  <a:lnTo>
                    <a:pt x="6495" y="5283"/>
                  </a:lnTo>
                  <a:lnTo>
                    <a:pt x="6204" y="4992"/>
                  </a:lnTo>
                  <a:lnTo>
                    <a:pt x="5914" y="4653"/>
                  </a:lnTo>
                  <a:lnTo>
                    <a:pt x="5671" y="4265"/>
                  </a:lnTo>
                  <a:lnTo>
                    <a:pt x="5574" y="3829"/>
                  </a:lnTo>
                  <a:lnTo>
                    <a:pt x="5526" y="3344"/>
                  </a:lnTo>
                  <a:lnTo>
                    <a:pt x="5526" y="2860"/>
                  </a:lnTo>
                  <a:lnTo>
                    <a:pt x="5671" y="2423"/>
                  </a:lnTo>
                  <a:lnTo>
                    <a:pt x="5914" y="2036"/>
                  </a:lnTo>
                  <a:lnTo>
                    <a:pt x="6204" y="1696"/>
                  </a:lnTo>
                  <a:lnTo>
                    <a:pt x="6544" y="1406"/>
                  </a:lnTo>
                  <a:lnTo>
                    <a:pt x="6931" y="1163"/>
                  </a:lnTo>
                  <a:lnTo>
                    <a:pt x="7368" y="1066"/>
                  </a:lnTo>
                  <a:lnTo>
                    <a:pt x="7852" y="1018"/>
                  </a:lnTo>
                  <a:close/>
                  <a:moveTo>
                    <a:pt x="9452" y="8772"/>
                  </a:moveTo>
                  <a:lnTo>
                    <a:pt x="9452" y="9596"/>
                  </a:lnTo>
                  <a:lnTo>
                    <a:pt x="8531" y="10517"/>
                  </a:lnTo>
                  <a:lnTo>
                    <a:pt x="7610" y="9596"/>
                  </a:lnTo>
                  <a:lnTo>
                    <a:pt x="7610" y="8772"/>
                  </a:lnTo>
                  <a:close/>
                  <a:moveTo>
                    <a:pt x="7077" y="10565"/>
                  </a:moveTo>
                  <a:lnTo>
                    <a:pt x="7804" y="11244"/>
                  </a:lnTo>
                  <a:lnTo>
                    <a:pt x="6059" y="12989"/>
                  </a:lnTo>
                  <a:lnTo>
                    <a:pt x="5332" y="12310"/>
                  </a:lnTo>
                  <a:lnTo>
                    <a:pt x="7077" y="10565"/>
                  </a:lnTo>
                  <a:close/>
                  <a:moveTo>
                    <a:pt x="9936" y="10565"/>
                  </a:moveTo>
                  <a:lnTo>
                    <a:pt x="11681" y="12310"/>
                  </a:lnTo>
                  <a:lnTo>
                    <a:pt x="10954" y="12989"/>
                  </a:lnTo>
                  <a:lnTo>
                    <a:pt x="9209" y="11244"/>
                  </a:lnTo>
                  <a:lnTo>
                    <a:pt x="9936" y="10565"/>
                  </a:lnTo>
                  <a:close/>
                  <a:moveTo>
                    <a:pt x="7998" y="12504"/>
                  </a:moveTo>
                  <a:lnTo>
                    <a:pt x="7998" y="16333"/>
                  </a:lnTo>
                  <a:lnTo>
                    <a:pt x="1212" y="16333"/>
                  </a:lnTo>
                  <a:lnTo>
                    <a:pt x="2085" y="14103"/>
                  </a:lnTo>
                  <a:lnTo>
                    <a:pt x="2376" y="13716"/>
                  </a:lnTo>
                  <a:lnTo>
                    <a:pt x="2715" y="13376"/>
                  </a:lnTo>
                  <a:lnTo>
                    <a:pt x="3103" y="13134"/>
                  </a:lnTo>
                  <a:lnTo>
                    <a:pt x="3490" y="12989"/>
                  </a:lnTo>
                  <a:lnTo>
                    <a:pt x="4314" y="12698"/>
                  </a:lnTo>
                  <a:lnTo>
                    <a:pt x="5720" y="14103"/>
                  </a:lnTo>
                  <a:lnTo>
                    <a:pt x="5865" y="14200"/>
                  </a:lnTo>
                  <a:lnTo>
                    <a:pt x="6059" y="14249"/>
                  </a:lnTo>
                  <a:lnTo>
                    <a:pt x="6253" y="14200"/>
                  </a:lnTo>
                  <a:lnTo>
                    <a:pt x="6447" y="14103"/>
                  </a:lnTo>
                  <a:lnTo>
                    <a:pt x="7998" y="12504"/>
                  </a:lnTo>
                  <a:close/>
                  <a:moveTo>
                    <a:pt x="9015" y="12504"/>
                  </a:moveTo>
                  <a:lnTo>
                    <a:pt x="10615" y="14103"/>
                  </a:lnTo>
                  <a:lnTo>
                    <a:pt x="10760" y="14200"/>
                  </a:lnTo>
                  <a:lnTo>
                    <a:pt x="10954" y="14249"/>
                  </a:lnTo>
                  <a:lnTo>
                    <a:pt x="11148" y="14200"/>
                  </a:lnTo>
                  <a:lnTo>
                    <a:pt x="11342" y="14103"/>
                  </a:lnTo>
                  <a:lnTo>
                    <a:pt x="12699" y="12698"/>
                  </a:lnTo>
                  <a:lnTo>
                    <a:pt x="13523" y="12989"/>
                  </a:lnTo>
                  <a:lnTo>
                    <a:pt x="13959" y="13134"/>
                  </a:lnTo>
                  <a:lnTo>
                    <a:pt x="14346" y="13376"/>
                  </a:lnTo>
                  <a:lnTo>
                    <a:pt x="14686" y="13716"/>
                  </a:lnTo>
                  <a:lnTo>
                    <a:pt x="14928" y="14103"/>
                  </a:lnTo>
                  <a:lnTo>
                    <a:pt x="15800" y="16333"/>
                  </a:lnTo>
                  <a:lnTo>
                    <a:pt x="9015" y="16333"/>
                  </a:lnTo>
                  <a:lnTo>
                    <a:pt x="9015" y="12504"/>
                  </a:lnTo>
                  <a:close/>
                  <a:moveTo>
                    <a:pt x="7513" y="0"/>
                  </a:moveTo>
                  <a:lnTo>
                    <a:pt x="7174" y="49"/>
                  </a:lnTo>
                  <a:lnTo>
                    <a:pt x="6883" y="146"/>
                  </a:lnTo>
                  <a:lnTo>
                    <a:pt x="6544" y="242"/>
                  </a:lnTo>
                  <a:lnTo>
                    <a:pt x="6253" y="388"/>
                  </a:lnTo>
                  <a:lnTo>
                    <a:pt x="5962" y="533"/>
                  </a:lnTo>
                  <a:lnTo>
                    <a:pt x="5720" y="727"/>
                  </a:lnTo>
                  <a:lnTo>
                    <a:pt x="5477" y="969"/>
                  </a:lnTo>
                  <a:lnTo>
                    <a:pt x="5235" y="1212"/>
                  </a:lnTo>
                  <a:lnTo>
                    <a:pt x="5041" y="1503"/>
                  </a:lnTo>
                  <a:lnTo>
                    <a:pt x="4896" y="1745"/>
                  </a:lnTo>
                  <a:lnTo>
                    <a:pt x="4750" y="2036"/>
                  </a:lnTo>
                  <a:lnTo>
                    <a:pt x="4653" y="2375"/>
                  </a:lnTo>
                  <a:lnTo>
                    <a:pt x="4557" y="2666"/>
                  </a:lnTo>
                  <a:lnTo>
                    <a:pt x="4508" y="3005"/>
                  </a:lnTo>
                  <a:lnTo>
                    <a:pt x="4508" y="3344"/>
                  </a:lnTo>
                  <a:lnTo>
                    <a:pt x="4508" y="3683"/>
                  </a:lnTo>
                  <a:lnTo>
                    <a:pt x="4557" y="4023"/>
                  </a:lnTo>
                  <a:lnTo>
                    <a:pt x="4653" y="4313"/>
                  </a:lnTo>
                  <a:lnTo>
                    <a:pt x="4750" y="4653"/>
                  </a:lnTo>
                  <a:lnTo>
                    <a:pt x="4896" y="4944"/>
                  </a:lnTo>
                  <a:lnTo>
                    <a:pt x="5090" y="5234"/>
                  </a:lnTo>
                  <a:lnTo>
                    <a:pt x="5284" y="5477"/>
                  </a:lnTo>
                  <a:lnTo>
                    <a:pt x="5477" y="5767"/>
                  </a:lnTo>
                  <a:lnTo>
                    <a:pt x="5768" y="6010"/>
                  </a:lnTo>
                  <a:lnTo>
                    <a:pt x="5962" y="6301"/>
                  </a:lnTo>
                  <a:lnTo>
                    <a:pt x="6156" y="6591"/>
                  </a:lnTo>
                  <a:lnTo>
                    <a:pt x="6301" y="6931"/>
                  </a:lnTo>
                  <a:lnTo>
                    <a:pt x="6447" y="7221"/>
                  </a:lnTo>
                  <a:lnTo>
                    <a:pt x="6495" y="7609"/>
                  </a:lnTo>
                  <a:lnTo>
                    <a:pt x="6592" y="7948"/>
                  </a:lnTo>
                  <a:lnTo>
                    <a:pt x="6592" y="8288"/>
                  </a:lnTo>
                  <a:lnTo>
                    <a:pt x="6592" y="9596"/>
                  </a:lnTo>
                  <a:lnTo>
                    <a:pt x="4653" y="11583"/>
                  </a:lnTo>
                  <a:lnTo>
                    <a:pt x="3200" y="11971"/>
                  </a:lnTo>
                  <a:lnTo>
                    <a:pt x="2909" y="12116"/>
                  </a:lnTo>
                  <a:lnTo>
                    <a:pt x="2618" y="12262"/>
                  </a:lnTo>
                  <a:lnTo>
                    <a:pt x="2327" y="12407"/>
                  </a:lnTo>
                  <a:lnTo>
                    <a:pt x="2036" y="12601"/>
                  </a:lnTo>
                  <a:lnTo>
                    <a:pt x="1794" y="12843"/>
                  </a:lnTo>
                  <a:lnTo>
                    <a:pt x="1552" y="13086"/>
                  </a:lnTo>
                  <a:lnTo>
                    <a:pt x="1358" y="13328"/>
                  </a:lnTo>
                  <a:lnTo>
                    <a:pt x="1212" y="13619"/>
                  </a:lnTo>
                  <a:lnTo>
                    <a:pt x="1164" y="13667"/>
                  </a:lnTo>
                  <a:lnTo>
                    <a:pt x="1" y="16624"/>
                  </a:lnTo>
                  <a:lnTo>
                    <a:pt x="1" y="16769"/>
                  </a:lnTo>
                  <a:lnTo>
                    <a:pt x="1" y="16866"/>
                  </a:lnTo>
                  <a:lnTo>
                    <a:pt x="1" y="17011"/>
                  </a:lnTo>
                  <a:lnTo>
                    <a:pt x="49" y="17108"/>
                  </a:lnTo>
                  <a:lnTo>
                    <a:pt x="146" y="17205"/>
                  </a:lnTo>
                  <a:lnTo>
                    <a:pt x="243" y="17254"/>
                  </a:lnTo>
                  <a:lnTo>
                    <a:pt x="389" y="17302"/>
                  </a:lnTo>
                  <a:lnTo>
                    <a:pt x="485" y="17351"/>
                  </a:lnTo>
                  <a:lnTo>
                    <a:pt x="16527" y="17351"/>
                  </a:lnTo>
                  <a:lnTo>
                    <a:pt x="16673" y="17302"/>
                  </a:lnTo>
                  <a:lnTo>
                    <a:pt x="16770" y="17254"/>
                  </a:lnTo>
                  <a:lnTo>
                    <a:pt x="16867" y="17205"/>
                  </a:lnTo>
                  <a:lnTo>
                    <a:pt x="16964" y="17108"/>
                  </a:lnTo>
                  <a:lnTo>
                    <a:pt x="17012" y="17011"/>
                  </a:lnTo>
                  <a:lnTo>
                    <a:pt x="17061" y="16866"/>
                  </a:lnTo>
                  <a:lnTo>
                    <a:pt x="17061" y="16769"/>
                  </a:lnTo>
                  <a:lnTo>
                    <a:pt x="17012" y="16624"/>
                  </a:lnTo>
                  <a:lnTo>
                    <a:pt x="15897" y="13667"/>
                  </a:lnTo>
                  <a:lnTo>
                    <a:pt x="15849" y="13619"/>
                  </a:lnTo>
                  <a:lnTo>
                    <a:pt x="15655" y="13328"/>
                  </a:lnTo>
                  <a:lnTo>
                    <a:pt x="15461" y="13086"/>
                  </a:lnTo>
                  <a:lnTo>
                    <a:pt x="15219" y="12843"/>
                  </a:lnTo>
                  <a:lnTo>
                    <a:pt x="14977" y="12601"/>
                  </a:lnTo>
                  <a:lnTo>
                    <a:pt x="14734" y="12407"/>
                  </a:lnTo>
                  <a:lnTo>
                    <a:pt x="14443" y="12262"/>
                  </a:lnTo>
                  <a:lnTo>
                    <a:pt x="14153" y="12116"/>
                  </a:lnTo>
                  <a:lnTo>
                    <a:pt x="13813" y="11971"/>
                  </a:lnTo>
                  <a:lnTo>
                    <a:pt x="12408" y="11583"/>
                  </a:lnTo>
                  <a:lnTo>
                    <a:pt x="10469" y="9596"/>
                  </a:lnTo>
                  <a:lnTo>
                    <a:pt x="10469" y="8288"/>
                  </a:lnTo>
                  <a:lnTo>
                    <a:pt x="10469" y="7948"/>
                  </a:lnTo>
                  <a:lnTo>
                    <a:pt x="10518" y="7561"/>
                  </a:lnTo>
                  <a:lnTo>
                    <a:pt x="10615" y="7221"/>
                  </a:lnTo>
                  <a:lnTo>
                    <a:pt x="10712" y="6931"/>
                  </a:lnTo>
                  <a:lnTo>
                    <a:pt x="10857" y="6591"/>
                  </a:lnTo>
                  <a:lnTo>
                    <a:pt x="11051" y="6301"/>
                  </a:lnTo>
                  <a:lnTo>
                    <a:pt x="11293" y="6010"/>
                  </a:lnTo>
                  <a:lnTo>
                    <a:pt x="11536" y="5767"/>
                  </a:lnTo>
                  <a:lnTo>
                    <a:pt x="11729" y="5525"/>
                  </a:lnTo>
                  <a:lnTo>
                    <a:pt x="11972" y="5234"/>
                  </a:lnTo>
                  <a:lnTo>
                    <a:pt x="12117" y="4944"/>
                  </a:lnTo>
                  <a:lnTo>
                    <a:pt x="12311" y="4653"/>
                  </a:lnTo>
                  <a:lnTo>
                    <a:pt x="12408" y="4313"/>
                  </a:lnTo>
                  <a:lnTo>
                    <a:pt x="12505" y="3974"/>
                  </a:lnTo>
                  <a:lnTo>
                    <a:pt x="12553" y="3635"/>
                  </a:lnTo>
                  <a:lnTo>
                    <a:pt x="12553" y="3296"/>
                  </a:lnTo>
                  <a:lnTo>
                    <a:pt x="12505" y="2956"/>
                  </a:lnTo>
                  <a:lnTo>
                    <a:pt x="12456" y="2617"/>
                  </a:lnTo>
                  <a:lnTo>
                    <a:pt x="12408" y="2326"/>
                  </a:lnTo>
                  <a:lnTo>
                    <a:pt x="12262" y="2036"/>
                  </a:lnTo>
                  <a:lnTo>
                    <a:pt x="12117" y="1745"/>
                  </a:lnTo>
                  <a:lnTo>
                    <a:pt x="11972" y="1454"/>
                  </a:lnTo>
                  <a:lnTo>
                    <a:pt x="11778" y="1212"/>
                  </a:lnTo>
                  <a:lnTo>
                    <a:pt x="11536" y="969"/>
                  </a:lnTo>
                  <a:lnTo>
                    <a:pt x="11293" y="727"/>
                  </a:lnTo>
                  <a:lnTo>
                    <a:pt x="11051" y="533"/>
                  </a:lnTo>
                  <a:lnTo>
                    <a:pt x="10760" y="388"/>
                  </a:lnTo>
                  <a:lnTo>
                    <a:pt x="10469" y="242"/>
                  </a:lnTo>
                  <a:lnTo>
                    <a:pt x="10178" y="146"/>
                  </a:lnTo>
                  <a:lnTo>
                    <a:pt x="9839" y="49"/>
                  </a:lnTo>
                  <a:lnTo>
                    <a:pt x="9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sp>
        <p:nvSpPr>
          <p:cNvPr id="522" name="TextBox 52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dirty="0">
                <a:solidFill>
                  <a:srgbClr val="2E9CBF"/>
                </a:solidFill>
                <a:latin typeface="Be vietnam pro"/>
              </a:rPr>
              <a:t>TÓM TẮT ĐIỀU HÀNH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2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 err="1">
                <a:solidFill>
                  <a:srgbClr val="384655"/>
                </a:solidFill>
                <a:latin typeface="Be vietnam pro"/>
              </a:rPr>
              <a:t>Bối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cảnh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,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dữ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liệu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và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phương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pháp</a:t>
            </a:r>
            <a:endParaRPr dirty="0">
              <a:latin typeface="Be vietnam pro"/>
            </a:endParaRPr>
          </a:p>
        </p:txBody>
      </p:sp>
      <p:sp>
        <p:nvSpPr>
          <p:cNvPr id="962" name="Google Shape;962;p62"/>
          <p:cNvSpPr txBox="1"/>
          <p:nvPr/>
        </p:nvSpPr>
        <p:spPr>
          <a:xfrm>
            <a:off x="722376" y="1170432"/>
            <a:ext cx="3657600" cy="663122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Câu hỏi kinh doanh &amp; dữ liệu</a:t>
            </a:r>
            <a:endParaRPr sz="2400" b="1">
              <a:solidFill>
                <a:schemeClr val="dk1"/>
              </a:solidFill>
              <a:latin typeface="Be vietnam pro"/>
              <a:ea typeface="Outfit"/>
              <a:cs typeface="Outfit"/>
              <a:sym typeface="Outfit"/>
            </a:endParaRPr>
          </a:p>
        </p:txBody>
      </p:sp>
      <p:sp>
        <p:nvSpPr>
          <p:cNvPr id="969" name="Google Shape;969;p62"/>
          <p:cNvSpPr txBox="1"/>
          <p:nvPr/>
        </p:nvSpPr>
        <p:spPr>
          <a:xfrm>
            <a:off x="4754880" y="1170432"/>
            <a:ext cx="3675887" cy="663122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Kỹ thuật đã áp dụng trong notebook</a:t>
            </a:r>
            <a:endParaRPr sz="2400" b="1">
              <a:solidFill>
                <a:schemeClr val="dk1"/>
              </a:solidFill>
              <a:latin typeface="Be vietnam pro"/>
              <a:ea typeface="Outfit"/>
              <a:cs typeface="Outfit"/>
              <a:sym typeface="Outfit"/>
            </a:endParaRPr>
          </a:p>
        </p:txBody>
      </p:sp>
      <p:sp>
        <p:nvSpPr>
          <p:cNvPr id="973" name="TextBox 972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BỐI CẢNH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978408" y="2034722"/>
            <a:ext cx="3401568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“Làm thế nào để tối ưu hóa lợi nhuận và trải nghiệm khách hàng trong năm tới?”</a:t>
            </a:r>
          </a:p>
        </p:txBody>
      </p:sp>
      <p:sp>
        <p:nvSpPr>
          <p:cNvPr id="975" name="Octagon 974"/>
          <p:cNvSpPr/>
          <p:nvPr/>
        </p:nvSpPr>
        <p:spPr>
          <a:xfrm>
            <a:off x="740664" y="2117018"/>
            <a:ext cx="146304" cy="146304"/>
          </a:xfrm>
          <a:prstGeom prst="octagon">
            <a:avLst/>
          </a:prstGeom>
          <a:solidFill>
            <a:srgbClr val="9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 vietnam pro"/>
            </a:endParaRPr>
          </a:p>
        </p:txBody>
      </p:sp>
      <p:sp>
        <p:nvSpPr>
          <p:cNvPr id="976" name="TextBox 975"/>
          <p:cNvSpPr txBox="1"/>
          <p:nvPr/>
        </p:nvSpPr>
        <p:spPr>
          <a:xfrm>
            <a:off x="978408" y="3083539"/>
            <a:ext cx="3401568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472,871 phiên truy cập · 32,313 đơn hàng</a:t>
            </a:r>
          </a:p>
        </p:txBody>
      </p:sp>
      <p:sp>
        <p:nvSpPr>
          <p:cNvPr id="977" name="Octagon 976"/>
          <p:cNvSpPr/>
          <p:nvPr/>
        </p:nvSpPr>
        <p:spPr>
          <a:xfrm>
            <a:off x="740664" y="3165835"/>
            <a:ext cx="146304" cy="146304"/>
          </a:xfrm>
          <a:prstGeom prst="octagon">
            <a:avLst/>
          </a:prstGeom>
          <a:solidFill>
            <a:srgbClr val="9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 vietnam pro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978408" y="3858950"/>
            <a:ext cx="3401568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6 bảng dữ liệu · 3 năm, 03/2012 – 03/2015</a:t>
            </a:r>
          </a:p>
        </p:txBody>
      </p:sp>
      <p:sp>
        <p:nvSpPr>
          <p:cNvPr id="979" name="Octagon 978"/>
          <p:cNvSpPr/>
          <p:nvPr/>
        </p:nvSpPr>
        <p:spPr>
          <a:xfrm>
            <a:off x="740664" y="3941246"/>
            <a:ext cx="146304" cy="146304"/>
          </a:xfrm>
          <a:prstGeom prst="octagon">
            <a:avLst/>
          </a:prstGeom>
          <a:solidFill>
            <a:srgbClr val="9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 vietnam pro"/>
            </a:endParaRPr>
          </a:p>
        </p:txBody>
      </p:sp>
      <p:sp>
        <p:nvSpPr>
          <p:cNvPr id="980" name="TextBox 979"/>
          <p:cNvSpPr txBox="1"/>
          <p:nvPr/>
        </p:nvSpPr>
        <p:spPr>
          <a:xfrm>
            <a:off x="5010912" y="2034722"/>
            <a:ext cx="3419855" cy="1115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Unit Economics · Pareto &amp; phân loại ABC · RFM Segmentation · Cohort Retention · Sankey Journey · Conversion Funnel · Market Basket Analysis</a:t>
            </a:r>
          </a:p>
        </p:txBody>
      </p:sp>
      <p:sp>
        <p:nvSpPr>
          <p:cNvPr id="981" name="Octagon 980"/>
          <p:cNvSpPr/>
          <p:nvPr/>
        </p:nvSpPr>
        <p:spPr>
          <a:xfrm>
            <a:off x="4773168" y="2117018"/>
            <a:ext cx="146304" cy="146304"/>
          </a:xfrm>
          <a:prstGeom prst="octagon">
            <a:avLst/>
          </a:prstGeom>
          <a:solidFill>
            <a:srgbClr val="9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 vietnam pro"/>
            </a:endParaRPr>
          </a:p>
        </p:txBody>
      </p:sp>
      <p:sp>
        <p:nvSpPr>
          <p:cNvPr id="982" name="TextBox 981"/>
          <p:cNvSpPr txBox="1"/>
          <p:nvPr/>
        </p:nvSpPr>
        <p:spPr>
          <a:xfrm>
            <a:off x="5010912" y="3630350"/>
            <a:ext cx="3419855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Python · pandas · numpy · matplotlib · seaborn · plotly</a:t>
            </a:r>
          </a:p>
        </p:txBody>
      </p:sp>
      <p:sp>
        <p:nvSpPr>
          <p:cNvPr id="983" name="Octagon 982"/>
          <p:cNvSpPr/>
          <p:nvPr/>
        </p:nvSpPr>
        <p:spPr>
          <a:xfrm>
            <a:off x="4773168" y="3712646"/>
            <a:ext cx="146304" cy="146304"/>
          </a:xfrm>
          <a:prstGeom prst="octagon">
            <a:avLst/>
          </a:prstGeom>
          <a:solidFill>
            <a:srgbClr val="9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 vietnam pro"/>
            </a:endParaRPr>
          </a:p>
        </p:txBody>
      </p:sp>
      <p:sp>
        <p:nvSpPr>
          <p:cNvPr id="984" name="TextBox 983"/>
          <p:cNvSpPr txBox="1"/>
          <p:nvPr/>
        </p:nvSpPr>
        <p:spPr>
          <a:xfrm>
            <a:off x="722376" y="4572000"/>
            <a:ext cx="7708392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C9D3DD"/>
                </a:solidFill>
                <a:latin typeface="Be vietnam pro"/>
              </a:rPr>
              <a:t>Deck này trình bày các phát hiện chính. Toàn bộ 20 biểu đồ và mã nguồn có trong notebook đầy đủ.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2"/>
          <p:cNvSpPr/>
          <p:nvPr/>
        </p:nvSpPr>
        <p:spPr>
          <a:xfrm>
            <a:off x="2757270" y="287695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</a:endParaRPr>
          </a:p>
        </p:txBody>
      </p:sp>
      <p:sp>
        <p:nvSpPr>
          <p:cNvPr id="697" name="Google Shape;697;p52"/>
          <p:cNvSpPr txBox="1">
            <a:spLocks noGrp="1"/>
          </p:cNvSpPr>
          <p:nvPr>
            <p:ph type="subTitle" idx="1"/>
          </p:nvPr>
        </p:nvSpPr>
        <p:spPr>
          <a:xfrm>
            <a:off x="4352544" y="2084832"/>
            <a:ext cx="4078224" cy="38404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Doanh thu gộp</a:t>
            </a:r>
            <a:endParaRPr>
              <a:latin typeface="Be vietnam pro"/>
            </a:endParaRPr>
          </a:p>
        </p:txBody>
      </p:sp>
      <p:sp>
        <p:nvSpPr>
          <p:cNvPr id="698" name="Google Shape;698;p52"/>
          <p:cNvSpPr txBox="1">
            <a:spLocks noGrp="1"/>
          </p:cNvSpPr>
          <p:nvPr>
            <p:ph type="title"/>
          </p:nvPr>
        </p:nvSpPr>
        <p:spPr>
          <a:xfrm>
            <a:off x="4352544" y="1481328"/>
            <a:ext cx="4078224" cy="62179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dirty="0">
                <a:solidFill>
                  <a:srgbClr val="384655"/>
                </a:solidFill>
                <a:latin typeface="Be vietnam pro"/>
              </a:rPr>
              <a:t>$1,938,509.75</a:t>
            </a:r>
            <a:endParaRPr dirty="0">
              <a:latin typeface="Be vietnam pro"/>
            </a:endParaRPr>
          </a:p>
        </p:txBody>
      </p:sp>
      <p:sp>
        <p:nvSpPr>
          <p:cNvPr id="699" name="Google Shape;699;p52"/>
          <p:cNvSpPr txBox="1">
            <a:spLocks noGrp="1"/>
          </p:cNvSpPr>
          <p:nvPr>
            <p:ph type="title" idx="2"/>
          </p:nvPr>
        </p:nvSpPr>
        <p:spPr>
          <a:xfrm>
            <a:off x="4352544" y="2615184"/>
            <a:ext cx="4078224" cy="62179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E9CBF"/>
                </a:solidFill>
                <a:latin typeface="Be vietnam pro"/>
              </a:rPr>
              <a:t>$1,130,800.81</a:t>
            </a:r>
            <a:endParaRPr>
              <a:latin typeface="Be vietnam pro"/>
            </a:endParaRPr>
          </a:p>
        </p:txBody>
      </p:sp>
      <p:sp>
        <p:nvSpPr>
          <p:cNvPr id="700" name="Google Shape;700;p52"/>
          <p:cNvSpPr txBox="1">
            <a:spLocks noGrp="1"/>
          </p:cNvSpPr>
          <p:nvPr>
            <p:ph type="subTitle" idx="3"/>
          </p:nvPr>
        </p:nvSpPr>
        <p:spPr>
          <a:xfrm>
            <a:off x="4352544" y="3218688"/>
            <a:ext cx="4078224" cy="38404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Lợi nhuận ròng · biên 58.33%</a:t>
            </a:r>
            <a:endParaRPr>
              <a:latin typeface="Be vietnam pro"/>
            </a:endParaRPr>
          </a:p>
        </p:txBody>
      </p:sp>
      <p:sp>
        <p:nvSpPr>
          <p:cNvPr id="701" name="Google Shape;701;p52"/>
          <p:cNvSpPr txBox="1">
            <a:spLocks noGrp="1"/>
          </p:cNvSpPr>
          <p:nvPr>
            <p:ph type="title" idx="4"/>
          </p:nvPr>
        </p:nvSpPr>
        <p:spPr>
          <a:xfrm>
            <a:off x="4352544" y="3749039"/>
            <a:ext cx="4078224" cy="62179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384655"/>
                </a:solidFill>
                <a:latin typeface="Be vietnam pro"/>
              </a:rPr>
              <a:t>6.83%</a:t>
            </a:r>
            <a:endParaRPr>
              <a:latin typeface="Be vietnam pro"/>
            </a:endParaRPr>
          </a:p>
        </p:txBody>
      </p:sp>
      <p:sp>
        <p:nvSpPr>
          <p:cNvPr id="702" name="Google Shape;702;p52"/>
          <p:cNvSpPr txBox="1">
            <a:spLocks noGrp="1"/>
          </p:cNvSpPr>
          <p:nvPr>
            <p:ph type="subTitle" idx="5"/>
          </p:nvPr>
        </p:nvSpPr>
        <p:spPr>
          <a:xfrm>
            <a:off x="4352544" y="4352544"/>
            <a:ext cx="4078224" cy="38404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Tỷ lệ chuyển đổi · AOV $59.99</a:t>
            </a:r>
            <a:endParaRPr>
              <a:latin typeface="Be vietnam pro"/>
            </a:endParaRPr>
          </a:p>
        </p:txBody>
      </p:sp>
      <p:grpSp>
        <p:nvGrpSpPr>
          <p:cNvPr id="703" name="Google Shape;703;p52"/>
          <p:cNvGrpSpPr/>
          <p:nvPr/>
        </p:nvGrpSpPr>
        <p:grpSpPr>
          <a:xfrm>
            <a:off x="-130025" y="-312465"/>
            <a:ext cx="3330702" cy="5732675"/>
            <a:chOff x="-130025" y="-312465"/>
            <a:chExt cx="3330702" cy="5732675"/>
          </a:xfrm>
        </p:grpSpPr>
        <p:sp>
          <p:nvSpPr>
            <p:cNvPr id="704" name="Google Shape;704;p52"/>
            <p:cNvSpPr/>
            <p:nvPr/>
          </p:nvSpPr>
          <p:spPr>
            <a:xfrm>
              <a:off x="1575672" y="423331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05" name="Google Shape;705;p52"/>
            <p:cNvSpPr/>
            <p:nvPr/>
          </p:nvSpPr>
          <p:spPr>
            <a:xfrm>
              <a:off x="1955986" y="23050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06" name="Google Shape;706;p52"/>
            <p:cNvSpPr/>
            <p:nvPr/>
          </p:nvSpPr>
          <p:spPr>
            <a:xfrm>
              <a:off x="173058" y="13833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07" name="Google Shape;707;p52"/>
            <p:cNvSpPr/>
            <p:nvPr/>
          </p:nvSpPr>
          <p:spPr>
            <a:xfrm>
              <a:off x="-96967" y="9018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08" name="Google Shape;708;p52"/>
            <p:cNvSpPr/>
            <p:nvPr/>
          </p:nvSpPr>
          <p:spPr>
            <a:xfrm>
              <a:off x="1575664" y="10205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09" name="Google Shape;709;p52"/>
            <p:cNvSpPr/>
            <p:nvPr/>
          </p:nvSpPr>
          <p:spPr>
            <a:xfrm>
              <a:off x="2361967" y="283544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0" name="Google Shape;710;p52"/>
            <p:cNvSpPr/>
            <p:nvPr/>
          </p:nvSpPr>
          <p:spPr>
            <a:xfrm>
              <a:off x="1144579" y="15147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1" name="Google Shape;711;p52"/>
            <p:cNvSpPr/>
            <p:nvPr/>
          </p:nvSpPr>
          <p:spPr>
            <a:xfrm rot="10800000" flipH="1">
              <a:off x="618137" y="24749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2" name="Google Shape;712;p52"/>
            <p:cNvSpPr/>
            <p:nvPr/>
          </p:nvSpPr>
          <p:spPr>
            <a:xfrm rot="10800000" flipH="1">
              <a:off x="869355" y="34993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3" name="Google Shape;713;p52"/>
            <p:cNvSpPr/>
            <p:nvPr/>
          </p:nvSpPr>
          <p:spPr>
            <a:xfrm rot="10800000" flipH="1">
              <a:off x="1396209" y="-3124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4" name="Google Shape;714;p52"/>
            <p:cNvSpPr/>
            <p:nvPr/>
          </p:nvSpPr>
          <p:spPr>
            <a:xfrm rot="10800000" flipH="1">
              <a:off x="301247" y="30080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5" name="Google Shape;715;p52"/>
            <p:cNvSpPr/>
            <p:nvPr/>
          </p:nvSpPr>
          <p:spPr>
            <a:xfrm rot="10800000" flipH="1">
              <a:off x="1011780" y="16415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6" name="Google Shape;716;p52"/>
            <p:cNvSpPr/>
            <p:nvPr/>
          </p:nvSpPr>
          <p:spPr>
            <a:xfrm rot="10800000" flipH="1">
              <a:off x="-130025" y="4047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7" name="Google Shape;717;p52"/>
            <p:cNvSpPr/>
            <p:nvPr/>
          </p:nvSpPr>
          <p:spPr>
            <a:xfrm rot="10800000" flipH="1">
              <a:off x="1994793" y="37492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8" name="Google Shape;718;p52"/>
            <p:cNvSpPr/>
            <p:nvPr/>
          </p:nvSpPr>
          <p:spPr>
            <a:xfrm rot="10800000" flipH="1">
              <a:off x="2150368" y="86088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719" name="Google Shape;719;p52"/>
            <p:cNvSpPr/>
            <p:nvPr/>
          </p:nvSpPr>
          <p:spPr>
            <a:xfrm>
              <a:off x="236023" y="445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sp>
        <p:nvSpPr>
          <p:cNvPr id="720" name="TextBox 719"/>
          <p:cNvSpPr txBox="1"/>
          <p:nvPr/>
        </p:nvSpPr>
        <p:spPr>
          <a:xfrm>
            <a:off x="4352544" y="274320"/>
            <a:ext cx="4078224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TỔNG QUAN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4352544" y="566928"/>
            <a:ext cx="4078224" cy="79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384655"/>
                </a:solidFill>
                <a:latin typeface="Be vietnam pro"/>
              </a:rPr>
              <a:t>Bức tranh tổng thể sau ba năm vận hành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Doanh thu gộp che giấu cấu trúc lợi nhuận thật</a:t>
            </a:r>
            <a:endParaRPr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01 · DOANH THU &amp; SẢN PHẨM</a:t>
            </a:r>
          </a:p>
        </p:txBody>
      </p:sp>
      <p:pic>
        <p:nvPicPr>
          <p:cNvPr id="943" name="Picture 942" descr="02_margi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768900"/>
            <a:ext cx="5440680" cy="2441459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722376" y="1178661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969264" y="1096365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Giá vốn $722,370.25 — chiếm 37.26% doanh thu gộp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722376" y="2227477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969264" y="2145181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Hoàn tiền $85,338.69 — ăn 4.40% doanh thu, gần 7.5% lợi nhuận ròng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722376" y="3549700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969264" y="3467404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Lợi nhuận ròng còn $1,130,800.81 — biên 58.33%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8485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Sản phẩm bán chạy nhất lại có biên lợi nhuận thấp nhất</a:t>
            </a:r>
            <a:endParaRPr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01 · DOANH THU &amp; SẢN PHẨM</a:t>
            </a:r>
          </a:p>
        </p:txBody>
      </p:sp>
      <p:pic>
        <p:nvPicPr>
          <p:cNvPr id="943" name="Picture 942" descr="03_margin_refund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48" y="1470355"/>
            <a:ext cx="6925303" cy="2345436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457200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713232" y="4016959"/>
            <a:ext cx="2359152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Mr. Fuzzy: 62.47% doanh thu nhưng biên ròng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thấp nhất, 55.91%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3163824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3419856" y="4016959"/>
            <a:ext cx="2359152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Thua Hudson (67.08%) tới </a:t>
            </a:r>
            <a:r>
              <a:rPr sz="1600" b="1">
                <a:solidFill>
                  <a:srgbClr val="384655"/>
                </a:solidFill>
                <a:latin typeface="Be vietnam pro"/>
              </a:rPr>
              <a:t>11.17 điểm phần trăm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5870448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6126480" y="4016959"/>
            <a:ext cx="2359152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Refund cao nhất là Panda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6.04%</a:t>
            </a:r>
            <a:r>
              <a:rPr sz="1600" b="0">
                <a:solidFill>
                  <a:srgbClr val="384655"/>
                </a:solidFill>
                <a:latin typeface="Be vietnam pro"/>
              </a:rPr>
              <a:t>, không phải Mr. Fuzzy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Picture 94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66779" y="1517752"/>
            <a:ext cx="5290800" cy="3336034"/>
          </a:xfrm>
          <a:prstGeom prst="rect">
            <a:avLst/>
          </a:prstGeom>
        </p:spPr>
      </p:pic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8485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Doanh nghiệp gần như không có vòng đời khách hàng</a:t>
            </a:r>
            <a:endParaRPr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02 · KHÁCH HÀNG</a:t>
            </a:r>
          </a:p>
        </p:txBody>
      </p:sp>
      <p:sp>
        <p:nvSpPr>
          <p:cNvPr id="941" name="Google Shape;941;p60"/>
          <p:cNvSpPr/>
          <p:nvPr/>
        </p:nvSpPr>
        <p:spPr>
          <a:xfrm>
            <a:off x="722376" y="1570939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969264" y="1488643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31,105 trong 31,696 khách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(98.14%)</a:t>
            </a:r>
            <a:r>
              <a:rPr sz="1600" b="0">
                <a:solidFill>
                  <a:srgbClr val="384655"/>
                </a:solidFill>
                <a:latin typeface="Be vietnam pro"/>
              </a:rPr>
              <a:t> chỉ mua đúng một lần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722376" y="26197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969264" y="2537459"/>
            <a:ext cx="2139696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Retention tháng 1 chỉ 0.84%, tháng 3 còn 0.20%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722376" y="3668572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969264" y="3586276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Doanh thu trung bình mỗi khách $61.16, gần bằng AOV $59.99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>
                <a:solidFill>
                  <a:srgbClr val="384655"/>
                </a:solidFill>
                <a:latin typeface="Be vietnam pro"/>
              </a:rPr>
              <a:t>Mobile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kém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hơn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Desktop ở </a:t>
            </a:r>
            <a:r>
              <a:rPr lang="en-US" sz="2400" b="1" dirty="0" err="1">
                <a:solidFill>
                  <a:srgbClr val="384655"/>
                </a:solidFill>
                <a:latin typeface="Be vietnam pro"/>
              </a:rPr>
              <a:t>mọi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bước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lang="en-US" sz="2400" b="1" dirty="0" err="1">
                <a:solidFill>
                  <a:srgbClr val="384655"/>
                </a:solidFill>
                <a:latin typeface="Be vietnam pro"/>
              </a:rPr>
              <a:t>của</a:t>
            </a:r>
            <a:r>
              <a:rPr lang="en-US"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phễu</a:t>
            </a:r>
            <a:endParaRPr dirty="0"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03 · CHUYỂN ĐỔI &amp; HÀNH VI</a:t>
            </a:r>
          </a:p>
        </p:txBody>
      </p:sp>
      <p:pic>
        <p:nvPicPr>
          <p:cNvPr id="943" name="Picture 942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85325"/>
            <a:ext cx="5440680" cy="2808610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722376" y="1178661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969264" y="1096365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CR Desktop 8.50%, Mobile 3.09% — chênh 2.75 lần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722376" y="2227477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969264" y="2145181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Nếu Mobile đạt CR Desktop: thêm 7,889 đơn, khoảng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$473,000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722376" y="3549700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969264" y="3467404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Điểm gãy lớn nhất ở cả hai thiết bị: Product Detail → Cart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8485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Khoảng cách xuất hiện ở cả 4 nguồn traffic, không trừ nguồn nào</a:t>
            </a:r>
            <a:endParaRPr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03 · CHUYỂN ĐỔI &amp; HÀNH VI</a:t>
            </a:r>
          </a:p>
        </p:txBody>
      </p:sp>
      <p:pic>
        <p:nvPicPr>
          <p:cNvPr id="943" name="Picture 942" descr="10_cr_source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018241"/>
            <a:ext cx="5440680" cy="2335055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722376" y="1570939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969264" y="1488643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direct/organic tốt nhất: 9.89% desktop vs 3.20% mobile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722376" y="26197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969264" y="2537459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socialbook trên mobile chỉ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0.83%</a:t>
            </a:r>
            <a:r>
              <a:rPr sz="1600" b="0">
                <a:solidFill>
                  <a:srgbClr val="384655"/>
                </a:solidFill>
                <a:latin typeface="Be vietnam pro"/>
              </a:rPr>
              <a:t> — 120 phiên mới có 1 đơn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722376" y="3941978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969264" y="3859682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Traffic mobile tốt nhất vẫn thua traffic desktop tệ nhất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8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731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dirty="0" err="1">
                <a:solidFill>
                  <a:srgbClr val="384655"/>
                </a:solidFill>
                <a:latin typeface="Be vietnam pro"/>
              </a:rPr>
              <a:t>Khách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mobile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không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kém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chất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lượng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—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họ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chỉ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khó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mua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hàng</a:t>
            </a:r>
            <a:r>
              <a:rPr sz="24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2400" b="1" dirty="0" err="1">
                <a:solidFill>
                  <a:srgbClr val="384655"/>
                </a:solidFill>
                <a:latin typeface="Be vietnam pro"/>
              </a:rPr>
              <a:t>hơn</a:t>
            </a:r>
            <a:endParaRPr dirty="0">
              <a:latin typeface="Be vietnam pro"/>
            </a:endParaRPr>
          </a:p>
        </p:txBody>
      </p:sp>
      <p:sp>
        <p:nvSpPr>
          <p:cNvPr id="1044" name="TextBox 1043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03 · CHUYỂN ĐỔI &amp; HÀNH VI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822960" y="1298448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84655"/>
                </a:solidFill>
                <a:latin typeface="Be vietnam pro"/>
              </a:rPr>
              <a:t>Desktop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822960" y="1783080"/>
            <a:ext cx="3566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84655"/>
                </a:solidFill>
                <a:latin typeface="Be vietnam pro"/>
              </a:rPr>
              <a:t>8.50%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822960" y="2331720"/>
            <a:ext cx="3566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84655"/>
                </a:solidFill>
                <a:latin typeface="Be vietnam pro"/>
              </a:rPr>
              <a:t>Tỷ lệ chuyển đổi (CR)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822960" y="2788920"/>
            <a:ext cx="3566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84655"/>
                </a:solidFill>
                <a:latin typeface="Be vietnam pro"/>
              </a:rPr>
              <a:t>1.90%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22960" y="3337560"/>
            <a:ext cx="3566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84655"/>
                </a:solidFill>
                <a:latin typeface="Be vietnam pro"/>
              </a:rPr>
              <a:t>Tỷ lệ mua lại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4754880" y="1298448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84655"/>
                </a:solidFill>
                <a:latin typeface="Be vietnam pro"/>
              </a:rPr>
              <a:t>Mobile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4754880" y="1783080"/>
            <a:ext cx="3566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05263"/>
                </a:solidFill>
                <a:latin typeface="Be vietnam pro"/>
              </a:rPr>
              <a:t>3.09%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4754880" y="2331720"/>
            <a:ext cx="3566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84655"/>
                </a:solidFill>
                <a:latin typeface="Be vietnam pro"/>
              </a:rPr>
              <a:t>Tỷ lệ chuyển đổi (CR)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4754880" y="2788920"/>
            <a:ext cx="35661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05263"/>
                </a:solidFill>
                <a:latin typeface="Be vietnam pro"/>
              </a:rPr>
              <a:t>1.63%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4754880" y="3337560"/>
            <a:ext cx="3566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384655"/>
                </a:solidFill>
                <a:latin typeface="Be vietnam pro"/>
              </a:rPr>
              <a:t>Tỷ lệ mua lại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722376" y="3840480"/>
            <a:ext cx="7708392" cy="86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Repeat rate gần bằng nhau, chỉ CR chênh gần 3 lần. Nếu khách mobile kém chất lượng thì cả hai chỉ số phải kém đều nhau. Khoảng cách chỉ giãn ra ở khâu mua hàng — </a:t>
            </a:r>
            <a:r>
              <a:rPr sz="1600" b="1">
                <a:solidFill>
                  <a:srgbClr val="384655"/>
                </a:solidFill>
                <a:latin typeface="Be vietnam pro"/>
              </a:rPr>
              <a:t>vấn đề nằm ở giao diện website, không ở khách.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dirty="0">
                <a:latin typeface="Be vietnam pro"/>
              </a:rPr>
              <a:t>Mobile </a:t>
            </a:r>
            <a:r>
              <a:rPr lang="en-US" sz="2400" dirty="0" err="1">
                <a:latin typeface="Be vietnam pro"/>
              </a:rPr>
              <a:t>luôn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cao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hơn</a:t>
            </a:r>
            <a:r>
              <a:rPr lang="en-US" sz="2400" dirty="0">
                <a:latin typeface="Be vietnam pro"/>
              </a:rPr>
              <a:t> Desktop </a:t>
            </a:r>
            <a:r>
              <a:rPr lang="en-US" sz="2400" dirty="0" err="1">
                <a:latin typeface="Be vietnam pro"/>
              </a:rPr>
              <a:t>suốt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ba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năm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và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không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thu</a:t>
            </a:r>
            <a:r>
              <a:rPr lang="en-US" sz="2400" dirty="0">
                <a:latin typeface="Be vietnam pro"/>
              </a:rPr>
              <a:t> </a:t>
            </a:r>
            <a:r>
              <a:rPr lang="en-US" sz="2400" dirty="0" err="1">
                <a:latin typeface="Be vietnam pro"/>
              </a:rPr>
              <a:t>hẹp</a:t>
            </a:r>
            <a:endParaRPr lang="en-US" sz="2400" dirty="0"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03 · CHUYỂN ĐỔI &amp; HÀNH VI</a:t>
            </a:r>
          </a:p>
        </p:txBody>
      </p:sp>
      <p:pic>
        <p:nvPicPr>
          <p:cNvPr id="943" name="Picture 942" descr="11_dropoff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0540"/>
            <a:ext cx="8229600" cy="2692787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457200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713232" y="4016959"/>
            <a:ext cx="2359152" cy="834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vi-VN" sz="1600" b="0" dirty="0">
                <a:solidFill>
                  <a:srgbClr val="384655"/>
                </a:solidFill>
                <a:latin typeface="Be vietnam pro"/>
              </a:rPr>
              <a:t>Mobile cao hơn Desktop ở cả hai bước, liên tục suốt 3 năm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3163824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3419856" y="4016959"/>
            <a:ext cx="2359152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vi-VN" sz="1600" b="0" dirty="0">
                <a:solidFill>
                  <a:srgbClr val="384655"/>
                </a:solidFill>
                <a:latin typeface="Be vietnam pro"/>
              </a:rPr>
              <a:t>Bước thanh toán: Desktop giảm còn 33.55%, Mobile tăng lên 47.72%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5870448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6126480" y="4016959"/>
            <a:ext cx="2359152" cy="834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Riêng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6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tháng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cuối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,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khoảng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cách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nới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từ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10.3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lên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14.2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điểm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phần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lang="en-US" sz="1600" b="0" dirty="0" err="1">
                <a:solidFill>
                  <a:srgbClr val="384655"/>
                </a:solidFill>
                <a:latin typeface="Be vietnam pro"/>
              </a:rPr>
              <a:t>trăm</a:t>
            </a:r>
            <a:endParaRPr lang="en-US" sz="1600" b="0" dirty="0">
              <a:solidFill>
                <a:srgbClr val="384655"/>
              </a:solidFill>
              <a:latin typeface="Be vietnam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8485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Sản phẩm sinh lời nhất đang bị chôn vùi ở vị trí không ai nhìn thấy</a:t>
            </a:r>
            <a:endParaRPr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03 · CHUYỂN ĐỔI &amp; HÀNH VI</a:t>
            </a:r>
          </a:p>
        </p:txBody>
      </p:sp>
      <p:pic>
        <p:nvPicPr>
          <p:cNvPr id="943" name="Picture 942" descr="11b_funnel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962371"/>
            <a:ext cx="5440680" cy="2446795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722376" y="1570939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969264" y="1488643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Hudson chỉ được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1.00%</a:t>
            </a:r>
            <a:r>
              <a:rPr sz="1600" b="0">
                <a:solidFill>
                  <a:srgbClr val="384655"/>
                </a:solidFill>
                <a:latin typeface="Be vietnam pro"/>
              </a:rPr>
              <a:t> khách xem danh mục click vào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722376" y="26197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969264" y="2537459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Nhưng </a:t>
            </a:r>
            <a:r>
              <a:rPr sz="1600" b="1">
                <a:solidFill>
                  <a:srgbClr val="2E9CBF"/>
                </a:solidFill>
                <a:latin typeface="Be vietnam pro"/>
              </a:rPr>
              <a:t>65.13%</a:t>
            </a:r>
            <a:r>
              <a:rPr sz="1600" b="0">
                <a:solidFill>
                  <a:srgbClr val="384655"/>
                </a:solidFill>
                <a:latin typeface="Be vietnam pro"/>
              </a:rPr>
              <a:t> người đã xem chi tiết thì thêm vào giỏ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722376" y="3668572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969264" y="3586276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Cao nhất danh mục — vượt Mr. Fuzzy (43.04%) tới 22 điểm phần trăm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8485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Bán chéo nâng AOV 75.6%, nhưng không đến từ liên kết sản phẩm</a:t>
            </a:r>
            <a:endParaRPr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03 · CHUYỂN ĐỔI &amp; HÀNH VI</a:t>
            </a:r>
          </a:p>
        </p:txBody>
      </p:sp>
      <p:pic>
        <p:nvPicPr>
          <p:cNvPr id="943" name="Picture 942" descr="12_aov_cross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963" y="1470355"/>
            <a:ext cx="6184073" cy="2345436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457200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713232" y="4016959"/>
            <a:ext cx="2359152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Đơn bán chéo AOV $89.25 so với $50.82 của đơn đơn lẻ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3163824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3419856" y="4016959"/>
            <a:ext cx="2359152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Chiếm 23.87% số đơn nhưng đóng góp 35.51% doanh thu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5870448" y="40992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6126480" y="4016959"/>
            <a:ext cx="2359152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Cả 6 cặp đều có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Lift &lt; 1</a:t>
            </a:r>
            <a:r>
              <a:rPr sz="1600" b="0">
                <a:solidFill>
                  <a:srgbClr val="384655"/>
                </a:solidFill>
                <a:latin typeface="Be vietnam pro"/>
              </a:rPr>
              <a:t> — dùng Confidence, không dùng Lift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8485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Quy mô lớn nhất và mức nghiêm trọng nhất là hai sản phẩm khác nhau</a:t>
            </a:r>
            <a:endParaRPr>
              <a:latin typeface="Be vietnam pro"/>
            </a:endParaRP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722376" y="2909658"/>
            <a:ext cx="2606040" cy="8842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$61,837.63 tiền hoàn, chiếm 72.5% tổng tiền hoàn của toàn công ty.</a:t>
            </a:r>
            <a:endParaRPr>
              <a:latin typeface="Be vietnam pro"/>
            </a:endParaRPr>
          </a:p>
        </p:txBody>
      </p:sp>
      <p:sp>
        <p:nvSpPr>
          <p:cNvPr id="505" name="Google Shape;505;p44"/>
          <p:cNvSpPr txBox="1">
            <a:spLocks noGrp="1"/>
          </p:cNvSpPr>
          <p:nvPr>
            <p:ph type="subTitle" idx="2"/>
          </p:nvPr>
        </p:nvSpPr>
        <p:spPr>
          <a:xfrm>
            <a:off x="3520440" y="2909658"/>
            <a:ext cx="2606040" cy="8842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Refund 6.04%, cao nhất danh mục, ăn 9.67% lợi nhuận của chính nó.</a:t>
            </a:r>
            <a:endParaRPr>
              <a:latin typeface="Be vietnam pro"/>
            </a:endParaRPr>
          </a:p>
        </p:txBody>
      </p:sp>
      <p:sp>
        <p:nvSpPr>
          <p:cNvPr id="506" name="Google Shape;506;p44"/>
          <p:cNvSpPr txBox="1">
            <a:spLocks noGrp="1"/>
          </p:cNvSpPr>
          <p:nvPr>
            <p:ph type="subTitle" idx="3"/>
          </p:nvPr>
        </p:nvSpPr>
        <p:spPr>
          <a:xfrm>
            <a:off x="6318504" y="2909658"/>
            <a:ext cx="2606040" cy="8842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Refund 1.28%, thấp nhất danh mục; chênh 4.7 lần so với Panda.</a:t>
            </a:r>
            <a:endParaRPr>
              <a:latin typeface="Be vietnam pro"/>
            </a:endParaRPr>
          </a:p>
        </p:txBody>
      </p:sp>
      <p:sp>
        <p:nvSpPr>
          <p:cNvPr id="507" name="Google Shape;507;p44"/>
          <p:cNvSpPr txBox="1">
            <a:spLocks noGrp="1"/>
          </p:cNvSpPr>
          <p:nvPr>
            <p:ph type="subTitle" idx="4"/>
          </p:nvPr>
        </p:nvSpPr>
        <p:spPr>
          <a:xfrm>
            <a:off x="722376" y="2191672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Mr. Fuzzy — quy mô</a:t>
            </a:r>
            <a:endParaRPr>
              <a:latin typeface="Be vietnam pro"/>
            </a:endParaRPr>
          </a:p>
        </p:txBody>
      </p:sp>
      <p:sp>
        <p:nvSpPr>
          <p:cNvPr id="508" name="Google Shape;508;p44"/>
          <p:cNvSpPr txBox="1">
            <a:spLocks noGrp="1"/>
          </p:cNvSpPr>
          <p:nvPr>
            <p:ph type="subTitle" idx="5"/>
          </p:nvPr>
        </p:nvSpPr>
        <p:spPr>
          <a:xfrm>
            <a:off x="3520440" y="2191672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Panda — mức độ</a:t>
            </a:r>
            <a:endParaRPr>
              <a:latin typeface="Be vietnam pro"/>
            </a:endParaRPr>
          </a:p>
        </p:txBody>
      </p:sp>
      <p:sp>
        <p:nvSpPr>
          <p:cNvPr id="509" name="Google Shape;509;p44"/>
          <p:cNvSpPr txBox="1">
            <a:spLocks noGrp="1"/>
          </p:cNvSpPr>
          <p:nvPr>
            <p:ph type="subTitle" idx="6"/>
          </p:nvPr>
        </p:nvSpPr>
        <p:spPr>
          <a:xfrm>
            <a:off x="6318504" y="2191672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Hudson — chuẩn so sánh</a:t>
            </a:r>
            <a:endParaRPr>
              <a:latin typeface="Be vietnam pro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1829318" y="1598371"/>
            <a:ext cx="392155" cy="392133"/>
          </a:xfrm>
          <a:custGeom>
            <a:avLst/>
            <a:gdLst/>
            <a:ahLst/>
            <a:cxnLst/>
            <a:rect l="l" t="t" r="r" b="b"/>
            <a:pathLst>
              <a:path w="17352" h="17351" extrusionOk="0">
                <a:moveTo>
                  <a:pt x="10906" y="1018"/>
                </a:moveTo>
                <a:lnTo>
                  <a:pt x="10906" y="2036"/>
                </a:lnTo>
                <a:lnTo>
                  <a:pt x="6447" y="2036"/>
                </a:lnTo>
                <a:lnTo>
                  <a:pt x="6447" y="1018"/>
                </a:lnTo>
                <a:close/>
                <a:moveTo>
                  <a:pt x="10906" y="5089"/>
                </a:moveTo>
                <a:lnTo>
                  <a:pt x="10906" y="6107"/>
                </a:lnTo>
                <a:lnTo>
                  <a:pt x="6447" y="6107"/>
                </a:lnTo>
                <a:lnTo>
                  <a:pt x="6447" y="5089"/>
                </a:lnTo>
                <a:close/>
                <a:moveTo>
                  <a:pt x="8676" y="9209"/>
                </a:moveTo>
                <a:lnTo>
                  <a:pt x="10276" y="9984"/>
                </a:lnTo>
                <a:lnTo>
                  <a:pt x="8676" y="10760"/>
                </a:lnTo>
                <a:lnTo>
                  <a:pt x="7077" y="9984"/>
                </a:lnTo>
                <a:lnTo>
                  <a:pt x="8676" y="9209"/>
                </a:lnTo>
                <a:close/>
                <a:moveTo>
                  <a:pt x="4120" y="15315"/>
                </a:moveTo>
                <a:lnTo>
                  <a:pt x="4314" y="15364"/>
                </a:lnTo>
                <a:lnTo>
                  <a:pt x="4508" y="15461"/>
                </a:lnTo>
                <a:lnTo>
                  <a:pt x="4605" y="15655"/>
                </a:lnTo>
                <a:lnTo>
                  <a:pt x="4654" y="15848"/>
                </a:lnTo>
                <a:lnTo>
                  <a:pt x="4605" y="16042"/>
                </a:lnTo>
                <a:lnTo>
                  <a:pt x="4508" y="16188"/>
                </a:lnTo>
                <a:lnTo>
                  <a:pt x="4314" y="16285"/>
                </a:lnTo>
                <a:lnTo>
                  <a:pt x="4120" y="16333"/>
                </a:lnTo>
                <a:lnTo>
                  <a:pt x="1503" y="16333"/>
                </a:lnTo>
                <a:lnTo>
                  <a:pt x="1310" y="16285"/>
                </a:lnTo>
                <a:lnTo>
                  <a:pt x="1164" y="16188"/>
                </a:lnTo>
                <a:lnTo>
                  <a:pt x="1067" y="16042"/>
                </a:lnTo>
                <a:lnTo>
                  <a:pt x="1019" y="15848"/>
                </a:lnTo>
                <a:lnTo>
                  <a:pt x="1067" y="15655"/>
                </a:lnTo>
                <a:lnTo>
                  <a:pt x="1164" y="15461"/>
                </a:lnTo>
                <a:lnTo>
                  <a:pt x="1310" y="15364"/>
                </a:lnTo>
                <a:lnTo>
                  <a:pt x="1503" y="15315"/>
                </a:lnTo>
                <a:close/>
                <a:moveTo>
                  <a:pt x="15801" y="15315"/>
                </a:moveTo>
                <a:lnTo>
                  <a:pt x="15994" y="15364"/>
                </a:lnTo>
                <a:lnTo>
                  <a:pt x="16188" y="15461"/>
                </a:lnTo>
                <a:lnTo>
                  <a:pt x="16285" y="15655"/>
                </a:lnTo>
                <a:lnTo>
                  <a:pt x="16334" y="15848"/>
                </a:lnTo>
                <a:lnTo>
                  <a:pt x="16285" y="16042"/>
                </a:lnTo>
                <a:lnTo>
                  <a:pt x="16188" y="16188"/>
                </a:lnTo>
                <a:lnTo>
                  <a:pt x="15994" y="16285"/>
                </a:lnTo>
                <a:lnTo>
                  <a:pt x="15801" y="16333"/>
                </a:lnTo>
                <a:lnTo>
                  <a:pt x="13232" y="16333"/>
                </a:lnTo>
                <a:lnTo>
                  <a:pt x="12990" y="16285"/>
                </a:lnTo>
                <a:lnTo>
                  <a:pt x="12844" y="16188"/>
                </a:lnTo>
                <a:lnTo>
                  <a:pt x="12747" y="16042"/>
                </a:lnTo>
                <a:lnTo>
                  <a:pt x="12699" y="15848"/>
                </a:lnTo>
                <a:lnTo>
                  <a:pt x="12747" y="15655"/>
                </a:lnTo>
                <a:lnTo>
                  <a:pt x="12844" y="15461"/>
                </a:lnTo>
                <a:lnTo>
                  <a:pt x="12990" y="15364"/>
                </a:lnTo>
                <a:lnTo>
                  <a:pt x="13232" y="15315"/>
                </a:lnTo>
                <a:close/>
                <a:moveTo>
                  <a:pt x="5914" y="0"/>
                </a:moveTo>
                <a:lnTo>
                  <a:pt x="5720" y="49"/>
                </a:lnTo>
                <a:lnTo>
                  <a:pt x="5574" y="146"/>
                </a:lnTo>
                <a:lnTo>
                  <a:pt x="5478" y="340"/>
                </a:lnTo>
                <a:lnTo>
                  <a:pt x="5429" y="534"/>
                </a:lnTo>
                <a:lnTo>
                  <a:pt x="5429" y="2569"/>
                </a:lnTo>
                <a:lnTo>
                  <a:pt x="5478" y="2763"/>
                </a:lnTo>
                <a:lnTo>
                  <a:pt x="5574" y="2908"/>
                </a:lnTo>
                <a:lnTo>
                  <a:pt x="5720" y="3005"/>
                </a:lnTo>
                <a:lnTo>
                  <a:pt x="5914" y="3054"/>
                </a:lnTo>
                <a:lnTo>
                  <a:pt x="8143" y="3054"/>
                </a:lnTo>
                <a:lnTo>
                  <a:pt x="8143" y="4072"/>
                </a:lnTo>
                <a:lnTo>
                  <a:pt x="5914" y="4072"/>
                </a:lnTo>
                <a:lnTo>
                  <a:pt x="5720" y="4120"/>
                </a:lnTo>
                <a:lnTo>
                  <a:pt x="5574" y="4217"/>
                </a:lnTo>
                <a:lnTo>
                  <a:pt x="5478" y="4411"/>
                </a:lnTo>
                <a:lnTo>
                  <a:pt x="5429" y="4605"/>
                </a:lnTo>
                <a:lnTo>
                  <a:pt x="5429" y="6640"/>
                </a:lnTo>
                <a:lnTo>
                  <a:pt x="5478" y="6834"/>
                </a:lnTo>
                <a:lnTo>
                  <a:pt x="5574" y="6979"/>
                </a:lnTo>
                <a:lnTo>
                  <a:pt x="5720" y="7076"/>
                </a:lnTo>
                <a:lnTo>
                  <a:pt x="5914" y="7125"/>
                </a:lnTo>
                <a:lnTo>
                  <a:pt x="8143" y="7125"/>
                </a:lnTo>
                <a:lnTo>
                  <a:pt x="8143" y="8336"/>
                </a:lnTo>
                <a:lnTo>
                  <a:pt x="5817" y="9451"/>
                </a:lnTo>
                <a:lnTo>
                  <a:pt x="2860" y="9451"/>
                </a:lnTo>
                <a:lnTo>
                  <a:pt x="2667" y="9500"/>
                </a:lnTo>
                <a:lnTo>
                  <a:pt x="2473" y="9596"/>
                </a:lnTo>
                <a:lnTo>
                  <a:pt x="2376" y="9790"/>
                </a:lnTo>
                <a:lnTo>
                  <a:pt x="2327" y="9984"/>
                </a:lnTo>
                <a:lnTo>
                  <a:pt x="2327" y="14298"/>
                </a:lnTo>
                <a:lnTo>
                  <a:pt x="1503" y="14298"/>
                </a:lnTo>
                <a:lnTo>
                  <a:pt x="1213" y="14346"/>
                </a:lnTo>
                <a:lnTo>
                  <a:pt x="922" y="14443"/>
                </a:lnTo>
                <a:lnTo>
                  <a:pt x="679" y="14588"/>
                </a:lnTo>
                <a:lnTo>
                  <a:pt x="437" y="14782"/>
                </a:lnTo>
                <a:lnTo>
                  <a:pt x="243" y="14976"/>
                </a:lnTo>
                <a:lnTo>
                  <a:pt x="98" y="15267"/>
                </a:lnTo>
                <a:lnTo>
                  <a:pt x="49" y="15509"/>
                </a:lnTo>
                <a:lnTo>
                  <a:pt x="1" y="15848"/>
                </a:lnTo>
                <a:lnTo>
                  <a:pt x="49" y="16139"/>
                </a:lnTo>
                <a:lnTo>
                  <a:pt x="98" y="16430"/>
                </a:lnTo>
                <a:lnTo>
                  <a:pt x="243" y="16672"/>
                </a:lnTo>
                <a:lnTo>
                  <a:pt x="437" y="16915"/>
                </a:lnTo>
                <a:lnTo>
                  <a:pt x="679" y="17109"/>
                </a:lnTo>
                <a:lnTo>
                  <a:pt x="922" y="17254"/>
                </a:lnTo>
                <a:lnTo>
                  <a:pt x="1213" y="17351"/>
                </a:lnTo>
                <a:lnTo>
                  <a:pt x="4460" y="17351"/>
                </a:lnTo>
                <a:lnTo>
                  <a:pt x="4702" y="17254"/>
                </a:lnTo>
                <a:lnTo>
                  <a:pt x="4993" y="17109"/>
                </a:lnTo>
                <a:lnTo>
                  <a:pt x="5187" y="16915"/>
                </a:lnTo>
                <a:lnTo>
                  <a:pt x="5381" y="16672"/>
                </a:lnTo>
                <a:lnTo>
                  <a:pt x="5526" y="16430"/>
                </a:lnTo>
                <a:lnTo>
                  <a:pt x="5623" y="16139"/>
                </a:lnTo>
                <a:lnTo>
                  <a:pt x="5671" y="15848"/>
                </a:lnTo>
                <a:lnTo>
                  <a:pt x="5623" y="15509"/>
                </a:lnTo>
                <a:lnTo>
                  <a:pt x="5526" y="15267"/>
                </a:lnTo>
                <a:lnTo>
                  <a:pt x="5381" y="14976"/>
                </a:lnTo>
                <a:lnTo>
                  <a:pt x="5187" y="14782"/>
                </a:lnTo>
                <a:lnTo>
                  <a:pt x="4993" y="14588"/>
                </a:lnTo>
                <a:lnTo>
                  <a:pt x="4702" y="14443"/>
                </a:lnTo>
                <a:lnTo>
                  <a:pt x="4460" y="14346"/>
                </a:lnTo>
                <a:lnTo>
                  <a:pt x="4120" y="14298"/>
                </a:lnTo>
                <a:lnTo>
                  <a:pt x="3345" y="14298"/>
                </a:lnTo>
                <a:lnTo>
                  <a:pt x="3345" y="10469"/>
                </a:lnTo>
                <a:lnTo>
                  <a:pt x="5817" y="10469"/>
                </a:lnTo>
                <a:lnTo>
                  <a:pt x="8434" y="11777"/>
                </a:lnTo>
                <a:lnTo>
                  <a:pt x="8676" y="11826"/>
                </a:lnTo>
                <a:lnTo>
                  <a:pt x="8870" y="11777"/>
                </a:lnTo>
                <a:lnTo>
                  <a:pt x="11536" y="10469"/>
                </a:lnTo>
                <a:lnTo>
                  <a:pt x="14007" y="10469"/>
                </a:lnTo>
                <a:lnTo>
                  <a:pt x="14007" y="14298"/>
                </a:lnTo>
                <a:lnTo>
                  <a:pt x="13232" y="14298"/>
                </a:lnTo>
                <a:lnTo>
                  <a:pt x="12893" y="14346"/>
                </a:lnTo>
                <a:lnTo>
                  <a:pt x="12602" y="14443"/>
                </a:lnTo>
                <a:lnTo>
                  <a:pt x="12360" y="14588"/>
                </a:lnTo>
                <a:lnTo>
                  <a:pt x="12117" y="14782"/>
                </a:lnTo>
                <a:lnTo>
                  <a:pt x="11923" y="14976"/>
                </a:lnTo>
                <a:lnTo>
                  <a:pt x="11826" y="15267"/>
                </a:lnTo>
                <a:lnTo>
                  <a:pt x="11730" y="15509"/>
                </a:lnTo>
                <a:lnTo>
                  <a:pt x="11681" y="15848"/>
                </a:lnTo>
                <a:lnTo>
                  <a:pt x="11730" y="16139"/>
                </a:lnTo>
                <a:lnTo>
                  <a:pt x="11826" y="16430"/>
                </a:lnTo>
                <a:lnTo>
                  <a:pt x="11923" y="16672"/>
                </a:lnTo>
                <a:lnTo>
                  <a:pt x="12117" y="16915"/>
                </a:lnTo>
                <a:lnTo>
                  <a:pt x="12360" y="17109"/>
                </a:lnTo>
                <a:lnTo>
                  <a:pt x="12602" y="17254"/>
                </a:lnTo>
                <a:lnTo>
                  <a:pt x="12893" y="17351"/>
                </a:lnTo>
                <a:lnTo>
                  <a:pt x="16140" y="17351"/>
                </a:lnTo>
                <a:lnTo>
                  <a:pt x="16431" y="17254"/>
                </a:lnTo>
                <a:lnTo>
                  <a:pt x="16673" y="17109"/>
                </a:lnTo>
                <a:lnTo>
                  <a:pt x="16915" y="16915"/>
                </a:lnTo>
                <a:lnTo>
                  <a:pt x="17061" y="16672"/>
                </a:lnTo>
                <a:lnTo>
                  <a:pt x="17206" y="16430"/>
                </a:lnTo>
                <a:lnTo>
                  <a:pt x="17303" y="16139"/>
                </a:lnTo>
                <a:lnTo>
                  <a:pt x="17351" y="15848"/>
                </a:lnTo>
                <a:lnTo>
                  <a:pt x="17303" y="15509"/>
                </a:lnTo>
                <a:lnTo>
                  <a:pt x="17206" y="15267"/>
                </a:lnTo>
                <a:lnTo>
                  <a:pt x="17061" y="14976"/>
                </a:lnTo>
                <a:lnTo>
                  <a:pt x="16915" y="14782"/>
                </a:lnTo>
                <a:lnTo>
                  <a:pt x="16673" y="14588"/>
                </a:lnTo>
                <a:lnTo>
                  <a:pt x="16431" y="14443"/>
                </a:lnTo>
                <a:lnTo>
                  <a:pt x="16140" y="14346"/>
                </a:lnTo>
                <a:lnTo>
                  <a:pt x="15801" y="14298"/>
                </a:lnTo>
                <a:lnTo>
                  <a:pt x="15025" y="14298"/>
                </a:lnTo>
                <a:lnTo>
                  <a:pt x="15025" y="9984"/>
                </a:lnTo>
                <a:lnTo>
                  <a:pt x="14977" y="9790"/>
                </a:lnTo>
                <a:lnTo>
                  <a:pt x="14880" y="9596"/>
                </a:lnTo>
                <a:lnTo>
                  <a:pt x="14686" y="9500"/>
                </a:lnTo>
                <a:lnTo>
                  <a:pt x="14492" y="9451"/>
                </a:lnTo>
                <a:lnTo>
                  <a:pt x="11536" y="9451"/>
                </a:lnTo>
                <a:lnTo>
                  <a:pt x="9161" y="8336"/>
                </a:lnTo>
                <a:lnTo>
                  <a:pt x="9161" y="7125"/>
                </a:lnTo>
                <a:lnTo>
                  <a:pt x="11439" y="7125"/>
                </a:lnTo>
                <a:lnTo>
                  <a:pt x="11633" y="7076"/>
                </a:lnTo>
                <a:lnTo>
                  <a:pt x="11778" y="6979"/>
                </a:lnTo>
                <a:lnTo>
                  <a:pt x="11875" y="6834"/>
                </a:lnTo>
                <a:lnTo>
                  <a:pt x="11923" y="6640"/>
                </a:lnTo>
                <a:lnTo>
                  <a:pt x="11923" y="4605"/>
                </a:lnTo>
                <a:lnTo>
                  <a:pt x="11875" y="4411"/>
                </a:lnTo>
                <a:lnTo>
                  <a:pt x="11778" y="4217"/>
                </a:lnTo>
                <a:lnTo>
                  <a:pt x="11633" y="4120"/>
                </a:lnTo>
                <a:lnTo>
                  <a:pt x="11439" y="4072"/>
                </a:lnTo>
                <a:lnTo>
                  <a:pt x="9161" y="4072"/>
                </a:lnTo>
                <a:lnTo>
                  <a:pt x="9161" y="3054"/>
                </a:lnTo>
                <a:lnTo>
                  <a:pt x="11439" y="3054"/>
                </a:lnTo>
                <a:lnTo>
                  <a:pt x="11633" y="3005"/>
                </a:lnTo>
                <a:lnTo>
                  <a:pt x="11778" y="2908"/>
                </a:lnTo>
                <a:lnTo>
                  <a:pt x="11875" y="2763"/>
                </a:lnTo>
                <a:lnTo>
                  <a:pt x="11923" y="2569"/>
                </a:lnTo>
                <a:lnTo>
                  <a:pt x="11923" y="534"/>
                </a:lnTo>
                <a:lnTo>
                  <a:pt x="11875" y="340"/>
                </a:lnTo>
                <a:lnTo>
                  <a:pt x="11778" y="146"/>
                </a:lnTo>
                <a:lnTo>
                  <a:pt x="11633" y="49"/>
                </a:lnTo>
                <a:lnTo>
                  <a:pt x="1143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</a:endParaRPr>
          </a:p>
        </p:txBody>
      </p:sp>
      <p:grpSp>
        <p:nvGrpSpPr>
          <p:cNvPr id="511" name="Google Shape;511;p44"/>
          <p:cNvGrpSpPr/>
          <p:nvPr/>
        </p:nvGrpSpPr>
        <p:grpSpPr>
          <a:xfrm>
            <a:off x="4627382" y="1598371"/>
            <a:ext cx="392155" cy="392133"/>
            <a:chOff x="3944375" y="1333902"/>
            <a:chExt cx="392155" cy="392133"/>
          </a:xfrm>
        </p:grpSpPr>
        <p:sp>
          <p:nvSpPr>
            <p:cNvPr id="512" name="Google Shape;512;p44"/>
            <p:cNvSpPr/>
            <p:nvPr/>
          </p:nvSpPr>
          <p:spPr>
            <a:xfrm>
              <a:off x="3944375" y="1333902"/>
              <a:ext cx="276036" cy="392133"/>
            </a:xfrm>
            <a:custGeom>
              <a:avLst/>
              <a:gdLst/>
              <a:ahLst/>
              <a:cxnLst/>
              <a:rect l="l" t="t" r="r" b="b"/>
              <a:pathLst>
                <a:path w="12214" h="17351" extrusionOk="0">
                  <a:moveTo>
                    <a:pt x="8337" y="1018"/>
                  </a:moveTo>
                  <a:lnTo>
                    <a:pt x="8337" y="2036"/>
                  </a:lnTo>
                  <a:lnTo>
                    <a:pt x="7319" y="2036"/>
                  </a:lnTo>
                  <a:lnTo>
                    <a:pt x="7319" y="1018"/>
                  </a:lnTo>
                  <a:close/>
                  <a:moveTo>
                    <a:pt x="6301" y="5429"/>
                  </a:moveTo>
                  <a:lnTo>
                    <a:pt x="6495" y="5477"/>
                  </a:lnTo>
                  <a:lnTo>
                    <a:pt x="6640" y="5574"/>
                  </a:lnTo>
                  <a:lnTo>
                    <a:pt x="6737" y="5719"/>
                  </a:lnTo>
                  <a:lnTo>
                    <a:pt x="6786" y="5913"/>
                  </a:lnTo>
                  <a:lnTo>
                    <a:pt x="6737" y="6155"/>
                  </a:lnTo>
                  <a:lnTo>
                    <a:pt x="6640" y="6301"/>
                  </a:lnTo>
                  <a:lnTo>
                    <a:pt x="6495" y="6398"/>
                  </a:lnTo>
                  <a:lnTo>
                    <a:pt x="6301" y="6446"/>
                  </a:lnTo>
                  <a:lnTo>
                    <a:pt x="6107" y="6398"/>
                  </a:lnTo>
                  <a:lnTo>
                    <a:pt x="5913" y="6301"/>
                  </a:lnTo>
                  <a:lnTo>
                    <a:pt x="5816" y="6155"/>
                  </a:lnTo>
                  <a:lnTo>
                    <a:pt x="5768" y="5913"/>
                  </a:lnTo>
                  <a:lnTo>
                    <a:pt x="5816" y="5719"/>
                  </a:lnTo>
                  <a:lnTo>
                    <a:pt x="5913" y="5574"/>
                  </a:lnTo>
                  <a:lnTo>
                    <a:pt x="6107" y="5477"/>
                  </a:lnTo>
                  <a:lnTo>
                    <a:pt x="6301" y="5429"/>
                  </a:lnTo>
                  <a:close/>
                  <a:moveTo>
                    <a:pt x="8821" y="3054"/>
                  </a:moveTo>
                  <a:lnTo>
                    <a:pt x="8821" y="9257"/>
                  </a:lnTo>
                  <a:lnTo>
                    <a:pt x="6786" y="9257"/>
                  </a:lnTo>
                  <a:lnTo>
                    <a:pt x="6786" y="7367"/>
                  </a:lnTo>
                  <a:lnTo>
                    <a:pt x="6979" y="7270"/>
                  </a:lnTo>
                  <a:lnTo>
                    <a:pt x="7173" y="7173"/>
                  </a:lnTo>
                  <a:lnTo>
                    <a:pt x="7367" y="6979"/>
                  </a:lnTo>
                  <a:lnTo>
                    <a:pt x="7513" y="6834"/>
                  </a:lnTo>
                  <a:lnTo>
                    <a:pt x="7658" y="6640"/>
                  </a:lnTo>
                  <a:lnTo>
                    <a:pt x="7706" y="6398"/>
                  </a:lnTo>
                  <a:lnTo>
                    <a:pt x="7803" y="6204"/>
                  </a:lnTo>
                  <a:lnTo>
                    <a:pt x="7803" y="5913"/>
                  </a:lnTo>
                  <a:lnTo>
                    <a:pt x="7803" y="5671"/>
                  </a:lnTo>
                  <a:lnTo>
                    <a:pt x="7706" y="5477"/>
                  </a:lnTo>
                  <a:lnTo>
                    <a:pt x="7658" y="5235"/>
                  </a:lnTo>
                  <a:lnTo>
                    <a:pt x="7513" y="5041"/>
                  </a:lnTo>
                  <a:lnTo>
                    <a:pt x="7367" y="4895"/>
                  </a:lnTo>
                  <a:lnTo>
                    <a:pt x="7173" y="4702"/>
                  </a:lnTo>
                  <a:lnTo>
                    <a:pt x="6979" y="4605"/>
                  </a:lnTo>
                  <a:lnTo>
                    <a:pt x="6786" y="4508"/>
                  </a:lnTo>
                  <a:lnTo>
                    <a:pt x="6786" y="3054"/>
                  </a:lnTo>
                  <a:close/>
                  <a:moveTo>
                    <a:pt x="4847" y="5429"/>
                  </a:moveTo>
                  <a:lnTo>
                    <a:pt x="4799" y="5671"/>
                  </a:lnTo>
                  <a:lnTo>
                    <a:pt x="4750" y="5913"/>
                  </a:lnTo>
                  <a:lnTo>
                    <a:pt x="4799" y="6204"/>
                  </a:lnTo>
                  <a:lnTo>
                    <a:pt x="4847" y="6446"/>
                  </a:lnTo>
                  <a:lnTo>
                    <a:pt x="4314" y="6592"/>
                  </a:lnTo>
                  <a:lnTo>
                    <a:pt x="3829" y="6786"/>
                  </a:lnTo>
                  <a:lnTo>
                    <a:pt x="3393" y="7028"/>
                  </a:lnTo>
                  <a:lnTo>
                    <a:pt x="3005" y="7367"/>
                  </a:lnTo>
                  <a:lnTo>
                    <a:pt x="2763" y="7609"/>
                  </a:lnTo>
                  <a:lnTo>
                    <a:pt x="2569" y="7852"/>
                  </a:lnTo>
                  <a:lnTo>
                    <a:pt x="2424" y="8143"/>
                  </a:lnTo>
                  <a:lnTo>
                    <a:pt x="2278" y="8433"/>
                  </a:lnTo>
                  <a:lnTo>
                    <a:pt x="2181" y="8724"/>
                  </a:lnTo>
                  <a:lnTo>
                    <a:pt x="2133" y="9015"/>
                  </a:lnTo>
                  <a:lnTo>
                    <a:pt x="2085" y="9306"/>
                  </a:lnTo>
                  <a:lnTo>
                    <a:pt x="2036" y="9645"/>
                  </a:lnTo>
                  <a:lnTo>
                    <a:pt x="2036" y="14298"/>
                  </a:lnTo>
                  <a:lnTo>
                    <a:pt x="1018" y="14298"/>
                  </a:lnTo>
                  <a:lnTo>
                    <a:pt x="1018" y="9645"/>
                  </a:lnTo>
                  <a:lnTo>
                    <a:pt x="1067" y="9209"/>
                  </a:lnTo>
                  <a:lnTo>
                    <a:pt x="1115" y="8821"/>
                  </a:lnTo>
                  <a:lnTo>
                    <a:pt x="1212" y="8433"/>
                  </a:lnTo>
                  <a:lnTo>
                    <a:pt x="1358" y="8046"/>
                  </a:lnTo>
                  <a:lnTo>
                    <a:pt x="1503" y="7658"/>
                  </a:lnTo>
                  <a:lnTo>
                    <a:pt x="1745" y="7319"/>
                  </a:lnTo>
                  <a:lnTo>
                    <a:pt x="1988" y="6979"/>
                  </a:lnTo>
                  <a:lnTo>
                    <a:pt x="2278" y="6640"/>
                  </a:lnTo>
                  <a:lnTo>
                    <a:pt x="2521" y="6398"/>
                  </a:lnTo>
                  <a:lnTo>
                    <a:pt x="2811" y="6204"/>
                  </a:lnTo>
                  <a:lnTo>
                    <a:pt x="3151" y="6010"/>
                  </a:lnTo>
                  <a:lnTo>
                    <a:pt x="3442" y="5816"/>
                  </a:lnTo>
                  <a:lnTo>
                    <a:pt x="3781" y="5671"/>
                  </a:lnTo>
                  <a:lnTo>
                    <a:pt x="4120" y="5574"/>
                  </a:lnTo>
                  <a:lnTo>
                    <a:pt x="4459" y="5477"/>
                  </a:lnTo>
                  <a:lnTo>
                    <a:pt x="4847" y="5429"/>
                  </a:lnTo>
                  <a:close/>
                  <a:moveTo>
                    <a:pt x="9984" y="13280"/>
                  </a:moveTo>
                  <a:lnTo>
                    <a:pt x="9984" y="14298"/>
                  </a:lnTo>
                  <a:lnTo>
                    <a:pt x="5622" y="14298"/>
                  </a:lnTo>
                  <a:lnTo>
                    <a:pt x="5622" y="13280"/>
                  </a:lnTo>
                  <a:close/>
                  <a:moveTo>
                    <a:pt x="10517" y="15315"/>
                  </a:moveTo>
                  <a:lnTo>
                    <a:pt x="10760" y="15364"/>
                  </a:lnTo>
                  <a:lnTo>
                    <a:pt x="11002" y="15509"/>
                  </a:lnTo>
                  <a:lnTo>
                    <a:pt x="11147" y="15752"/>
                  </a:lnTo>
                  <a:lnTo>
                    <a:pt x="11196" y="15994"/>
                  </a:lnTo>
                  <a:lnTo>
                    <a:pt x="11196" y="16333"/>
                  </a:lnTo>
                  <a:lnTo>
                    <a:pt x="1018" y="16333"/>
                  </a:lnTo>
                  <a:lnTo>
                    <a:pt x="1018" y="15315"/>
                  </a:lnTo>
                  <a:close/>
                  <a:moveTo>
                    <a:pt x="6786" y="0"/>
                  </a:moveTo>
                  <a:lnTo>
                    <a:pt x="6592" y="49"/>
                  </a:lnTo>
                  <a:lnTo>
                    <a:pt x="6446" y="146"/>
                  </a:lnTo>
                  <a:lnTo>
                    <a:pt x="6301" y="340"/>
                  </a:lnTo>
                  <a:lnTo>
                    <a:pt x="6301" y="534"/>
                  </a:lnTo>
                  <a:lnTo>
                    <a:pt x="6301" y="2036"/>
                  </a:lnTo>
                  <a:lnTo>
                    <a:pt x="6107" y="2084"/>
                  </a:lnTo>
                  <a:lnTo>
                    <a:pt x="5913" y="2181"/>
                  </a:lnTo>
                  <a:lnTo>
                    <a:pt x="5816" y="2375"/>
                  </a:lnTo>
                  <a:lnTo>
                    <a:pt x="5768" y="2569"/>
                  </a:lnTo>
                  <a:lnTo>
                    <a:pt x="5768" y="4411"/>
                  </a:lnTo>
                  <a:lnTo>
                    <a:pt x="5235" y="4411"/>
                  </a:lnTo>
                  <a:lnTo>
                    <a:pt x="4702" y="4459"/>
                  </a:lnTo>
                  <a:lnTo>
                    <a:pt x="4217" y="4508"/>
                  </a:lnTo>
                  <a:lnTo>
                    <a:pt x="3732" y="4653"/>
                  </a:lnTo>
                  <a:lnTo>
                    <a:pt x="3248" y="4798"/>
                  </a:lnTo>
                  <a:lnTo>
                    <a:pt x="2763" y="5041"/>
                  </a:lnTo>
                  <a:lnTo>
                    <a:pt x="2327" y="5283"/>
                  </a:lnTo>
                  <a:lnTo>
                    <a:pt x="1939" y="5574"/>
                  </a:lnTo>
                  <a:lnTo>
                    <a:pt x="1551" y="5962"/>
                  </a:lnTo>
                  <a:lnTo>
                    <a:pt x="1212" y="6349"/>
                  </a:lnTo>
                  <a:lnTo>
                    <a:pt x="873" y="6737"/>
                  </a:lnTo>
                  <a:lnTo>
                    <a:pt x="631" y="7173"/>
                  </a:lnTo>
                  <a:lnTo>
                    <a:pt x="388" y="7658"/>
                  </a:lnTo>
                  <a:lnTo>
                    <a:pt x="243" y="8094"/>
                  </a:lnTo>
                  <a:lnTo>
                    <a:pt x="97" y="8627"/>
                  </a:lnTo>
                  <a:lnTo>
                    <a:pt x="49" y="9112"/>
                  </a:lnTo>
                  <a:lnTo>
                    <a:pt x="1" y="9645"/>
                  </a:lnTo>
                  <a:lnTo>
                    <a:pt x="1" y="14831"/>
                  </a:lnTo>
                  <a:lnTo>
                    <a:pt x="1" y="16866"/>
                  </a:lnTo>
                  <a:lnTo>
                    <a:pt x="49" y="17060"/>
                  </a:lnTo>
                  <a:lnTo>
                    <a:pt x="146" y="17205"/>
                  </a:lnTo>
                  <a:lnTo>
                    <a:pt x="340" y="17302"/>
                  </a:lnTo>
                  <a:lnTo>
                    <a:pt x="534" y="17351"/>
                  </a:lnTo>
                  <a:lnTo>
                    <a:pt x="11681" y="17351"/>
                  </a:lnTo>
                  <a:lnTo>
                    <a:pt x="11874" y="17302"/>
                  </a:lnTo>
                  <a:lnTo>
                    <a:pt x="12068" y="17205"/>
                  </a:lnTo>
                  <a:lnTo>
                    <a:pt x="12165" y="17060"/>
                  </a:lnTo>
                  <a:lnTo>
                    <a:pt x="12214" y="16866"/>
                  </a:lnTo>
                  <a:lnTo>
                    <a:pt x="12214" y="15994"/>
                  </a:lnTo>
                  <a:lnTo>
                    <a:pt x="12165" y="15703"/>
                  </a:lnTo>
                  <a:lnTo>
                    <a:pt x="12117" y="15461"/>
                  </a:lnTo>
                  <a:lnTo>
                    <a:pt x="12020" y="15218"/>
                  </a:lnTo>
                  <a:lnTo>
                    <a:pt x="11874" y="14976"/>
                  </a:lnTo>
                  <a:lnTo>
                    <a:pt x="11681" y="14782"/>
                  </a:lnTo>
                  <a:lnTo>
                    <a:pt x="11487" y="14637"/>
                  </a:lnTo>
                  <a:lnTo>
                    <a:pt x="11293" y="14491"/>
                  </a:lnTo>
                  <a:lnTo>
                    <a:pt x="11002" y="14395"/>
                  </a:lnTo>
                  <a:lnTo>
                    <a:pt x="11002" y="12795"/>
                  </a:lnTo>
                  <a:lnTo>
                    <a:pt x="11002" y="12601"/>
                  </a:lnTo>
                  <a:lnTo>
                    <a:pt x="10857" y="12407"/>
                  </a:lnTo>
                  <a:lnTo>
                    <a:pt x="10711" y="12311"/>
                  </a:lnTo>
                  <a:lnTo>
                    <a:pt x="10517" y="12262"/>
                  </a:lnTo>
                  <a:lnTo>
                    <a:pt x="5089" y="12262"/>
                  </a:lnTo>
                  <a:lnTo>
                    <a:pt x="4895" y="12311"/>
                  </a:lnTo>
                  <a:lnTo>
                    <a:pt x="4750" y="12407"/>
                  </a:lnTo>
                  <a:lnTo>
                    <a:pt x="4605" y="12601"/>
                  </a:lnTo>
                  <a:lnTo>
                    <a:pt x="4605" y="12795"/>
                  </a:lnTo>
                  <a:lnTo>
                    <a:pt x="4605" y="14298"/>
                  </a:lnTo>
                  <a:lnTo>
                    <a:pt x="3054" y="14298"/>
                  </a:lnTo>
                  <a:lnTo>
                    <a:pt x="3054" y="9645"/>
                  </a:lnTo>
                  <a:lnTo>
                    <a:pt x="3102" y="9209"/>
                  </a:lnTo>
                  <a:lnTo>
                    <a:pt x="3248" y="8821"/>
                  </a:lnTo>
                  <a:lnTo>
                    <a:pt x="3442" y="8433"/>
                  </a:lnTo>
                  <a:lnTo>
                    <a:pt x="3684" y="8094"/>
                  </a:lnTo>
                  <a:lnTo>
                    <a:pt x="4023" y="7803"/>
                  </a:lnTo>
                  <a:lnTo>
                    <a:pt x="4411" y="7609"/>
                  </a:lnTo>
                  <a:lnTo>
                    <a:pt x="4799" y="7513"/>
                  </a:lnTo>
                  <a:lnTo>
                    <a:pt x="5235" y="7464"/>
                  </a:lnTo>
                  <a:lnTo>
                    <a:pt x="5768" y="7464"/>
                  </a:lnTo>
                  <a:lnTo>
                    <a:pt x="5768" y="9742"/>
                  </a:lnTo>
                  <a:lnTo>
                    <a:pt x="5816" y="9984"/>
                  </a:lnTo>
                  <a:lnTo>
                    <a:pt x="5913" y="10130"/>
                  </a:lnTo>
                  <a:lnTo>
                    <a:pt x="6107" y="10227"/>
                  </a:lnTo>
                  <a:lnTo>
                    <a:pt x="6301" y="10275"/>
                  </a:lnTo>
                  <a:lnTo>
                    <a:pt x="7319" y="10275"/>
                  </a:lnTo>
                  <a:lnTo>
                    <a:pt x="7319" y="10760"/>
                  </a:lnTo>
                  <a:lnTo>
                    <a:pt x="7319" y="10954"/>
                  </a:lnTo>
                  <a:lnTo>
                    <a:pt x="7464" y="11099"/>
                  </a:lnTo>
                  <a:lnTo>
                    <a:pt x="7610" y="11196"/>
                  </a:lnTo>
                  <a:lnTo>
                    <a:pt x="7803" y="11244"/>
                  </a:lnTo>
                  <a:lnTo>
                    <a:pt x="7997" y="11196"/>
                  </a:lnTo>
                  <a:lnTo>
                    <a:pt x="8143" y="11099"/>
                  </a:lnTo>
                  <a:lnTo>
                    <a:pt x="8288" y="10954"/>
                  </a:lnTo>
                  <a:lnTo>
                    <a:pt x="8337" y="10760"/>
                  </a:lnTo>
                  <a:lnTo>
                    <a:pt x="8337" y="10275"/>
                  </a:lnTo>
                  <a:lnTo>
                    <a:pt x="9306" y="10275"/>
                  </a:lnTo>
                  <a:lnTo>
                    <a:pt x="9548" y="10227"/>
                  </a:lnTo>
                  <a:lnTo>
                    <a:pt x="9694" y="10130"/>
                  </a:lnTo>
                  <a:lnTo>
                    <a:pt x="9790" y="9984"/>
                  </a:lnTo>
                  <a:lnTo>
                    <a:pt x="9839" y="9742"/>
                  </a:lnTo>
                  <a:lnTo>
                    <a:pt x="9839" y="2569"/>
                  </a:lnTo>
                  <a:lnTo>
                    <a:pt x="9790" y="2375"/>
                  </a:lnTo>
                  <a:lnTo>
                    <a:pt x="9694" y="2181"/>
                  </a:lnTo>
                  <a:lnTo>
                    <a:pt x="9548" y="2084"/>
                  </a:lnTo>
                  <a:lnTo>
                    <a:pt x="9306" y="2036"/>
                  </a:lnTo>
                  <a:lnTo>
                    <a:pt x="9306" y="534"/>
                  </a:lnTo>
                  <a:lnTo>
                    <a:pt x="9306" y="340"/>
                  </a:lnTo>
                  <a:lnTo>
                    <a:pt x="9160" y="146"/>
                  </a:lnTo>
                  <a:lnTo>
                    <a:pt x="9015" y="49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4193021" y="1451106"/>
              <a:ext cx="143510" cy="171986"/>
            </a:xfrm>
            <a:custGeom>
              <a:avLst/>
              <a:gdLst/>
              <a:ahLst/>
              <a:cxnLst/>
              <a:rect l="l" t="t" r="r" b="b"/>
              <a:pathLst>
                <a:path w="6350" h="7610" extrusionOk="0">
                  <a:moveTo>
                    <a:pt x="2520" y="1018"/>
                  </a:moveTo>
                  <a:lnTo>
                    <a:pt x="2956" y="1793"/>
                  </a:lnTo>
                  <a:lnTo>
                    <a:pt x="2520" y="2617"/>
                  </a:lnTo>
                  <a:lnTo>
                    <a:pt x="1551" y="2617"/>
                  </a:lnTo>
                  <a:lnTo>
                    <a:pt x="1115" y="1793"/>
                  </a:lnTo>
                  <a:lnTo>
                    <a:pt x="1551" y="1018"/>
                  </a:lnTo>
                  <a:close/>
                  <a:moveTo>
                    <a:pt x="2520" y="3635"/>
                  </a:moveTo>
                  <a:lnTo>
                    <a:pt x="2956" y="4459"/>
                  </a:lnTo>
                  <a:lnTo>
                    <a:pt x="2520" y="5234"/>
                  </a:lnTo>
                  <a:lnTo>
                    <a:pt x="1551" y="5234"/>
                  </a:lnTo>
                  <a:lnTo>
                    <a:pt x="1115" y="4459"/>
                  </a:lnTo>
                  <a:lnTo>
                    <a:pt x="1551" y="3635"/>
                  </a:lnTo>
                  <a:close/>
                  <a:moveTo>
                    <a:pt x="4798" y="4944"/>
                  </a:moveTo>
                  <a:lnTo>
                    <a:pt x="5283" y="5768"/>
                  </a:lnTo>
                  <a:lnTo>
                    <a:pt x="4798" y="6591"/>
                  </a:lnTo>
                  <a:lnTo>
                    <a:pt x="3877" y="6591"/>
                  </a:lnTo>
                  <a:lnTo>
                    <a:pt x="3393" y="5768"/>
                  </a:lnTo>
                  <a:lnTo>
                    <a:pt x="3877" y="4944"/>
                  </a:lnTo>
                  <a:close/>
                  <a:moveTo>
                    <a:pt x="1163" y="0"/>
                  </a:moveTo>
                  <a:lnTo>
                    <a:pt x="1018" y="49"/>
                  </a:lnTo>
                  <a:lnTo>
                    <a:pt x="921" y="146"/>
                  </a:lnTo>
                  <a:lnTo>
                    <a:pt x="824" y="243"/>
                  </a:lnTo>
                  <a:lnTo>
                    <a:pt x="97" y="1551"/>
                  </a:lnTo>
                  <a:lnTo>
                    <a:pt x="49" y="1696"/>
                  </a:lnTo>
                  <a:lnTo>
                    <a:pt x="0" y="1793"/>
                  </a:lnTo>
                  <a:lnTo>
                    <a:pt x="49" y="1939"/>
                  </a:lnTo>
                  <a:lnTo>
                    <a:pt x="97" y="2084"/>
                  </a:lnTo>
                  <a:lnTo>
                    <a:pt x="679" y="3150"/>
                  </a:lnTo>
                  <a:lnTo>
                    <a:pt x="97" y="4217"/>
                  </a:lnTo>
                  <a:lnTo>
                    <a:pt x="49" y="4314"/>
                  </a:lnTo>
                  <a:lnTo>
                    <a:pt x="0" y="4459"/>
                  </a:lnTo>
                  <a:lnTo>
                    <a:pt x="49" y="4556"/>
                  </a:lnTo>
                  <a:lnTo>
                    <a:pt x="97" y="4701"/>
                  </a:lnTo>
                  <a:lnTo>
                    <a:pt x="824" y="6010"/>
                  </a:lnTo>
                  <a:lnTo>
                    <a:pt x="921" y="6107"/>
                  </a:lnTo>
                  <a:lnTo>
                    <a:pt x="1018" y="6204"/>
                  </a:lnTo>
                  <a:lnTo>
                    <a:pt x="1163" y="6252"/>
                  </a:lnTo>
                  <a:lnTo>
                    <a:pt x="2520" y="6252"/>
                  </a:lnTo>
                  <a:lnTo>
                    <a:pt x="3102" y="7318"/>
                  </a:lnTo>
                  <a:lnTo>
                    <a:pt x="3199" y="7464"/>
                  </a:lnTo>
                  <a:lnTo>
                    <a:pt x="3296" y="7512"/>
                  </a:lnTo>
                  <a:lnTo>
                    <a:pt x="3441" y="7561"/>
                  </a:lnTo>
                  <a:lnTo>
                    <a:pt x="3587" y="7609"/>
                  </a:lnTo>
                  <a:lnTo>
                    <a:pt x="5089" y="7609"/>
                  </a:lnTo>
                  <a:lnTo>
                    <a:pt x="5234" y="7561"/>
                  </a:lnTo>
                  <a:lnTo>
                    <a:pt x="5331" y="7512"/>
                  </a:lnTo>
                  <a:lnTo>
                    <a:pt x="5428" y="7464"/>
                  </a:lnTo>
                  <a:lnTo>
                    <a:pt x="5525" y="7318"/>
                  </a:lnTo>
                  <a:lnTo>
                    <a:pt x="6301" y="6010"/>
                  </a:lnTo>
                  <a:lnTo>
                    <a:pt x="6349" y="5913"/>
                  </a:lnTo>
                  <a:lnTo>
                    <a:pt x="6349" y="5768"/>
                  </a:lnTo>
                  <a:lnTo>
                    <a:pt x="6349" y="5622"/>
                  </a:lnTo>
                  <a:lnTo>
                    <a:pt x="6301" y="5525"/>
                  </a:lnTo>
                  <a:lnTo>
                    <a:pt x="5525" y="4217"/>
                  </a:lnTo>
                  <a:lnTo>
                    <a:pt x="5428" y="4071"/>
                  </a:lnTo>
                  <a:lnTo>
                    <a:pt x="5331" y="4023"/>
                  </a:lnTo>
                  <a:lnTo>
                    <a:pt x="5234" y="3974"/>
                  </a:lnTo>
                  <a:lnTo>
                    <a:pt x="5089" y="3926"/>
                  </a:lnTo>
                  <a:lnTo>
                    <a:pt x="3877" y="3926"/>
                  </a:lnTo>
                  <a:lnTo>
                    <a:pt x="3393" y="3150"/>
                  </a:lnTo>
                  <a:lnTo>
                    <a:pt x="4023" y="2084"/>
                  </a:lnTo>
                  <a:lnTo>
                    <a:pt x="4071" y="1939"/>
                  </a:lnTo>
                  <a:lnTo>
                    <a:pt x="4071" y="1793"/>
                  </a:lnTo>
                  <a:lnTo>
                    <a:pt x="4071" y="1696"/>
                  </a:lnTo>
                  <a:lnTo>
                    <a:pt x="4023" y="1551"/>
                  </a:lnTo>
                  <a:lnTo>
                    <a:pt x="3247" y="243"/>
                  </a:lnTo>
                  <a:lnTo>
                    <a:pt x="3150" y="146"/>
                  </a:lnTo>
                  <a:lnTo>
                    <a:pt x="3053" y="49"/>
                  </a:lnTo>
                  <a:lnTo>
                    <a:pt x="2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grpSp>
        <p:nvGrpSpPr>
          <p:cNvPr id="514" name="Google Shape;514;p44"/>
          <p:cNvGrpSpPr/>
          <p:nvPr/>
        </p:nvGrpSpPr>
        <p:grpSpPr>
          <a:xfrm>
            <a:off x="7428734" y="1598371"/>
            <a:ext cx="385579" cy="392133"/>
            <a:chOff x="1363817" y="2636227"/>
            <a:chExt cx="385579" cy="392133"/>
          </a:xfrm>
        </p:grpSpPr>
        <p:sp>
          <p:nvSpPr>
            <p:cNvPr id="515" name="Google Shape;515;p44"/>
            <p:cNvSpPr/>
            <p:nvPr/>
          </p:nvSpPr>
          <p:spPr>
            <a:xfrm>
              <a:off x="1672691" y="2704117"/>
              <a:ext cx="56997" cy="23029"/>
            </a:xfrm>
            <a:custGeom>
              <a:avLst/>
              <a:gdLst/>
              <a:ahLst/>
              <a:cxnLst/>
              <a:rect l="l" t="t" r="r" b="b"/>
              <a:pathLst>
                <a:path w="2522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9"/>
                  </a:lnTo>
                  <a:lnTo>
                    <a:pt x="1988" y="1019"/>
                  </a:lnTo>
                  <a:lnTo>
                    <a:pt x="2182" y="970"/>
                  </a:lnTo>
                  <a:lnTo>
                    <a:pt x="2376" y="873"/>
                  </a:lnTo>
                  <a:lnTo>
                    <a:pt x="2473" y="679"/>
                  </a:lnTo>
                  <a:lnTo>
                    <a:pt x="2521" y="486"/>
                  </a:lnTo>
                  <a:lnTo>
                    <a:pt x="2473" y="292"/>
                  </a:lnTo>
                  <a:lnTo>
                    <a:pt x="2376" y="146"/>
                  </a:lnTo>
                  <a:lnTo>
                    <a:pt x="2182" y="49"/>
                  </a:lnTo>
                  <a:lnTo>
                    <a:pt x="1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1665030" y="2754515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388" y="0"/>
                  </a:moveTo>
                  <a:lnTo>
                    <a:pt x="195" y="49"/>
                  </a:lnTo>
                  <a:lnTo>
                    <a:pt x="49" y="194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49" y="776"/>
                  </a:lnTo>
                  <a:lnTo>
                    <a:pt x="195" y="921"/>
                  </a:lnTo>
                  <a:lnTo>
                    <a:pt x="1455" y="1697"/>
                  </a:lnTo>
                  <a:lnTo>
                    <a:pt x="1649" y="1794"/>
                  </a:lnTo>
                  <a:lnTo>
                    <a:pt x="1842" y="1794"/>
                  </a:lnTo>
                  <a:lnTo>
                    <a:pt x="2036" y="1697"/>
                  </a:lnTo>
                  <a:lnTo>
                    <a:pt x="2182" y="1551"/>
                  </a:lnTo>
                  <a:lnTo>
                    <a:pt x="2230" y="1357"/>
                  </a:lnTo>
                  <a:lnTo>
                    <a:pt x="2230" y="1163"/>
                  </a:lnTo>
                  <a:lnTo>
                    <a:pt x="2182" y="1018"/>
                  </a:lnTo>
                  <a:lnTo>
                    <a:pt x="2036" y="873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1665030" y="2636227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1649" y="0"/>
                  </a:moveTo>
                  <a:lnTo>
                    <a:pt x="1455" y="49"/>
                  </a:lnTo>
                  <a:lnTo>
                    <a:pt x="195" y="872"/>
                  </a:lnTo>
                  <a:lnTo>
                    <a:pt x="49" y="1018"/>
                  </a:lnTo>
                  <a:lnTo>
                    <a:pt x="1" y="1212"/>
                  </a:lnTo>
                  <a:lnTo>
                    <a:pt x="1" y="1406"/>
                  </a:lnTo>
                  <a:lnTo>
                    <a:pt x="49" y="1551"/>
                  </a:lnTo>
                  <a:lnTo>
                    <a:pt x="146" y="1696"/>
                  </a:lnTo>
                  <a:lnTo>
                    <a:pt x="243" y="1745"/>
                  </a:lnTo>
                  <a:lnTo>
                    <a:pt x="388" y="1793"/>
                  </a:lnTo>
                  <a:lnTo>
                    <a:pt x="631" y="1793"/>
                  </a:lnTo>
                  <a:lnTo>
                    <a:pt x="776" y="1745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30" y="582"/>
                  </a:lnTo>
                  <a:lnTo>
                    <a:pt x="2230" y="388"/>
                  </a:lnTo>
                  <a:lnTo>
                    <a:pt x="2182" y="242"/>
                  </a:lnTo>
                  <a:lnTo>
                    <a:pt x="2036" y="97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1383547" y="2704117"/>
              <a:ext cx="56975" cy="23029"/>
            </a:xfrm>
            <a:custGeom>
              <a:avLst/>
              <a:gdLst/>
              <a:ahLst/>
              <a:cxnLst/>
              <a:rect l="l" t="t" r="r" b="b"/>
              <a:pathLst>
                <a:path w="2521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9"/>
                  </a:lnTo>
                  <a:lnTo>
                    <a:pt x="1987" y="1019"/>
                  </a:lnTo>
                  <a:lnTo>
                    <a:pt x="2181" y="970"/>
                  </a:lnTo>
                  <a:lnTo>
                    <a:pt x="2327" y="873"/>
                  </a:lnTo>
                  <a:lnTo>
                    <a:pt x="2472" y="679"/>
                  </a:lnTo>
                  <a:lnTo>
                    <a:pt x="2520" y="486"/>
                  </a:lnTo>
                  <a:lnTo>
                    <a:pt x="2472" y="292"/>
                  </a:lnTo>
                  <a:lnTo>
                    <a:pt x="2327" y="146"/>
                  </a:lnTo>
                  <a:lnTo>
                    <a:pt x="2181" y="49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1396677" y="2754515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1697" y="0"/>
                  </a:moveTo>
                  <a:lnTo>
                    <a:pt x="1503" y="49"/>
                  </a:lnTo>
                  <a:lnTo>
                    <a:pt x="243" y="873"/>
                  </a:lnTo>
                  <a:lnTo>
                    <a:pt x="98" y="1018"/>
                  </a:lnTo>
                  <a:lnTo>
                    <a:pt x="1" y="1163"/>
                  </a:lnTo>
                  <a:lnTo>
                    <a:pt x="1" y="1357"/>
                  </a:lnTo>
                  <a:lnTo>
                    <a:pt x="98" y="1551"/>
                  </a:lnTo>
                  <a:lnTo>
                    <a:pt x="146" y="1648"/>
                  </a:lnTo>
                  <a:lnTo>
                    <a:pt x="292" y="1745"/>
                  </a:lnTo>
                  <a:lnTo>
                    <a:pt x="389" y="1794"/>
                  </a:lnTo>
                  <a:lnTo>
                    <a:pt x="631" y="1794"/>
                  </a:lnTo>
                  <a:lnTo>
                    <a:pt x="776" y="1697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79" y="582"/>
                  </a:lnTo>
                  <a:lnTo>
                    <a:pt x="2279" y="388"/>
                  </a:lnTo>
                  <a:lnTo>
                    <a:pt x="2182" y="194"/>
                  </a:lnTo>
                  <a:lnTo>
                    <a:pt x="2036" y="4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20" name="Google Shape;520;p44"/>
            <p:cNvSpPr/>
            <p:nvPr/>
          </p:nvSpPr>
          <p:spPr>
            <a:xfrm>
              <a:off x="1396677" y="2636227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389" y="0"/>
                  </a:moveTo>
                  <a:lnTo>
                    <a:pt x="243" y="97"/>
                  </a:lnTo>
                  <a:lnTo>
                    <a:pt x="98" y="242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98" y="776"/>
                  </a:lnTo>
                  <a:lnTo>
                    <a:pt x="243" y="921"/>
                  </a:lnTo>
                  <a:lnTo>
                    <a:pt x="1503" y="1745"/>
                  </a:lnTo>
                  <a:lnTo>
                    <a:pt x="1600" y="1793"/>
                  </a:lnTo>
                  <a:lnTo>
                    <a:pt x="1891" y="1793"/>
                  </a:lnTo>
                  <a:lnTo>
                    <a:pt x="1988" y="1745"/>
                  </a:lnTo>
                  <a:lnTo>
                    <a:pt x="2085" y="1696"/>
                  </a:lnTo>
                  <a:lnTo>
                    <a:pt x="2182" y="1551"/>
                  </a:lnTo>
                  <a:lnTo>
                    <a:pt x="2279" y="1406"/>
                  </a:lnTo>
                  <a:lnTo>
                    <a:pt x="2279" y="1212"/>
                  </a:lnTo>
                  <a:lnTo>
                    <a:pt x="2182" y="1018"/>
                  </a:lnTo>
                  <a:lnTo>
                    <a:pt x="2036" y="872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1363817" y="2636227"/>
              <a:ext cx="385579" cy="392133"/>
            </a:xfrm>
            <a:custGeom>
              <a:avLst/>
              <a:gdLst/>
              <a:ahLst/>
              <a:cxnLst/>
              <a:rect l="l" t="t" r="r" b="b"/>
              <a:pathLst>
                <a:path w="17061" h="17351" extrusionOk="0">
                  <a:moveTo>
                    <a:pt x="9161" y="1018"/>
                  </a:moveTo>
                  <a:lnTo>
                    <a:pt x="9645" y="1066"/>
                  </a:lnTo>
                  <a:lnTo>
                    <a:pt x="10082" y="1163"/>
                  </a:lnTo>
                  <a:lnTo>
                    <a:pt x="10469" y="1406"/>
                  </a:lnTo>
                  <a:lnTo>
                    <a:pt x="10809" y="1696"/>
                  </a:lnTo>
                  <a:lnTo>
                    <a:pt x="11099" y="2036"/>
                  </a:lnTo>
                  <a:lnTo>
                    <a:pt x="11342" y="2423"/>
                  </a:lnTo>
                  <a:lnTo>
                    <a:pt x="11487" y="2860"/>
                  </a:lnTo>
                  <a:lnTo>
                    <a:pt x="11536" y="3296"/>
                  </a:lnTo>
                  <a:lnTo>
                    <a:pt x="11487" y="3780"/>
                  </a:lnTo>
                  <a:lnTo>
                    <a:pt x="11342" y="4265"/>
                  </a:lnTo>
                  <a:lnTo>
                    <a:pt x="11099" y="4653"/>
                  </a:lnTo>
                  <a:lnTo>
                    <a:pt x="10809" y="5040"/>
                  </a:lnTo>
                  <a:lnTo>
                    <a:pt x="10518" y="5331"/>
                  </a:lnTo>
                  <a:lnTo>
                    <a:pt x="10275" y="5622"/>
                  </a:lnTo>
                  <a:lnTo>
                    <a:pt x="10082" y="5961"/>
                  </a:lnTo>
                  <a:lnTo>
                    <a:pt x="9888" y="6301"/>
                  </a:lnTo>
                  <a:lnTo>
                    <a:pt x="9742" y="6640"/>
                  </a:lnTo>
                  <a:lnTo>
                    <a:pt x="9597" y="7028"/>
                  </a:lnTo>
                  <a:lnTo>
                    <a:pt x="9500" y="7367"/>
                  </a:lnTo>
                  <a:lnTo>
                    <a:pt x="9452" y="7754"/>
                  </a:lnTo>
                  <a:lnTo>
                    <a:pt x="9015" y="7754"/>
                  </a:lnTo>
                  <a:lnTo>
                    <a:pt x="9015" y="4944"/>
                  </a:lnTo>
                  <a:lnTo>
                    <a:pt x="9452" y="4798"/>
                  </a:lnTo>
                  <a:lnTo>
                    <a:pt x="9888" y="4556"/>
                  </a:lnTo>
                  <a:lnTo>
                    <a:pt x="9985" y="4410"/>
                  </a:lnTo>
                  <a:lnTo>
                    <a:pt x="10082" y="4217"/>
                  </a:lnTo>
                  <a:lnTo>
                    <a:pt x="10082" y="4023"/>
                  </a:lnTo>
                  <a:lnTo>
                    <a:pt x="9985" y="3829"/>
                  </a:lnTo>
                  <a:lnTo>
                    <a:pt x="9839" y="3732"/>
                  </a:lnTo>
                  <a:lnTo>
                    <a:pt x="9645" y="3635"/>
                  </a:lnTo>
                  <a:lnTo>
                    <a:pt x="9452" y="3635"/>
                  </a:lnTo>
                  <a:lnTo>
                    <a:pt x="9258" y="3732"/>
                  </a:lnTo>
                  <a:lnTo>
                    <a:pt x="9112" y="3829"/>
                  </a:lnTo>
                  <a:lnTo>
                    <a:pt x="8918" y="3926"/>
                  </a:lnTo>
                  <a:lnTo>
                    <a:pt x="8725" y="3974"/>
                  </a:lnTo>
                  <a:lnTo>
                    <a:pt x="8337" y="3974"/>
                  </a:lnTo>
                  <a:lnTo>
                    <a:pt x="8143" y="3926"/>
                  </a:lnTo>
                  <a:lnTo>
                    <a:pt x="7949" y="3829"/>
                  </a:lnTo>
                  <a:lnTo>
                    <a:pt x="7755" y="3732"/>
                  </a:lnTo>
                  <a:lnTo>
                    <a:pt x="7610" y="3635"/>
                  </a:lnTo>
                  <a:lnTo>
                    <a:pt x="7416" y="3635"/>
                  </a:lnTo>
                  <a:lnTo>
                    <a:pt x="7222" y="3732"/>
                  </a:lnTo>
                  <a:lnTo>
                    <a:pt x="7077" y="3829"/>
                  </a:lnTo>
                  <a:lnTo>
                    <a:pt x="6980" y="4023"/>
                  </a:lnTo>
                  <a:lnTo>
                    <a:pt x="6980" y="4217"/>
                  </a:lnTo>
                  <a:lnTo>
                    <a:pt x="7028" y="4410"/>
                  </a:lnTo>
                  <a:lnTo>
                    <a:pt x="7174" y="4556"/>
                  </a:lnTo>
                  <a:lnTo>
                    <a:pt x="7561" y="4798"/>
                  </a:lnTo>
                  <a:lnTo>
                    <a:pt x="7998" y="4944"/>
                  </a:lnTo>
                  <a:lnTo>
                    <a:pt x="7998" y="7754"/>
                  </a:lnTo>
                  <a:lnTo>
                    <a:pt x="7561" y="7754"/>
                  </a:lnTo>
                  <a:lnTo>
                    <a:pt x="7513" y="7415"/>
                  </a:lnTo>
                  <a:lnTo>
                    <a:pt x="7416" y="7028"/>
                  </a:lnTo>
                  <a:lnTo>
                    <a:pt x="7271" y="6640"/>
                  </a:lnTo>
                  <a:lnTo>
                    <a:pt x="7125" y="6301"/>
                  </a:lnTo>
                  <a:lnTo>
                    <a:pt x="6931" y="5961"/>
                  </a:lnTo>
                  <a:lnTo>
                    <a:pt x="6737" y="5622"/>
                  </a:lnTo>
                  <a:lnTo>
                    <a:pt x="6495" y="5283"/>
                  </a:lnTo>
                  <a:lnTo>
                    <a:pt x="6204" y="4992"/>
                  </a:lnTo>
                  <a:lnTo>
                    <a:pt x="5914" y="4653"/>
                  </a:lnTo>
                  <a:lnTo>
                    <a:pt x="5671" y="4265"/>
                  </a:lnTo>
                  <a:lnTo>
                    <a:pt x="5574" y="3829"/>
                  </a:lnTo>
                  <a:lnTo>
                    <a:pt x="5526" y="3344"/>
                  </a:lnTo>
                  <a:lnTo>
                    <a:pt x="5526" y="2860"/>
                  </a:lnTo>
                  <a:lnTo>
                    <a:pt x="5671" y="2423"/>
                  </a:lnTo>
                  <a:lnTo>
                    <a:pt x="5914" y="2036"/>
                  </a:lnTo>
                  <a:lnTo>
                    <a:pt x="6204" y="1696"/>
                  </a:lnTo>
                  <a:lnTo>
                    <a:pt x="6544" y="1406"/>
                  </a:lnTo>
                  <a:lnTo>
                    <a:pt x="6931" y="1163"/>
                  </a:lnTo>
                  <a:lnTo>
                    <a:pt x="7368" y="1066"/>
                  </a:lnTo>
                  <a:lnTo>
                    <a:pt x="7852" y="1018"/>
                  </a:lnTo>
                  <a:close/>
                  <a:moveTo>
                    <a:pt x="9452" y="8772"/>
                  </a:moveTo>
                  <a:lnTo>
                    <a:pt x="9452" y="9596"/>
                  </a:lnTo>
                  <a:lnTo>
                    <a:pt x="8531" y="10517"/>
                  </a:lnTo>
                  <a:lnTo>
                    <a:pt x="7610" y="9596"/>
                  </a:lnTo>
                  <a:lnTo>
                    <a:pt x="7610" y="8772"/>
                  </a:lnTo>
                  <a:close/>
                  <a:moveTo>
                    <a:pt x="7077" y="10565"/>
                  </a:moveTo>
                  <a:lnTo>
                    <a:pt x="7804" y="11244"/>
                  </a:lnTo>
                  <a:lnTo>
                    <a:pt x="6059" y="12989"/>
                  </a:lnTo>
                  <a:lnTo>
                    <a:pt x="5332" y="12310"/>
                  </a:lnTo>
                  <a:lnTo>
                    <a:pt x="7077" y="10565"/>
                  </a:lnTo>
                  <a:close/>
                  <a:moveTo>
                    <a:pt x="9936" y="10565"/>
                  </a:moveTo>
                  <a:lnTo>
                    <a:pt x="11681" y="12310"/>
                  </a:lnTo>
                  <a:lnTo>
                    <a:pt x="10954" y="12989"/>
                  </a:lnTo>
                  <a:lnTo>
                    <a:pt x="9209" y="11244"/>
                  </a:lnTo>
                  <a:lnTo>
                    <a:pt x="9936" y="10565"/>
                  </a:lnTo>
                  <a:close/>
                  <a:moveTo>
                    <a:pt x="7998" y="12504"/>
                  </a:moveTo>
                  <a:lnTo>
                    <a:pt x="7998" y="16333"/>
                  </a:lnTo>
                  <a:lnTo>
                    <a:pt x="1212" y="16333"/>
                  </a:lnTo>
                  <a:lnTo>
                    <a:pt x="2085" y="14103"/>
                  </a:lnTo>
                  <a:lnTo>
                    <a:pt x="2376" y="13716"/>
                  </a:lnTo>
                  <a:lnTo>
                    <a:pt x="2715" y="13376"/>
                  </a:lnTo>
                  <a:lnTo>
                    <a:pt x="3103" y="13134"/>
                  </a:lnTo>
                  <a:lnTo>
                    <a:pt x="3490" y="12989"/>
                  </a:lnTo>
                  <a:lnTo>
                    <a:pt x="4314" y="12698"/>
                  </a:lnTo>
                  <a:lnTo>
                    <a:pt x="5720" y="14103"/>
                  </a:lnTo>
                  <a:lnTo>
                    <a:pt x="5865" y="14200"/>
                  </a:lnTo>
                  <a:lnTo>
                    <a:pt x="6059" y="14249"/>
                  </a:lnTo>
                  <a:lnTo>
                    <a:pt x="6253" y="14200"/>
                  </a:lnTo>
                  <a:lnTo>
                    <a:pt x="6447" y="14103"/>
                  </a:lnTo>
                  <a:lnTo>
                    <a:pt x="7998" y="12504"/>
                  </a:lnTo>
                  <a:close/>
                  <a:moveTo>
                    <a:pt x="9015" y="12504"/>
                  </a:moveTo>
                  <a:lnTo>
                    <a:pt x="10615" y="14103"/>
                  </a:lnTo>
                  <a:lnTo>
                    <a:pt x="10760" y="14200"/>
                  </a:lnTo>
                  <a:lnTo>
                    <a:pt x="10954" y="14249"/>
                  </a:lnTo>
                  <a:lnTo>
                    <a:pt x="11148" y="14200"/>
                  </a:lnTo>
                  <a:lnTo>
                    <a:pt x="11342" y="14103"/>
                  </a:lnTo>
                  <a:lnTo>
                    <a:pt x="12699" y="12698"/>
                  </a:lnTo>
                  <a:lnTo>
                    <a:pt x="13523" y="12989"/>
                  </a:lnTo>
                  <a:lnTo>
                    <a:pt x="13959" y="13134"/>
                  </a:lnTo>
                  <a:lnTo>
                    <a:pt x="14346" y="13376"/>
                  </a:lnTo>
                  <a:lnTo>
                    <a:pt x="14686" y="13716"/>
                  </a:lnTo>
                  <a:lnTo>
                    <a:pt x="14928" y="14103"/>
                  </a:lnTo>
                  <a:lnTo>
                    <a:pt x="15800" y="16333"/>
                  </a:lnTo>
                  <a:lnTo>
                    <a:pt x="9015" y="16333"/>
                  </a:lnTo>
                  <a:lnTo>
                    <a:pt x="9015" y="12504"/>
                  </a:lnTo>
                  <a:close/>
                  <a:moveTo>
                    <a:pt x="7513" y="0"/>
                  </a:moveTo>
                  <a:lnTo>
                    <a:pt x="7174" y="49"/>
                  </a:lnTo>
                  <a:lnTo>
                    <a:pt x="6883" y="146"/>
                  </a:lnTo>
                  <a:lnTo>
                    <a:pt x="6544" y="242"/>
                  </a:lnTo>
                  <a:lnTo>
                    <a:pt x="6253" y="388"/>
                  </a:lnTo>
                  <a:lnTo>
                    <a:pt x="5962" y="533"/>
                  </a:lnTo>
                  <a:lnTo>
                    <a:pt x="5720" y="727"/>
                  </a:lnTo>
                  <a:lnTo>
                    <a:pt x="5477" y="969"/>
                  </a:lnTo>
                  <a:lnTo>
                    <a:pt x="5235" y="1212"/>
                  </a:lnTo>
                  <a:lnTo>
                    <a:pt x="5041" y="1503"/>
                  </a:lnTo>
                  <a:lnTo>
                    <a:pt x="4896" y="1745"/>
                  </a:lnTo>
                  <a:lnTo>
                    <a:pt x="4750" y="2036"/>
                  </a:lnTo>
                  <a:lnTo>
                    <a:pt x="4653" y="2375"/>
                  </a:lnTo>
                  <a:lnTo>
                    <a:pt x="4557" y="2666"/>
                  </a:lnTo>
                  <a:lnTo>
                    <a:pt x="4508" y="3005"/>
                  </a:lnTo>
                  <a:lnTo>
                    <a:pt x="4508" y="3344"/>
                  </a:lnTo>
                  <a:lnTo>
                    <a:pt x="4508" y="3683"/>
                  </a:lnTo>
                  <a:lnTo>
                    <a:pt x="4557" y="4023"/>
                  </a:lnTo>
                  <a:lnTo>
                    <a:pt x="4653" y="4313"/>
                  </a:lnTo>
                  <a:lnTo>
                    <a:pt x="4750" y="4653"/>
                  </a:lnTo>
                  <a:lnTo>
                    <a:pt x="4896" y="4944"/>
                  </a:lnTo>
                  <a:lnTo>
                    <a:pt x="5090" y="5234"/>
                  </a:lnTo>
                  <a:lnTo>
                    <a:pt x="5284" y="5477"/>
                  </a:lnTo>
                  <a:lnTo>
                    <a:pt x="5477" y="5767"/>
                  </a:lnTo>
                  <a:lnTo>
                    <a:pt x="5768" y="6010"/>
                  </a:lnTo>
                  <a:lnTo>
                    <a:pt x="5962" y="6301"/>
                  </a:lnTo>
                  <a:lnTo>
                    <a:pt x="6156" y="6591"/>
                  </a:lnTo>
                  <a:lnTo>
                    <a:pt x="6301" y="6931"/>
                  </a:lnTo>
                  <a:lnTo>
                    <a:pt x="6447" y="7221"/>
                  </a:lnTo>
                  <a:lnTo>
                    <a:pt x="6495" y="7609"/>
                  </a:lnTo>
                  <a:lnTo>
                    <a:pt x="6592" y="7948"/>
                  </a:lnTo>
                  <a:lnTo>
                    <a:pt x="6592" y="8288"/>
                  </a:lnTo>
                  <a:lnTo>
                    <a:pt x="6592" y="9596"/>
                  </a:lnTo>
                  <a:lnTo>
                    <a:pt x="4653" y="11583"/>
                  </a:lnTo>
                  <a:lnTo>
                    <a:pt x="3200" y="11971"/>
                  </a:lnTo>
                  <a:lnTo>
                    <a:pt x="2909" y="12116"/>
                  </a:lnTo>
                  <a:lnTo>
                    <a:pt x="2618" y="12262"/>
                  </a:lnTo>
                  <a:lnTo>
                    <a:pt x="2327" y="12407"/>
                  </a:lnTo>
                  <a:lnTo>
                    <a:pt x="2036" y="12601"/>
                  </a:lnTo>
                  <a:lnTo>
                    <a:pt x="1794" y="12843"/>
                  </a:lnTo>
                  <a:lnTo>
                    <a:pt x="1552" y="13086"/>
                  </a:lnTo>
                  <a:lnTo>
                    <a:pt x="1358" y="13328"/>
                  </a:lnTo>
                  <a:lnTo>
                    <a:pt x="1212" y="13619"/>
                  </a:lnTo>
                  <a:lnTo>
                    <a:pt x="1164" y="13667"/>
                  </a:lnTo>
                  <a:lnTo>
                    <a:pt x="1" y="16624"/>
                  </a:lnTo>
                  <a:lnTo>
                    <a:pt x="1" y="16769"/>
                  </a:lnTo>
                  <a:lnTo>
                    <a:pt x="1" y="16866"/>
                  </a:lnTo>
                  <a:lnTo>
                    <a:pt x="1" y="17011"/>
                  </a:lnTo>
                  <a:lnTo>
                    <a:pt x="49" y="17108"/>
                  </a:lnTo>
                  <a:lnTo>
                    <a:pt x="146" y="17205"/>
                  </a:lnTo>
                  <a:lnTo>
                    <a:pt x="243" y="17254"/>
                  </a:lnTo>
                  <a:lnTo>
                    <a:pt x="389" y="17302"/>
                  </a:lnTo>
                  <a:lnTo>
                    <a:pt x="485" y="17351"/>
                  </a:lnTo>
                  <a:lnTo>
                    <a:pt x="16527" y="17351"/>
                  </a:lnTo>
                  <a:lnTo>
                    <a:pt x="16673" y="17302"/>
                  </a:lnTo>
                  <a:lnTo>
                    <a:pt x="16770" y="17254"/>
                  </a:lnTo>
                  <a:lnTo>
                    <a:pt x="16867" y="17205"/>
                  </a:lnTo>
                  <a:lnTo>
                    <a:pt x="16964" y="17108"/>
                  </a:lnTo>
                  <a:lnTo>
                    <a:pt x="17012" y="17011"/>
                  </a:lnTo>
                  <a:lnTo>
                    <a:pt x="17061" y="16866"/>
                  </a:lnTo>
                  <a:lnTo>
                    <a:pt x="17061" y="16769"/>
                  </a:lnTo>
                  <a:lnTo>
                    <a:pt x="17012" y="16624"/>
                  </a:lnTo>
                  <a:lnTo>
                    <a:pt x="15897" y="13667"/>
                  </a:lnTo>
                  <a:lnTo>
                    <a:pt x="15849" y="13619"/>
                  </a:lnTo>
                  <a:lnTo>
                    <a:pt x="15655" y="13328"/>
                  </a:lnTo>
                  <a:lnTo>
                    <a:pt x="15461" y="13086"/>
                  </a:lnTo>
                  <a:lnTo>
                    <a:pt x="15219" y="12843"/>
                  </a:lnTo>
                  <a:lnTo>
                    <a:pt x="14977" y="12601"/>
                  </a:lnTo>
                  <a:lnTo>
                    <a:pt x="14734" y="12407"/>
                  </a:lnTo>
                  <a:lnTo>
                    <a:pt x="14443" y="12262"/>
                  </a:lnTo>
                  <a:lnTo>
                    <a:pt x="14153" y="12116"/>
                  </a:lnTo>
                  <a:lnTo>
                    <a:pt x="13813" y="11971"/>
                  </a:lnTo>
                  <a:lnTo>
                    <a:pt x="12408" y="11583"/>
                  </a:lnTo>
                  <a:lnTo>
                    <a:pt x="10469" y="9596"/>
                  </a:lnTo>
                  <a:lnTo>
                    <a:pt x="10469" y="8288"/>
                  </a:lnTo>
                  <a:lnTo>
                    <a:pt x="10469" y="7948"/>
                  </a:lnTo>
                  <a:lnTo>
                    <a:pt x="10518" y="7561"/>
                  </a:lnTo>
                  <a:lnTo>
                    <a:pt x="10615" y="7221"/>
                  </a:lnTo>
                  <a:lnTo>
                    <a:pt x="10712" y="6931"/>
                  </a:lnTo>
                  <a:lnTo>
                    <a:pt x="10857" y="6591"/>
                  </a:lnTo>
                  <a:lnTo>
                    <a:pt x="11051" y="6301"/>
                  </a:lnTo>
                  <a:lnTo>
                    <a:pt x="11293" y="6010"/>
                  </a:lnTo>
                  <a:lnTo>
                    <a:pt x="11536" y="5767"/>
                  </a:lnTo>
                  <a:lnTo>
                    <a:pt x="11729" y="5525"/>
                  </a:lnTo>
                  <a:lnTo>
                    <a:pt x="11972" y="5234"/>
                  </a:lnTo>
                  <a:lnTo>
                    <a:pt x="12117" y="4944"/>
                  </a:lnTo>
                  <a:lnTo>
                    <a:pt x="12311" y="4653"/>
                  </a:lnTo>
                  <a:lnTo>
                    <a:pt x="12408" y="4313"/>
                  </a:lnTo>
                  <a:lnTo>
                    <a:pt x="12505" y="3974"/>
                  </a:lnTo>
                  <a:lnTo>
                    <a:pt x="12553" y="3635"/>
                  </a:lnTo>
                  <a:lnTo>
                    <a:pt x="12553" y="3296"/>
                  </a:lnTo>
                  <a:lnTo>
                    <a:pt x="12505" y="2956"/>
                  </a:lnTo>
                  <a:lnTo>
                    <a:pt x="12456" y="2617"/>
                  </a:lnTo>
                  <a:lnTo>
                    <a:pt x="12408" y="2326"/>
                  </a:lnTo>
                  <a:lnTo>
                    <a:pt x="12262" y="2036"/>
                  </a:lnTo>
                  <a:lnTo>
                    <a:pt x="12117" y="1745"/>
                  </a:lnTo>
                  <a:lnTo>
                    <a:pt x="11972" y="1454"/>
                  </a:lnTo>
                  <a:lnTo>
                    <a:pt x="11778" y="1212"/>
                  </a:lnTo>
                  <a:lnTo>
                    <a:pt x="11536" y="969"/>
                  </a:lnTo>
                  <a:lnTo>
                    <a:pt x="11293" y="727"/>
                  </a:lnTo>
                  <a:lnTo>
                    <a:pt x="11051" y="533"/>
                  </a:lnTo>
                  <a:lnTo>
                    <a:pt x="10760" y="388"/>
                  </a:lnTo>
                  <a:lnTo>
                    <a:pt x="10469" y="242"/>
                  </a:lnTo>
                  <a:lnTo>
                    <a:pt x="10178" y="146"/>
                  </a:lnTo>
                  <a:lnTo>
                    <a:pt x="9839" y="49"/>
                  </a:lnTo>
                  <a:lnTo>
                    <a:pt x="9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sp>
        <p:nvSpPr>
          <p:cNvPr id="522" name="TextBox 52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04 · CHẤT LƯỢNG &amp; VẬN HÀNH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8485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Đỉnh hoàn hàng rơi vào mùa hè, không phải mùa lễ hội</a:t>
            </a:r>
            <a:endParaRPr>
              <a:latin typeface="Be vietnam pro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04 · CHẤT LƯỢNG &amp; VẬN HÀNH</a:t>
            </a:r>
          </a:p>
        </p:txBody>
      </p:sp>
      <p:pic>
        <p:nvPicPr>
          <p:cNvPr id="943" name="Picture 942" descr="15_refund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016573"/>
            <a:ext cx="5440680" cy="2338391"/>
          </a:xfrm>
          <a:prstGeom prst="rect">
            <a:avLst/>
          </a:prstGeom>
        </p:spPr>
      </p:pic>
      <p:sp>
        <p:nvSpPr>
          <p:cNvPr id="941" name="Google Shape;941;p60"/>
          <p:cNvSpPr/>
          <p:nvPr/>
        </p:nvSpPr>
        <p:spPr>
          <a:xfrm>
            <a:off x="722376" y="1570939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969264" y="1488643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Tháng 8 và 9 cùng đạt </a:t>
            </a:r>
            <a:r>
              <a:rPr sz="1600" b="1">
                <a:solidFill>
                  <a:srgbClr val="E05263"/>
                </a:solidFill>
                <a:latin typeface="Be vietnam pro"/>
              </a:rPr>
              <a:t>7.76%</a:t>
            </a:r>
            <a:r>
              <a:rPr sz="1600" b="0">
                <a:solidFill>
                  <a:srgbClr val="384655"/>
                </a:solidFill>
                <a:latin typeface="Be vietnam pro"/>
              </a:rPr>
              <a:t> — gấp 2.4 lần tháng 10 (3.17%)</a:t>
            </a:r>
          </a:p>
        </p:txBody>
      </p:sp>
      <p:sp>
        <p:nvSpPr>
          <p:cNvPr id="2" name="Google Shape;941;p60"/>
          <p:cNvSpPr/>
          <p:nvPr/>
        </p:nvSpPr>
        <p:spPr>
          <a:xfrm>
            <a:off x="722376" y="2619755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969264" y="2537459"/>
            <a:ext cx="2139696" cy="83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dirty="0" err="1">
                <a:solidFill>
                  <a:srgbClr val="384655"/>
                </a:solidFill>
                <a:latin typeface="Be vietnam pro"/>
              </a:rPr>
              <a:t>Tháng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11–12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bán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nhiều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nhất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lại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hoàn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thấp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hơn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trung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600" b="0" dirty="0" err="1">
                <a:solidFill>
                  <a:srgbClr val="384655"/>
                </a:solidFill>
                <a:latin typeface="Be vietnam pro"/>
              </a:rPr>
              <a:t>bình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4.3</a:t>
            </a:r>
            <a:r>
              <a:rPr lang="en-US" sz="1600" b="0" dirty="0">
                <a:solidFill>
                  <a:srgbClr val="384655"/>
                </a:solidFill>
                <a:latin typeface="Be vietnam pro"/>
              </a:rPr>
              <a:t>2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%</a:t>
            </a:r>
          </a:p>
        </p:txBody>
      </p:sp>
      <p:sp>
        <p:nvSpPr>
          <p:cNvPr id="3" name="Google Shape;941;p60"/>
          <p:cNvSpPr/>
          <p:nvPr/>
        </p:nvSpPr>
        <p:spPr>
          <a:xfrm>
            <a:off x="722376" y="3941978"/>
            <a:ext cx="164592" cy="16459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  <a:ea typeface="DM Sans"/>
              <a:cs typeface="DM Sans"/>
              <a:sym typeface="DM Sans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969264" y="3859682"/>
            <a:ext cx="2139696" cy="832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84655"/>
                </a:solidFill>
                <a:latin typeface="Be vietnam pro"/>
              </a:rPr>
              <a:t>Tháng 6–9 bán ít nhất, nên không thể do quá tải công suất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63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Kế hoạch hành động — ưu tiên Cao</a:t>
            </a:r>
            <a:endParaRPr>
              <a:latin typeface="Be vietnam pro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05 · KHUYẾN NGHỊ</a:t>
            </a:r>
          </a:p>
        </p:txBody>
      </p:sp>
      <p:graphicFrame>
        <p:nvGraphicFramePr>
          <p:cNvPr id="979" name="Table 9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99136"/>
              </p:ext>
            </p:extLst>
          </p:nvPr>
        </p:nvGraphicFramePr>
        <p:xfrm>
          <a:off x="457200" y="1105509"/>
          <a:ext cx="8229600" cy="389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#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Hành động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Căn cứ dữ liệu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Bộ phận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Kỳ vọng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644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Thiết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kế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lại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thanh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toán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Mobile: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rút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gọn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/billing,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nút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Thanh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toán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above-the-fold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Drop-off Mobile 47.72% vs Desktop 33.55%, khoảng cách đang nới rộng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Product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Thu hồi ~$150K/năm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2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Đưa Hudson lên vị trí nổi bật; gợi ý mua kèm tại Cart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1.00% click nhưng 65.13% thêm giỏ; margin 67.08%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Product &amp; Marketing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Hudson từ 7.76% lên 15%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644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Rà soát chất lượng &amp; đóng gói Panda và Mr. Fuzzy; bổ sung lý do hoàn hàng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Panda refund 6.04%; Mr. Fuzzy mất $61,838 (72.5% tiền hoàn)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Vận hành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Refund dưới 3%, tiết kiệm ~$40K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644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4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Siết đóng gói &amp; lưu kho tháng 6–9, kiểm tra vật liệu chống ẩm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Refund tháng 8–9 đạt 7.76%, gấp 2.4 lần tháng 10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Vận hành &amp; Kho vận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Refund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mùa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hè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về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4.33%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65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Kế hoạch hành động — ưu tiên Trung bình</a:t>
            </a:r>
            <a:endParaRPr>
              <a:latin typeface="Be vietnam pro"/>
            </a:endParaRPr>
          </a:p>
        </p:txBody>
      </p:sp>
      <p:sp>
        <p:nvSpPr>
          <p:cNvPr id="992" name="TextBox 99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05 · KHUYẾN NGHỊ</a:t>
            </a:r>
          </a:p>
        </p:txBody>
      </p:sp>
      <p:graphicFrame>
        <p:nvGraphicFramePr>
          <p:cNvPr id="993" name="Table 9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217420"/>
              </p:ext>
            </p:extLst>
          </p:nvPr>
        </p:nvGraphicFramePr>
        <p:xfrm>
          <a:off x="457200" y="1105509"/>
          <a:ext cx="8229600" cy="389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#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Hành động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Căn cứ dữ liệu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Bộ phận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Be vietnam pro"/>
                        </a:rPr>
                        <a:t>Kỳ vọng</a:t>
                      </a:r>
                    </a:p>
                  </a:txBody>
                  <a:tcPr marL="64008" marR="64008" marT="36576" marB="36576" anchor="ctr">
                    <a:solidFill>
                      <a:srgbClr val="3846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644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Xây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chương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trình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mua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lại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: email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sau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30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ngày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ưu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đãi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đơn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thứ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hai</a:t>
                      </a:r>
                      <a:endParaRPr sz="1400" b="0" dirty="0">
                        <a:solidFill>
                          <a:srgbClr val="384655"/>
                        </a:solidFill>
                        <a:latin typeface="Be vietnam pro"/>
                      </a:endParaRP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Repeat rate 1.86%; mua lần 2 đạt $122–188 vs $61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CRM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Repeat rate lên 5%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644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6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Rà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soát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/lander-3,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áp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dụng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thiết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kế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của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/lander-5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Drop-off 96.61% trên 79,000 phiên, cao nhất site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Product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Thêm khoảng 5,300 đơn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644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Cắt ngân sách socialbook, dồn cho direct/organic (SEO)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Socialbook 1.15% doanh thu, repeat 1.17%, CR Mobile 0.83%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Performance Media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Giảm CAC lãng phí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E9CBF"/>
                          </a:solidFill>
                          <a:latin typeface="Be vietnam pro"/>
                        </a:rPr>
                        <a:t>8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Bổ sung dashboard theo dõi LTV/CAC theo cohort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Chưa có chỉ số đo chất lượng khách hàng dài hạn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84655"/>
                          </a:solidFill>
                          <a:latin typeface="Be vietnam pro"/>
                        </a:rPr>
                        <a:t>Data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Đo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hiệu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quả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của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84655"/>
                          </a:solidFill>
                          <a:latin typeface="Be vietnam pro"/>
                        </a:rPr>
                        <a:t>mục</a:t>
                      </a:r>
                      <a:r>
                        <a:rPr sz="1400" b="0" dirty="0">
                          <a:solidFill>
                            <a:srgbClr val="384655"/>
                          </a:solidFill>
                          <a:latin typeface="Be vietnam pro"/>
                        </a:rPr>
                        <a:t> 5</a:t>
                      </a:r>
                    </a:p>
                  </a:txBody>
                  <a:tcPr marL="64008" marR="64008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722376" y="475488"/>
            <a:ext cx="7708392" cy="45628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384655"/>
                </a:solidFill>
                <a:latin typeface="Be vietnam pro"/>
              </a:rPr>
              <a:t>Ba giới hạn của phân tích</a:t>
            </a:r>
            <a:endParaRPr>
              <a:latin typeface="Be vietnam pro"/>
            </a:endParaRP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722376" y="2517380"/>
            <a:ext cx="2606040" cy="14310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Frequency chỉ có 3 giá trị nên thang F thực chất chỉ 3 bậc; tên segment phản ánh chủ yếu Recency và Monetary.</a:t>
            </a:r>
            <a:endParaRPr>
              <a:latin typeface="Be vietnam pro"/>
            </a:endParaRPr>
          </a:p>
        </p:txBody>
      </p:sp>
      <p:sp>
        <p:nvSpPr>
          <p:cNvPr id="505" name="Google Shape;505;p44"/>
          <p:cNvSpPr txBox="1">
            <a:spLocks noGrp="1"/>
          </p:cNvSpPr>
          <p:nvPr>
            <p:ph type="subTitle" idx="2"/>
          </p:nvPr>
        </p:nvSpPr>
        <p:spPr>
          <a:xfrm>
            <a:off x="3520440" y="2517380"/>
            <a:ext cx="2606040" cy="14310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Cả 6 cặp đều có Lift &lt; 1. Khuyến nghị bán chéo dựa trên Confidence và biên lợi nhuận, không dựa trên Lift.</a:t>
            </a:r>
            <a:endParaRPr>
              <a:latin typeface="Be vietnam pro"/>
            </a:endParaRPr>
          </a:p>
        </p:txBody>
      </p:sp>
      <p:sp>
        <p:nvSpPr>
          <p:cNvPr id="506" name="Google Shape;506;p44"/>
          <p:cNvSpPr txBox="1">
            <a:spLocks noGrp="1"/>
          </p:cNvSpPr>
          <p:nvPr>
            <p:ph type="subTitle" idx="3"/>
          </p:nvPr>
        </p:nvSpPr>
        <p:spPr>
          <a:xfrm>
            <a:off x="6318504" y="2517380"/>
            <a:ext cx="2606040" cy="115763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384655"/>
                </a:solidFill>
                <a:latin typeface="Be vietnam pro"/>
              </a:rPr>
              <a:t>Các nguyên nhân nêu ở Phần 4 là giả thuyết cần kiểm chứng, không phải kết luận.</a:t>
            </a:r>
            <a:endParaRPr>
              <a:latin typeface="Be vietnam pro"/>
            </a:endParaRPr>
          </a:p>
        </p:txBody>
      </p:sp>
      <p:sp>
        <p:nvSpPr>
          <p:cNvPr id="507" name="Google Shape;507;p44"/>
          <p:cNvSpPr txBox="1">
            <a:spLocks noGrp="1"/>
          </p:cNvSpPr>
          <p:nvPr>
            <p:ph type="subTitle" idx="4"/>
          </p:nvPr>
        </p:nvSpPr>
        <p:spPr>
          <a:xfrm>
            <a:off x="722376" y="1799394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384655"/>
                </a:solidFill>
                <a:latin typeface="Be vietnam pro"/>
              </a:rPr>
              <a:t>RFM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bị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hạn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chế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bởi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dữ</a:t>
            </a:r>
            <a:r>
              <a:rPr sz="1800" b="1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800" b="1" dirty="0" err="1">
                <a:solidFill>
                  <a:srgbClr val="384655"/>
                </a:solidFill>
                <a:latin typeface="Be vietnam pro"/>
              </a:rPr>
              <a:t>liệu</a:t>
            </a:r>
            <a:endParaRPr dirty="0">
              <a:latin typeface="Be vietnam pro"/>
            </a:endParaRPr>
          </a:p>
        </p:txBody>
      </p:sp>
      <p:sp>
        <p:nvSpPr>
          <p:cNvPr id="508" name="Google Shape;508;p44"/>
          <p:cNvSpPr txBox="1">
            <a:spLocks noGrp="1"/>
          </p:cNvSpPr>
          <p:nvPr>
            <p:ph type="subTitle" idx="5"/>
          </p:nvPr>
        </p:nvSpPr>
        <p:spPr>
          <a:xfrm>
            <a:off x="3520440" y="1799394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Market Basket không có liên kết dương</a:t>
            </a:r>
            <a:endParaRPr>
              <a:latin typeface="Be vietnam pro"/>
            </a:endParaRPr>
          </a:p>
        </p:txBody>
      </p:sp>
      <p:sp>
        <p:nvSpPr>
          <p:cNvPr id="509" name="Google Shape;509;p44"/>
          <p:cNvSpPr txBox="1">
            <a:spLocks noGrp="1"/>
          </p:cNvSpPr>
          <p:nvPr>
            <p:ph type="subTitle" idx="6"/>
          </p:nvPr>
        </p:nvSpPr>
        <p:spPr>
          <a:xfrm>
            <a:off x="6318504" y="1799394"/>
            <a:ext cx="2606040" cy="66312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84655"/>
                </a:solidFill>
                <a:latin typeface="Be vietnam pro"/>
              </a:rPr>
              <a:t>Chưa có dữ liệu lý do hoàn hàng</a:t>
            </a:r>
            <a:endParaRPr>
              <a:latin typeface="Be vietnam pro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1829318" y="1206093"/>
            <a:ext cx="392155" cy="392133"/>
          </a:xfrm>
          <a:custGeom>
            <a:avLst/>
            <a:gdLst/>
            <a:ahLst/>
            <a:cxnLst/>
            <a:rect l="l" t="t" r="r" b="b"/>
            <a:pathLst>
              <a:path w="17352" h="17351" extrusionOk="0">
                <a:moveTo>
                  <a:pt x="10906" y="1018"/>
                </a:moveTo>
                <a:lnTo>
                  <a:pt x="10906" y="2036"/>
                </a:lnTo>
                <a:lnTo>
                  <a:pt x="6447" y="2036"/>
                </a:lnTo>
                <a:lnTo>
                  <a:pt x="6447" y="1018"/>
                </a:lnTo>
                <a:close/>
                <a:moveTo>
                  <a:pt x="10906" y="5089"/>
                </a:moveTo>
                <a:lnTo>
                  <a:pt x="10906" y="6107"/>
                </a:lnTo>
                <a:lnTo>
                  <a:pt x="6447" y="6107"/>
                </a:lnTo>
                <a:lnTo>
                  <a:pt x="6447" y="5089"/>
                </a:lnTo>
                <a:close/>
                <a:moveTo>
                  <a:pt x="8676" y="9209"/>
                </a:moveTo>
                <a:lnTo>
                  <a:pt x="10276" y="9984"/>
                </a:lnTo>
                <a:lnTo>
                  <a:pt x="8676" y="10760"/>
                </a:lnTo>
                <a:lnTo>
                  <a:pt x="7077" y="9984"/>
                </a:lnTo>
                <a:lnTo>
                  <a:pt x="8676" y="9209"/>
                </a:lnTo>
                <a:close/>
                <a:moveTo>
                  <a:pt x="4120" y="15315"/>
                </a:moveTo>
                <a:lnTo>
                  <a:pt x="4314" y="15364"/>
                </a:lnTo>
                <a:lnTo>
                  <a:pt x="4508" y="15461"/>
                </a:lnTo>
                <a:lnTo>
                  <a:pt x="4605" y="15655"/>
                </a:lnTo>
                <a:lnTo>
                  <a:pt x="4654" y="15848"/>
                </a:lnTo>
                <a:lnTo>
                  <a:pt x="4605" y="16042"/>
                </a:lnTo>
                <a:lnTo>
                  <a:pt x="4508" y="16188"/>
                </a:lnTo>
                <a:lnTo>
                  <a:pt x="4314" y="16285"/>
                </a:lnTo>
                <a:lnTo>
                  <a:pt x="4120" y="16333"/>
                </a:lnTo>
                <a:lnTo>
                  <a:pt x="1503" y="16333"/>
                </a:lnTo>
                <a:lnTo>
                  <a:pt x="1310" y="16285"/>
                </a:lnTo>
                <a:lnTo>
                  <a:pt x="1164" y="16188"/>
                </a:lnTo>
                <a:lnTo>
                  <a:pt x="1067" y="16042"/>
                </a:lnTo>
                <a:lnTo>
                  <a:pt x="1019" y="15848"/>
                </a:lnTo>
                <a:lnTo>
                  <a:pt x="1067" y="15655"/>
                </a:lnTo>
                <a:lnTo>
                  <a:pt x="1164" y="15461"/>
                </a:lnTo>
                <a:lnTo>
                  <a:pt x="1310" y="15364"/>
                </a:lnTo>
                <a:lnTo>
                  <a:pt x="1503" y="15315"/>
                </a:lnTo>
                <a:close/>
                <a:moveTo>
                  <a:pt x="15801" y="15315"/>
                </a:moveTo>
                <a:lnTo>
                  <a:pt x="15994" y="15364"/>
                </a:lnTo>
                <a:lnTo>
                  <a:pt x="16188" y="15461"/>
                </a:lnTo>
                <a:lnTo>
                  <a:pt x="16285" y="15655"/>
                </a:lnTo>
                <a:lnTo>
                  <a:pt x="16334" y="15848"/>
                </a:lnTo>
                <a:lnTo>
                  <a:pt x="16285" y="16042"/>
                </a:lnTo>
                <a:lnTo>
                  <a:pt x="16188" y="16188"/>
                </a:lnTo>
                <a:lnTo>
                  <a:pt x="15994" y="16285"/>
                </a:lnTo>
                <a:lnTo>
                  <a:pt x="15801" y="16333"/>
                </a:lnTo>
                <a:lnTo>
                  <a:pt x="13232" y="16333"/>
                </a:lnTo>
                <a:lnTo>
                  <a:pt x="12990" y="16285"/>
                </a:lnTo>
                <a:lnTo>
                  <a:pt x="12844" y="16188"/>
                </a:lnTo>
                <a:lnTo>
                  <a:pt x="12747" y="16042"/>
                </a:lnTo>
                <a:lnTo>
                  <a:pt x="12699" y="15848"/>
                </a:lnTo>
                <a:lnTo>
                  <a:pt x="12747" y="15655"/>
                </a:lnTo>
                <a:lnTo>
                  <a:pt x="12844" y="15461"/>
                </a:lnTo>
                <a:lnTo>
                  <a:pt x="12990" y="15364"/>
                </a:lnTo>
                <a:lnTo>
                  <a:pt x="13232" y="15315"/>
                </a:lnTo>
                <a:close/>
                <a:moveTo>
                  <a:pt x="5914" y="0"/>
                </a:moveTo>
                <a:lnTo>
                  <a:pt x="5720" y="49"/>
                </a:lnTo>
                <a:lnTo>
                  <a:pt x="5574" y="146"/>
                </a:lnTo>
                <a:lnTo>
                  <a:pt x="5478" y="340"/>
                </a:lnTo>
                <a:lnTo>
                  <a:pt x="5429" y="534"/>
                </a:lnTo>
                <a:lnTo>
                  <a:pt x="5429" y="2569"/>
                </a:lnTo>
                <a:lnTo>
                  <a:pt x="5478" y="2763"/>
                </a:lnTo>
                <a:lnTo>
                  <a:pt x="5574" y="2908"/>
                </a:lnTo>
                <a:lnTo>
                  <a:pt x="5720" y="3005"/>
                </a:lnTo>
                <a:lnTo>
                  <a:pt x="5914" y="3054"/>
                </a:lnTo>
                <a:lnTo>
                  <a:pt x="8143" y="3054"/>
                </a:lnTo>
                <a:lnTo>
                  <a:pt x="8143" y="4072"/>
                </a:lnTo>
                <a:lnTo>
                  <a:pt x="5914" y="4072"/>
                </a:lnTo>
                <a:lnTo>
                  <a:pt x="5720" y="4120"/>
                </a:lnTo>
                <a:lnTo>
                  <a:pt x="5574" y="4217"/>
                </a:lnTo>
                <a:lnTo>
                  <a:pt x="5478" y="4411"/>
                </a:lnTo>
                <a:lnTo>
                  <a:pt x="5429" y="4605"/>
                </a:lnTo>
                <a:lnTo>
                  <a:pt x="5429" y="6640"/>
                </a:lnTo>
                <a:lnTo>
                  <a:pt x="5478" y="6834"/>
                </a:lnTo>
                <a:lnTo>
                  <a:pt x="5574" y="6979"/>
                </a:lnTo>
                <a:lnTo>
                  <a:pt x="5720" y="7076"/>
                </a:lnTo>
                <a:lnTo>
                  <a:pt x="5914" y="7125"/>
                </a:lnTo>
                <a:lnTo>
                  <a:pt x="8143" y="7125"/>
                </a:lnTo>
                <a:lnTo>
                  <a:pt x="8143" y="8336"/>
                </a:lnTo>
                <a:lnTo>
                  <a:pt x="5817" y="9451"/>
                </a:lnTo>
                <a:lnTo>
                  <a:pt x="2860" y="9451"/>
                </a:lnTo>
                <a:lnTo>
                  <a:pt x="2667" y="9500"/>
                </a:lnTo>
                <a:lnTo>
                  <a:pt x="2473" y="9596"/>
                </a:lnTo>
                <a:lnTo>
                  <a:pt x="2376" y="9790"/>
                </a:lnTo>
                <a:lnTo>
                  <a:pt x="2327" y="9984"/>
                </a:lnTo>
                <a:lnTo>
                  <a:pt x="2327" y="14298"/>
                </a:lnTo>
                <a:lnTo>
                  <a:pt x="1503" y="14298"/>
                </a:lnTo>
                <a:lnTo>
                  <a:pt x="1213" y="14346"/>
                </a:lnTo>
                <a:lnTo>
                  <a:pt x="922" y="14443"/>
                </a:lnTo>
                <a:lnTo>
                  <a:pt x="679" y="14588"/>
                </a:lnTo>
                <a:lnTo>
                  <a:pt x="437" y="14782"/>
                </a:lnTo>
                <a:lnTo>
                  <a:pt x="243" y="14976"/>
                </a:lnTo>
                <a:lnTo>
                  <a:pt x="98" y="15267"/>
                </a:lnTo>
                <a:lnTo>
                  <a:pt x="49" y="15509"/>
                </a:lnTo>
                <a:lnTo>
                  <a:pt x="1" y="15848"/>
                </a:lnTo>
                <a:lnTo>
                  <a:pt x="49" y="16139"/>
                </a:lnTo>
                <a:lnTo>
                  <a:pt x="98" y="16430"/>
                </a:lnTo>
                <a:lnTo>
                  <a:pt x="243" y="16672"/>
                </a:lnTo>
                <a:lnTo>
                  <a:pt x="437" y="16915"/>
                </a:lnTo>
                <a:lnTo>
                  <a:pt x="679" y="17109"/>
                </a:lnTo>
                <a:lnTo>
                  <a:pt x="922" y="17254"/>
                </a:lnTo>
                <a:lnTo>
                  <a:pt x="1213" y="17351"/>
                </a:lnTo>
                <a:lnTo>
                  <a:pt x="4460" y="17351"/>
                </a:lnTo>
                <a:lnTo>
                  <a:pt x="4702" y="17254"/>
                </a:lnTo>
                <a:lnTo>
                  <a:pt x="4993" y="17109"/>
                </a:lnTo>
                <a:lnTo>
                  <a:pt x="5187" y="16915"/>
                </a:lnTo>
                <a:lnTo>
                  <a:pt x="5381" y="16672"/>
                </a:lnTo>
                <a:lnTo>
                  <a:pt x="5526" y="16430"/>
                </a:lnTo>
                <a:lnTo>
                  <a:pt x="5623" y="16139"/>
                </a:lnTo>
                <a:lnTo>
                  <a:pt x="5671" y="15848"/>
                </a:lnTo>
                <a:lnTo>
                  <a:pt x="5623" y="15509"/>
                </a:lnTo>
                <a:lnTo>
                  <a:pt x="5526" y="15267"/>
                </a:lnTo>
                <a:lnTo>
                  <a:pt x="5381" y="14976"/>
                </a:lnTo>
                <a:lnTo>
                  <a:pt x="5187" y="14782"/>
                </a:lnTo>
                <a:lnTo>
                  <a:pt x="4993" y="14588"/>
                </a:lnTo>
                <a:lnTo>
                  <a:pt x="4702" y="14443"/>
                </a:lnTo>
                <a:lnTo>
                  <a:pt x="4460" y="14346"/>
                </a:lnTo>
                <a:lnTo>
                  <a:pt x="4120" y="14298"/>
                </a:lnTo>
                <a:lnTo>
                  <a:pt x="3345" y="14298"/>
                </a:lnTo>
                <a:lnTo>
                  <a:pt x="3345" y="10469"/>
                </a:lnTo>
                <a:lnTo>
                  <a:pt x="5817" y="10469"/>
                </a:lnTo>
                <a:lnTo>
                  <a:pt x="8434" y="11777"/>
                </a:lnTo>
                <a:lnTo>
                  <a:pt x="8676" y="11826"/>
                </a:lnTo>
                <a:lnTo>
                  <a:pt x="8870" y="11777"/>
                </a:lnTo>
                <a:lnTo>
                  <a:pt x="11536" y="10469"/>
                </a:lnTo>
                <a:lnTo>
                  <a:pt x="14007" y="10469"/>
                </a:lnTo>
                <a:lnTo>
                  <a:pt x="14007" y="14298"/>
                </a:lnTo>
                <a:lnTo>
                  <a:pt x="13232" y="14298"/>
                </a:lnTo>
                <a:lnTo>
                  <a:pt x="12893" y="14346"/>
                </a:lnTo>
                <a:lnTo>
                  <a:pt x="12602" y="14443"/>
                </a:lnTo>
                <a:lnTo>
                  <a:pt x="12360" y="14588"/>
                </a:lnTo>
                <a:lnTo>
                  <a:pt x="12117" y="14782"/>
                </a:lnTo>
                <a:lnTo>
                  <a:pt x="11923" y="14976"/>
                </a:lnTo>
                <a:lnTo>
                  <a:pt x="11826" y="15267"/>
                </a:lnTo>
                <a:lnTo>
                  <a:pt x="11730" y="15509"/>
                </a:lnTo>
                <a:lnTo>
                  <a:pt x="11681" y="15848"/>
                </a:lnTo>
                <a:lnTo>
                  <a:pt x="11730" y="16139"/>
                </a:lnTo>
                <a:lnTo>
                  <a:pt x="11826" y="16430"/>
                </a:lnTo>
                <a:lnTo>
                  <a:pt x="11923" y="16672"/>
                </a:lnTo>
                <a:lnTo>
                  <a:pt x="12117" y="16915"/>
                </a:lnTo>
                <a:lnTo>
                  <a:pt x="12360" y="17109"/>
                </a:lnTo>
                <a:lnTo>
                  <a:pt x="12602" y="17254"/>
                </a:lnTo>
                <a:lnTo>
                  <a:pt x="12893" y="17351"/>
                </a:lnTo>
                <a:lnTo>
                  <a:pt x="16140" y="17351"/>
                </a:lnTo>
                <a:lnTo>
                  <a:pt x="16431" y="17254"/>
                </a:lnTo>
                <a:lnTo>
                  <a:pt x="16673" y="17109"/>
                </a:lnTo>
                <a:lnTo>
                  <a:pt x="16915" y="16915"/>
                </a:lnTo>
                <a:lnTo>
                  <a:pt x="17061" y="16672"/>
                </a:lnTo>
                <a:lnTo>
                  <a:pt x="17206" y="16430"/>
                </a:lnTo>
                <a:lnTo>
                  <a:pt x="17303" y="16139"/>
                </a:lnTo>
                <a:lnTo>
                  <a:pt x="17351" y="15848"/>
                </a:lnTo>
                <a:lnTo>
                  <a:pt x="17303" y="15509"/>
                </a:lnTo>
                <a:lnTo>
                  <a:pt x="17206" y="15267"/>
                </a:lnTo>
                <a:lnTo>
                  <a:pt x="17061" y="14976"/>
                </a:lnTo>
                <a:lnTo>
                  <a:pt x="16915" y="14782"/>
                </a:lnTo>
                <a:lnTo>
                  <a:pt x="16673" y="14588"/>
                </a:lnTo>
                <a:lnTo>
                  <a:pt x="16431" y="14443"/>
                </a:lnTo>
                <a:lnTo>
                  <a:pt x="16140" y="14346"/>
                </a:lnTo>
                <a:lnTo>
                  <a:pt x="15801" y="14298"/>
                </a:lnTo>
                <a:lnTo>
                  <a:pt x="15025" y="14298"/>
                </a:lnTo>
                <a:lnTo>
                  <a:pt x="15025" y="9984"/>
                </a:lnTo>
                <a:lnTo>
                  <a:pt x="14977" y="9790"/>
                </a:lnTo>
                <a:lnTo>
                  <a:pt x="14880" y="9596"/>
                </a:lnTo>
                <a:lnTo>
                  <a:pt x="14686" y="9500"/>
                </a:lnTo>
                <a:lnTo>
                  <a:pt x="14492" y="9451"/>
                </a:lnTo>
                <a:lnTo>
                  <a:pt x="11536" y="9451"/>
                </a:lnTo>
                <a:lnTo>
                  <a:pt x="9161" y="8336"/>
                </a:lnTo>
                <a:lnTo>
                  <a:pt x="9161" y="7125"/>
                </a:lnTo>
                <a:lnTo>
                  <a:pt x="11439" y="7125"/>
                </a:lnTo>
                <a:lnTo>
                  <a:pt x="11633" y="7076"/>
                </a:lnTo>
                <a:lnTo>
                  <a:pt x="11778" y="6979"/>
                </a:lnTo>
                <a:lnTo>
                  <a:pt x="11875" y="6834"/>
                </a:lnTo>
                <a:lnTo>
                  <a:pt x="11923" y="6640"/>
                </a:lnTo>
                <a:lnTo>
                  <a:pt x="11923" y="4605"/>
                </a:lnTo>
                <a:lnTo>
                  <a:pt x="11875" y="4411"/>
                </a:lnTo>
                <a:lnTo>
                  <a:pt x="11778" y="4217"/>
                </a:lnTo>
                <a:lnTo>
                  <a:pt x="11633" y="4120"/>
                </a:lnTo>
                <a:lnTo>
                  <a:pt x="11439" y="4072"/>
                </a:lnTo>
                <a:lnTo>
                  <a:pt x="9161" y="4072"/>
                </a:lnTo>
                <a:lnTo>
                  <a:pt x="9161" y="3054"/>
                </a:lnTo>
                <a:lnTo>
                  <a:pt x="11439" y="3054"/>
                </a:lnTo>
                <a:lnTo>
                  <a:pt x="11633" y="3005"/>
                </a:lnTo>
                <a:lnTo>
                  <a:pt x="11778" y="2908"/>
                </a:lnTo>
                <a:lnTo>
                  <a:pt x="11875" y="2763"/>
                </a:lnTo>
                <a:lnTo>
                  <a:pt x="11923" y="2569"/>
                </a:lnTo>
                <a:lnTo>
                  <a:pt x="11923" y="534"/>
                </a:lnTo>
                <a:lnTo>
                  <a:pt x="11875" y="340"/>
                </a:lnTo>
                <a:lnTo>
                  <a:pt x="11778" y="146"/>
                </a:lnTo>
                <a:lnTo>
                  <a:pt x="11633" y="49"/>
                </a:lnTo>
                <a:lnTo>
                  <a:pt x="1143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 vietnam pro"/>
            </a:endParaRPr>
          </a:p>
        </p:txBody>
      </p:sp>
      <p:grpSp>
        <p:nvGrpSpPr>
          <p:cNvPr id="511" name="Google Shape;511;p44"/>
          <p:cNvGrpSpPr/>
          <p:nvPr/>
        </p:nvGrpSpPr>
        <p:grpSpPr>
          <a:xfrm>
            <a:off x="4627382" y="1206093"/>
            <a:ext cx="392155" cy="392133"/>
            <a:chOff x="3944375" y="1333902"/>
            <a:chExt cx="392155" cy="392133"/>
          </a:xfrm>
        </p:grpSpPr>
        <p:sp>
          <p:nvSpPr>
            <p:cNvPr id="512" name="Google Shape;512;p44"/>
            <p:cNvSpPr/>
            <p:nvPr/>
          </p:nvSpPr>
          <p:spPr>
            <a:xfrm>
              <a:off x="3944375" y="1333902"/>
              <a:ext cx="276036" cy="392133"/>
            </a:xfrm>
            <a:custGeom>
              <a:avLst/>
              <a:gdLst/>
              <a:ahLst/>
              <a:cxnLst/>
              <a:rect l="l" t="t" r="r" b="b"/>
              <a:pathLst>
                <a:path w="12214" h="17351" extrusionOk="0">
                  <a:moveTo>
                    <a:pt x="8337" y="1018"/>
                  </a:moveTo>
                  <a:lnTo>
                    <a:pt x="8337" y="2036"/>
                  </a:lnTo>
                  <a:lnTo>
                    <a:pt x="7319" y="2036"/>
                  </a:lnTo>
                  <a:lnTo>
                    <a:pt x="7319" y="1018"/>
                  </a:lnTo>
                  <a:close/>
                  <a:moveTo>
                    <a:pt x="6301" y="5429"/>
                  </a:moveTo>
                  <a:lnTo>
                    <a:pt x="6495" y="5477"/>
                  </a:lnTo>
                  <a:lnTo>
                    <a:pt x="6640" y="5574"/>
                  </a:lnTo>
                  <a:lnTo>
                    <a:pt x="6737" y="5719"/>
                  </a:lnTo>
                  <a:lnTo>
                    <a:pt x="6786" y="5913"/>
                  </a:lnTo>
                  <a:lnTo>
                    <a:pt x="6737" y="6155"/>
                  </a:lnTo>
                  <a:lnTo>
                    <a:pt x="6640" y="6301"/>
                  </a:lnTo>
                  <a:lnTo>
                    <a:pt x="6495" y="6398"/>
                  </a:lnTo>
                  <a:lnTo>
                    <a:pt x="6301" y="6446"/>
                  </a:lnTo>
                  <a:lnTo>
                    <a:pt x="6107" y="6398"/>
                  </a:lnTo>
                  <a:lnTo>
                    <a:pt x="5913" y="6301"/>
                  </a:lnTo>
                  <a:lnTo>
                    <a:pt x="5816" y="6155"/>
                  </a:lnTo>
                  <a:lnTo>
                    <a:pt x="5768" y="5913"/>
                  </a:lnTo>
                  <a:lnTo>
                    <a:pt x="5816" y="5719"/>
                  </a:lnTo>
                  <a:lnTo>
                    <a:pt x="5913" y="5574"/>
                  </a:lnTo>
                  <a:lnTo>
                    <a:pt x="6107" y="5477"/>
                  </a:lnTo>
                  <a:lnTo>
                    <a:pt x="6301" y="5429"/>
                  </a:lnTo>
                  <a:close/>
                  <a:moveTo>
                    <a:pt x="8821" y="3054"/>
                  </a:moveTo>
                  <a:lnTo>
                    <a:pt x="8821" y="9257"/>
                  </a:lnTo>
                  <a:lnTo>
                    <a:pt x="6786" y="9257"/>
                  </a:lnTo>
                  <a:lnTo>
                    <a:pt x="6786" y="7367"/>
                  </a:lnTo>
                  <a:lnTo>
                    <a:pt x="6979" y="7270"/>
                  </a:lnTo>
                  <a:lnTo>
                    <a:pt x="7173" y="7173"/>
                  </a:lnTo>
                  <a:lnTo>
                    <a:pt x="7367" y="6979"/>
                  </a:lnTo>
                  <a:lnTo>
                    <a:pt x="7513" y="6834"/>
                  </a:lnTo>
                  <a:lnTo>
                    <a:pt x="7658" y="6640"/>
                  </a:lnTo>
                  <a:lnTo>
                    <a:pt x="7706" y="6398"/>
                  </a:lnTo>
                  <a:lnTo>
                    <a:pt x="7803" y="6204"/>
                  </a:lnTo>
                  <a:lnTo>
                    <a:pt x="7803" y="5913"/>
                  </a:lnTo>
                  <a:lnTo>
                    <a:pt x="7803" y="5671"/>
                  </a:lnTo>
                  <a:lnTo>
                    <a:pt x="7706" y="5477"/>
                  </a:lnTo>
                  <a:lnTo>
                    <a:pt x="7658" y="5235"/>
                  </a:lnTo>
                  <a:lnTo>
                    <a:pt x="7513" y="5041"/>
                  </a:lnTo>
                  <a:lnTo>
                    <a:pt x="7367" y="4895"/>
                  </a:lnTo>
                  <a:lnTo>
                    <a:pt x="7173" y="4702"/>
                  </a:lnTo>
                  <a:lnTo>
                    <a:pt x="6979" y="4605"/>
                  </a:lnTo>
                  <a:lnTo>
                    <a:pt x="6786" y="4508"/>
                  </a:lnTo>
                  <a:lnTo>
                    <a:pt x="6786" y="3054"/>
                  </a:lnTo>
                  <a:close/>
                  <a:moveTo>
                    <a:pt x="4847" y="5429"/>
                  </a:moveTo>
                  <a:lnTo>
                    <a:pt x="4799" y="5671"/>
                  </a:lnTo>
                  <a:lnTo>
                    <a:pt x="4750" y="5913"/>
                  </a:lnTo>
                  <a:lnTo>
                    <a:pt x="4799" y="6204"/>
                  </a:lnTo>
                  <a:lnTo>
                    <a:pt x="4847" y="6446"/>
                  </a:lnTo>
                  <a:lnTo>
                    <a:pt x="4314" y="6592"/>
                  </a:lnTo>
                  <a:lnTo>
                    <a:pt x="3829" y="6786"/>
                  </a:lnTo>
                  <a:lnTo>
                    <a:pt x="3393" y="7028"/>
                  </a:lnTo>
                  <a:lnTo>
                    <a:pt x="3005" y="7367"/>
                  </a:lnTo>
                  <a:lnTo>
                    <a:pt x="2763" y="7609"/>
                  </a:lnTo>
                  <a:lnTo>
                    <a:pt x="2569" y="7852"/>
                  </a:lnTo>
                  <a:lnTo>
                    <a:pt x="2424" y="8143"/>
                  </a:lnTo>
                  <a:lnTo>
                    <a:pt x="2278" y="8433"/>
                  </a:lnTo>
                  <a:lnTo>
                    <a:pt x="2181" y="8724"/>
                  </a:lnTo>
                  <a:lnTo>
                    <a:pt x="2133" y="9015"/>
                  </a:lnTo>
                  <a:lnTo>
                    <a:pt x="2085" y="9306"/>
                  </a:lnTo>
                  <a:lnTo>
                    <a:pt x="2036" y="9645"/>
                  </a:lnTo>
                  <a:lnTo>
                    <a:pt x="2036" y="14298"/>
                  </a:lnTo>
                  <a:lnTo>
                    <a:pt x="1018" y="14298"/>
                  </a:lnTo>
                  <a:lnTo>
                    <a:pt x="1018" y="9645"/>
                  </a:lnTo>
                  <a:lnTo>
                    <a:pt x="1067" y="9209"/>
                  </a:lnTo>
                  <a:lnTo>
                    <a:pt x="1115" y="8821"/>
                  </a:lnTo>
                  <a:lnTo>
                    <a:pt x="1212" y="8433"/>
                  </a:lnTo>
                  <a:lnTo>
                    <a:pt x="1358" y="8046"/>
                  </a:lnTo>
                  <a:lnTo>
                    <a:pt x="1503" y="7658"/>
                  </a:lnTo>
                  <a:lnTo>
                    <a:pt x="1745" y="7319"/>
                  </a:lnTo>
                  <a:lnTo>
                    <a:pt x="1988" y="6979"/>
                  </a:lnTo>
                  <a:lnTo>
                    <a:pt x="2278" y="6640"/>
                  </a:lnTo>
                  <a:lnTo>
                    <a:pt x="2521" y="6398"/>
                  </a:lnTo>
                  <a:lnTo>
                    <a:pt x="2811" y="6204"/>
                  </a:lnTo>
                  <a:lnTo>
                    <a:pt x="3151" y="6010"/>
                  </a:lnTo>
                  <a:lnTo>
                    <a:pt x="3442" y="5816"/>
                  </a:lnTo>
                  <a:lnTo>
                    <a:pt x="3781" y="5671"/>
                  </a:lnTo>
                  <a:lnTo>
                    <a:pt x="4120" y="5574"/>
                  </a:lnTo>
                  <a:lnTo>
                    <a:pt x="4459" y="5477"/>
                  </a:lnTo>
                  <a:lnTo>
                    <a:pt x="4847" y="5429"/>
                  </a:lnTo>
                  <a:close/>
                  <a:moveTo>
                    <a:pt x="9984" y="13280"/>
                  </a:moveTo>
                  <a:lnTo>
                    <a:pt x="9984" y="14298"/>
                  </a:lnTo>
                  <a:lnTo>
                    <a:pt x="5622" y="14298"/>
                  </a:lnTo>
                  <a:lnTo>
                    <a:pt x="5622" y="13280"/>
                  </a:lnTo>
                  <a:close/>
                  <a:moveTo>
                    <a:pt x="10517" y="15315"/>
                  </a:moveTo>
                  <a:lnTo>
                    <a:pt x="10760" y="15364"/>
                  </a:lnTo>
                  <a:lnTo>
                    <a:pt x="11002" y="15509"/>
                  </a:lnTo>
                  <a:lnTo>
                    <a:pt x="11147" y="15752"/>
                  </a:lnTo>
                  <a:lnTo>
                    <a:pt x="11196" y="15994"/>
                  </a:lnTo>
                  <a:lnTo>
                    <a:pt x="11196" y="16333"/>
                  </a:lnTo>
                  <a:lnTo>
                    <a:pt x="1018" y="16333"/>
                  </a:lnTo>
                  <a:lnTo>
                    <a:pt x="1018" y="15315"/>
                  </a:lnTo>
                  <a:close/>
                  <a:moveTo>
                    <a:pt x="6786" y="0"/>
                  </a:moveTo>
                  <a:lnTo>
                    <a:pt x="6592" y="49"/>
                  </a:lnTo>
                  <a:lnTo>
                    <a:pt x="6446" y="146"/>
                  </a:lnTo>
                  <a:lnTo>
                    <a:pt x="6301" y="340"/>
                  </a:lnTo>
                  <a:lnTo>
                    <a:pt x="6301" y="534"/>
                  </a:lnTo>
                  <a:lnTo>
                    <a:pt x="6301" y="2036"/>
                  </a:lnTo>
                  <a:lnTo>
                    <a:pt x="6107" y="2084"/>
                  </a:lnTo>
                  <a:lnTo>
                    <a:pt x="5913" y="2181"/>
                  </a:lnTo>
                  <a:lnTo>
                    <a:pt x="5816" y="2375"/>
                  </a:lnTo>
                  <a:lnTo>
                    <a:pt x="5768" y="2569"/>
                  </a:lnTo>
                  <a:lnTo>
                    <a:pt x="5768" y="4411"/>
                  </a:lnTo>
                  <a:lnTo>
                    <a:pt x="5235" y="4411"/>
                  </a:lnTo>
                  <a:lnTo>
                    <a:pt x="4702" y="4459"/>
                  </a:lnTo>
                  <a:lnTo>
                    <a:pt x="4217" y="4508"/>
                  </a:lnTo>
                  <a:lnTo>
                    <a:pt x="3732" y="4653"/>
                  </a:lnTo>
                  <a:lnTo>
                    <a:pt x="3248" y="4798"/>
                  </a:lnTo>
                  <a:lnTo>
                    <a:pt x="2763" y="5041"/>
                  </a:lnTo>
                  <a:lnTo>
                    <a:pt x="2327" y="5283"/>
                  </a:lnTo>
                  <a:lnTo>
                    <a:pt x="1939" y="5574"/>
                  </a:lnTo>
                  <a:lnTo>
                    <a:pt x="1551" y="5962"/>
                  </a:lnTo>
                  <a:lnTo>
                    <a:pt x="1212" y="6349"/>
                  </a:lnTo>
                  <a:lnTo>
                    <a:pt x="873" y="6737"/>
                  </a:lnTo>
                  <a:lnTo>
                    <a:pt x="631" y="7173"/>
                  </a:lnTo>
                  <a:lnTo>
                    <a:pt x="388" y="7658"/>
                  </a:lnTo>
                  <a:lnTo>
                    <a:pt x="243" y="8094"/>
                  </a:lnTo>
                  <a:lnTo>
                    <a:pt x="97" y="8627"/>
                  </a:lnTo>
                  <a:lnTo>
                    <a:pt x="49" y="9112"/>
                  </a:lnTo>
                  <a:lnTo>
                    <a:pt x="1" y="9645"/>
                  </a:lnTo>
                  <a:lnTo>
                    <a:pt x="1" y="14831"/>
                  </a:lnTo>
                  <a:lnTo>
                    <a:pt x="1" y="16866"/>
                  </a:lnTo>
                  <a:lnTo>
                    <a:pt x="49" y="17060"/>
                  </a:lnTo>
                  <a:lnTo>
                    <a:pt x="146" y="17205"/>
                  </a:lnTo>
                  <a:lnTo>
                    <a:pt x="340" y="17302"/>
                  </a:lnTo>
                  <a:lnTo>
                    <a:pt x="534" y="17351"/>
                  </a:lnTo>
                  <a:lnTo>
                    <a:pt x="11681" y="17351"/>
                  </a:lnTo>
                  <a:lnTo>
                    <a:pt x="11874" y="17302"/>
                  </a:lnTo>
                  <a:lnTo>
                    <a:pt x="12068" y="17205"/>
                  </a:lnTo>
                  <a:lnTo>
                    <a:pt x="12165" y="17060"/>
                  </a:lnTo>
                  <a:lnTo>
                    <a:pt x="12214" y="16866"/>
                  </a:lnTo>
                  <a:lnTo>
                    <a:pt x="12214" y="15994"/>
                  </a:lnTo>
                  <a:lnTo>
                    <a:pt x="12165" y="15703"/>
                  </a:lnTo>
                  <a:lnTo>
                    <a:pt x="12117" y="15461"/>
                  </a:lnTo>
                  <a:lnTo>
                    <a:pt x="12020" y="15218"/>
                  </a:lnTo>
                  <a:lnTo>
                    <a:pt x="11874" y="14976"/>
                  </a:lnTo>
                  <a:lnTo>
                    <a:pt x="11681" y="14782"/>
                  </a:lnTo>
                  <a:lnTo>
                    <a:pt x="11487" y="14637"/>
                  </a:lnTo>
                  <a:lnTo>
                    <a:pt x="11293" y="14491"/>
                  </a:lnTo>
                  <a:lnTo>
                    <a:pt x="11002" y="14395"/>
                  </a:lnTo>
                  <a:lnTo>
                    <a:pt x="11002" y="12795"/>
                  </a:lnTo>
                  <a:lnTo>
                    <a:pt x="11002" y="12601"/>
                  </a:lnTo>
                  <a:lnTo>
                    <a:pt x="10857" y="12407"/>
                  </a:lnTo>
                  <a:lnTo>
                    <a:pt x="10711" y="12311"/>
                  </a:lnTo>
                  <a:lnTo>
                    <a:pt x="10517" y="12262"/>
                  </a:lnTo>
                  <a:lnTo>
                    <a:pt x="5089" y="12262"/>
                  </a:lnTo>
                  <a:lnTo>
                    <a:pt x="4895" y="12311"/>
                  </a:lnTo>
                  <a:lnTo>
                    <a:pt x="4750" y="12407"/>
                  </a:lnTo>
                  <a:lnTo>
                    <a:pt x="4605" y="12601"/>
                  </a:lnTo>
                  <a:lnTo>
                    <a:pt x="4605" y="12795"/>
                  </a:lnTo>
                  <a:lnTo>
                    <a:pt x="4605" y="14298"/>
                  </a:lnTo>
                  <a:lnTo>
                    <a:pt x="3054" y="14298"/>
                  </a:lnTo>
                  <a:lnTo>
                    <a:pt x="3054" y="9645"/>
                  </a:lnTo>
                  <a:lnTo>
                    <a:pt x="3102" y="9209"/>
                  </a:lnTo>
                  <a:lnTo>
                    <a:pt x="3248" y="8821"/>
                  </a:lnTo>
                  <a:lnTo>
                    <a:pt x="3442" y="8433"/>
                  </a:lnTo>
                  <a:lnTo>
                    <a:pt x="3684" y="8094"/>
                  </a:lnTo>
                  <a:lnTo>
                    <a:pt x="4023" y="7803"/>
                  </a:lnTo>
                  <a:lnTo>
                    <a:pt x="4411" y="7609"/>
                  </a:lnTo>
                  <a:lnTo>
                    <a:pt x="4799" y="7513"/>
                  </a:lnTo>
                  <a:lnTo>
                    <a:pt x="5235" y="7464"/>
                  </a:lnTo>
                  <a:lnTo>
                    <a:pt x="5768" y="7464"/>
                  </a:lnTo>
                  <a:lnTo>
                    <a:pt x="5768" y="9742"/>
                  </a:lnTo>
                  <a:lnTo>
                    <a:pt x="5816" y="9984"/>
                  </a:lnTo>
                  <a:lnTo>
                    <a:pt x="5913" y="10130"/>
                  </a:lnTo>
                  <a:lnTo>
                    <a:pt x="6107" y="10227"/>
                  </a:lnTo>
                  <a:lnTo>
                    <a:pt x="6301" y="10275"/>
                  </a:lnTo>
                  <a:lnTo>
                    <a:pt x="7319" y="10275"/>
                  </a:lnTo>
                  <a:lnTo>
                    <a:pt x="7319" y="10760"/>
                  </a:lnTo>
                  <a:lnTo>
                    <a:pt x="7319" y="10954"/>
                  </a:lnTo>
                  <a:lnTo>
                    <a:pt x="7464" y="11099"/>
                  </a:lnTo>
                  <a:lnTo>
                    <a:pt x="7610" y="11196"/>
                  </a:lnTo>
                  <a:lnTo>
                    <a:pt x="7803" y="11244"/>
                  </a:lnTo>
                  <a:lnTo>
                    <a:pt x="7997" y="11196"/>
                  </a:lnTo>
                  <a:lnTo>
                    <a:pt x="8143" y="11099"/>
                  </a:lnTo>
                  <a:lnTo>
                    <a:pt x="8288" y="10954"/>
                  </a:lnTo>
                  <a:lnTo>
                    <a:pt x="8337" y="10760"/>
                  </a:lnTo>
                  <a:lnTo>
                    <a:pt x="8337" y="10275"/>
                  </a:lnTo>
                  <a:lnTo>
                    <a:pt x="9306" y="10275"/>
                  </a:lnTo>
                  <a:lnTo>
                    <a:pt x="9548" y="10227"/>
                  </a:lnTo>
                  <a:lnTo>
                    <a:pt x="9694" y="10130"/>
                  </a:lnTo>
                  <a:lnTo>
                    <a:pt x="9790" y="9984"/>
                  </a:lnTo>
                  <a:lnTo>
                    <a:pt x="9839" y="9742"/>
                  </a:lnTo>
                  <a:lnTo>
                    <a:pt x="9839" y="2569"/>
                  </a:lnTo>
                  <a:lnTo>
                    <a:pt x="9790" y="2375"/>
                  </a:lnTo>
                  <a:lnTo>
                    <a:pt x="9694" y="2181"/>
                  </a:lnTo>
                  <a:lnTo>
                    <a:pt x="9548" y="2084"/>
                  </a:lnTo>
                  <a:lnTo>
                    <a:pt x="9306" y="2036"/>
                  </a:lnTo>
                  <a:lnTo>
                    <a:pt x="9306" y="534"/>
                  </a:lnTo>
                  <a:lnTo>
                    <a:pt x="9306" y="340"/>
                  </a:lnTo>
                  <a:lnTo>
                    <a:pt x="9160" y="146"/>
                  </a:lnTo>
                  <a:lnTo>
                    <a:pt x="9015" y="49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4193021" y="1451106"/>
              <a:ext cx="143510" cy="171986"/>
            </a:xfrm>
            <a:custGeom>
              <a:avLst/>
              <a:gdLst/>
              <a:ahLst/>
              <a:cxnLst/>
              <a:rect l="l" t="t" r="r" b="b"/>
              <a:pathLst>
                <a:path w="6350" h="7610" extrusionOk="0">
                  <a:moveTo>
                    <a:pt x="2520" y="1018"/>
                  </a:moveTo>
                  <a:lnTo>
                    <a:pt x="2956" y="1793"/>
                  </a:lnTo>
                  <a:lnTo>
                    <a:pt x="2520" y="2617"/>
                  </a:lnTo>
                  <a:lnTo>
                    <a:pt x="1551" y="2617"/>
                  </a:lnTo>
                  <a:lnTo>
                    <a:pt x="1115" y="1793"/>
                  </a:lnTo>
                  <a:lnTo>
                    <a:pt x="1551" y="1018"/>
                  </a:lnTo>
                  <a:close/>
                  <a:moveTo>
                    <a:pt x="2520" y="3635"/>
                  </a:moveTo>
                  <a:lnTo>
                    <a:pt x="2956" y="4459"/>
                  </a:lnTo>
                  <a:lnTo>
                    <a:pt x="2520" y="5234"/>
                  </a:lnTo>
                  <a:lnTo>
                    <a:pt x="1551" y="5234"/>
                  </a:lnTo>
                  <a:lnTo>
                    <a:pt x="1115" y="4459"/>
                  </a:lnTo>
                  <a:lnTo>
                    <a:pt x="1551" y="3635"/>
                  </a:lnTo>
                  <a:close/>
                  <a:moveTo>
                    <a:pt x="4798" y="4944"/>
                  </a:moveTo>
                  <a:lnTo>
                    <a:pt x="5283" y="5768"/>
                  </a:lnTo>
                  <a:lnTo>
                    <a:pt x="4798" y="6591"/>
                  </a:lnTo>
                  <a:lnTo>
                    <a:pt x="3877" y="6591"/>
                  </a:lnTo>
                  <a:lnTo>
                    <a:pt x="3393" y="5768"/>
                  </a:lnTo>
                  <a:lnTo>
                    <a:pt x="3877" y="4944"/>
                  </a:lnTo>
                  <a:close/>
                  <a:moveTo>
                    <a:pt x="1163" y="0"/>
                  </a:moveTo>
                  <a:lnTo>
                    <a:pt x="1018" y="49"/>
                  </a:lnTo>
                  <a:lnTo>
                    <a:pt x="921" y="146"/>
                  </a:lnTo>
                  <a:lnTo>
                    <a:pt x="824" y="243"/>
                  </a:lnTo>
                  <a:lnTo>
                    <a:pt x="97" y="1551"/>
                  </a:lnTo>
                  <a:lnTo>
                    <a:pt x="49" y="1696"/>
                  </a:lnTo>
                  <a:lnTo>
                    <a:pt x="0" y="1793"/>
                  </a:lnTo>
                  <a:lnTo>
                    <a:pt x="49" y="1939"/>
                  </a:lnTo>
                  <a:lnTo>
                    <a:pt x="97" y="2084"/>
                  </a:lnTo>
                  <a:lnTo>
                    <a:pt x="679" y="3150"/>
                  </a:lnTo>
                  <a:lnTo>
                    <a:pt x="97" y="4217"/>
                  </a:lnTo>
                  <a:lnTo>
                    <a:pt x="49" y="4314"/>
                  </a:lnTo>
                  <a:lnTo>
                    <a:pt x="0" y="4459"/>
                  </a:lnTo>
                  <a:lnTo>
                    <a:pt x="49" y="4556"/>
                  </a:lnTo>
                  <a:lnTo>
                    <a:pt x="97" y="4701"/>
                  </a:lnTo>
                  <a:lnTo>
                    <a:pt x="824" y="6010"/>
                  </a:lnTo>
                  <a:lnTo>
                    <a:pt x="921" y="6107"/>
                  </a:lnTo>
                  <a:lnTo>
                    <a:pt x="1018" y="6204"/>
                  </a:lnTo>
                  <a:lnTo>
                    <a:pt x="1163" y="6252"/>
                  </a:lnTo>
                  <a:lnTo>
                    <a:pt x="2520" y="6252"/>
                  </a:lnTo>
                  <a:lnTo>
                    <a:pt x="3102" y="7318"/>
                  </a:lnTo>
                  <a:lnTo>
                    <a:pt x="3199" y="7464"/>
                  </a:lnTo>
                  <a:lnTo>
                    <a:pt x="3296" y="7512"/>
                  </a:lnTo>
                  <a:lnTo>
                    <a:pt x="3441" y="7561"/>
                  </a:lnTo>
                  <a:lnTo>
                    <a:pt x="3587" y="7609"/>
                  </a:lnTo>
                  <a:lnTo>
                    <a:pt x="5089" y="7609"/>
                  </a:lnTo>
                  <a:lnTo>
                    <a:pt x="5234" y="7561"/>
                  </a:lnTo>
                  <a:lnTo>
                    <a:pt x="5331" y="7512"/>
                  </a:lnTo>
                  <a:lnTo>
                    <a:pt x="5428" y="7464"/>
                  </a:lnTo>
                  <a:lnTo>
                    <a:pt x="5525" y="7318"/>
                  </a:lnTo>
                  <a:lnTo>
                    <a:pt x="6301" y="6010"/>
                  </a:lnTo>
                  <a:lnTo>
                    <a:pt x="6349" y="5913"/>
                  </a:lnTo>
                  <a:lnTo>
                    <a:pt x="6349" y="5768"/>
                  </a:lnTo>
                  <a:lnTo>
                    <a:pt x="6349" y="5622"/>
                  </a:lnTo>
                  <a:lnTo>
                    <a:pt x="6301" y="5525"/>
                  </a:lnTo>
                  <a:lnTo>
                    <a:pt x="5525" y="4217"/>
                  </a:lnTo>
                  <a:lnTo>
                    <a:pt x="5428" y="4071"/>
                  </a:lnTo>
                  <a:lnTo>
                    <a:pt x="5331" y="4023"/>
                  </a:lnTo>
                  <a:lnTo>
                    <a:pt x="5234" y="3974"/>
                  </a:lnTo>
                  <a:lnTo>
                    <a:pt x="5089" y="3926"/>
                  </a:lnTo>
                  <a:lnTo>
                    <a:pt x="3877" y="3926"/>
                  </a:lnTo>
                  <a:lnTo>
                    <a:pt x="3393" y="3150"/>
                  </a:lnTo>
                  <a:lnTo>
                    <a:pt x="4023" y="2084"/>
                  </a:lnTo>
                  <a:lnTo>
                    <a:pt x="4071" y="1939"/>
                  </a:lnTo>
                  <a:lnTo>
                    <a:pt x="4071" y="1793"/>
                  </a:lnTo>
                  <a:lnTo>
                    <a:pt x="4071" y="1696"/>
                  </a:lnTo>
                  <a:lnTo>
                    <a:pt x="4023" y="1551"/>
                  </a:lnTo>
                  <a:lnTo>
                    <a:pt x="3247" y="243"/>
                  </a:lnTo>
                  <a:lnTo>
                    <a:pt x="3150" y="146"/>
                  </a:lnTo>
                  <a:lnTo>
                    <a:pt x="3053" y="49"/>
                  </a:lnTo>
                  <a:lnTo>
                    <a:pt x="2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grpSp>
        <p:nvGrpSpPr>
          <p:cNvPr id="514" name="Google Shape;514;p44"/>
          <p:cNvGrpSpPr/>
          <p:nvPr/>
        </p:nvGrpSpPr>
        <p:grpSpPr>
          <a:xfrm>
            <a:off x="7428734" y="1206093"/>
            <a:ext cx="385579" cy="392133"/>
            <a:chOff x="1363817" y="2636227"/>
            <a:chExt cx="385579" cy="392133"/>
          </a:xfrm>
        </p:grpSpPr>
        <p:sp>
          <p:nvSpPr>
            <p:cNvPr id="515" name="Google Shape;515;p44"/>
            <p:cNvSpPr/>
            <p:nvPr/>
          </p:nvSpPr>
          <p:spPr>
            <a:xfrm>
              <a:off x="1672691" y="2704117"/>
              <a:ext cx="56997" cy="23029"/>
            </a:xfrm>
            <a:custGeom>
              <a:avLst/>
              <a:gdLst/>
              <a:ahLst/>
              <a:cxnLst/>
              <a:rect l="l" t="t" r="r" b="b"/>
              <a:pathLst>
                <a:path w="2522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9"/>
                  </a:lnTo>
                  <a:lnTo>
                    <a:pt x="1988" y="1019"/>
                  </a:lnTo>
                  <a:lnTo>
                    <a:pt x="2182" y="970"/>
                  </a:lnTo>
                  <a:lnTo>
                    <a:pt x="2376" y="873"/>
                  </a:lnTo>
                  <a:lnTo>
                    <a:pt x="2473" y="679"/>
                  </a:lnTo>
                  <a:lnTo>
                    <a:pt x="2521" y="486"/>
                  </a:lnTo>
                  <a:lnTo>
                    <a:pt x="2473" y="292"/>
                  </a:lnTo>
                  <a:lnTo>
                    <a:pt x="2376" y="146"/>
                  </a:lnTo>
                  <a:lnTo>
                    <a:pt x="2182" y="49"/>
                  </a:lnTo>
                  <a:lnTo>
                    <a:pt x="1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1665030" y="2754515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388" y="0"/>
                  </a:moveTo>
                  <a:lnTo>
                    <a:pt x="195" y="49"/>
                  </a:lnTo>
                  <a:lnTo>
                    <a:pt x="49" y="194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49" y="776"/>
                  </a:lnTo>
                  <a:lnTo>
                    <a:pt x="195" y="921"/>
                  </a:lnTo>
                  <a:lnTo>
                    <a:pt x="1455" y="1697"/>
                  </a:lnTo>
                  <a:lnTo>
                    <a:pt x="1649" y="1794"/>
                  </a:lnTo>
                  <a:lnTo>
                    <a:pt x="1842" y="1794"/>
                  </a:lnTo>
                  <a:lnTo>
                    <a:pt x="2036" y="1697"/>
                  </a:lnTo>
                  <a:lnTo>
                    <a:pt x="2182" y="1551"/>
                  </a:lnTo>
                  <a:lnTo>
                    <a:pt x="2230" y="1357"/>
                  </a:lnTo>
                  <a:lnTo>
                    <a:pt x="2230" y="1163"/>
                  </a:lnTo>
                  <a:lnTo>
                    <a:pt x="2182" y="1018"/>
                  </a:lnTo>
                  <a:lnTo>
                    <a:pt x="2036" y="873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1665030" y="2636227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1649" y="0"/>
                  </a:moveTo>
                  <a:lnTo>
                    <a:pt x="1455" y="49"/>
                  </a:lnTo>
                  <a:lnTo>
                    <a:pt x="195" y="872"/>
                  </a:lnTo>
                  <a:lnTo>
                    <a:pt x="49" y="1018"/>
                  </a:lnTo>
                  <a:lnTo>
                    <a:pt x="1" y="1212"/>
                  </a:lnTo>
                  <a:lnTo>
                    <a:pt x="1" y="1406"/>
                  </a:lnTo>
                  <a:lnTo>
                    <a:pt x="49" y="1551"/>
                  </a:lnTo>
                  <a:lnTo>
                    <a:pt x="146" y="1696"/>
                  </a:lnTo>
                  <a:lnTo>
                    <a:pt x="243" y="1745"/>
                  </a:lnTo>
                  <a:lnTo>
                    <a:pt x="388" y="1793"/>
                  </a:lnTo>
                  <a:lnTo>
                    <a:pt x="631" y="1793"/>
                  </a:lnTo>
                  <a:lnTo>
                    <a:pt x="776" y="1745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30" y="582"/>
                  </a:lnTo>
                  <a:lnTo>
                    <a:pt x="2230" y="388"/>
                  </a:lnTo>
                  <a:lnTo>
                    <a:pt x="2182" y="242"/>
                  </a:lnTo>
                  <a:lnTo>
                    <a:pt x="2036" y="97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1383547" y="2704117"/>
              <a:ext cx="56975" cy="23029"/>
            </a:xfrm>
            <a:custGeom>
              <a:avLst/>
              <a:gdLst/>
              <a:ahLst/>
              <a:cxnLst/>
              <a:rect l="l" t="t" r="r" b="b"/>
              <a:pathLst>
                <a:path w="2521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9"/>
                  </a:lnTo>
                  <a:lnTo>
                    <a:pt x="1987" y="1019"/>
                  </a:lnTo>
                  <a:lnTo>
                    <a:pt x="2181" y="970"/>
                  </a:lnTo>
                  <a:lnTo>
                    <a:pt x="2327" y="873"/>
                  </a:lnTo>
                  <a:lnTo>
                    <a:pt x="2472" y="679"/>
                  </a:lnTo>
                  <a:lnTo>
                    <a:pt x="2520" y="486"/>
                  </a:lnTo>
                  <a:lnTo>
                    <a:pt x="2472" y="292"/>
                  </a:lnTo>
                  <a:lnTo>
                    <a:pt x="2327" y="146"/>
                  </a:lnTo>
                  <a:lnTo>
                    <a:pt x="2181" y="49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1396677" y="2754515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1697" y="0"/>
                  </a:moveTo>
                  <a:lnTo>
                    <a:pt x="1503" y="49"/>
                  </a:lnTo>
                  <a:lnTo>
                    <a:pt x="243" y="873"/>
                  </a:lnTo>
                  <a:lnTo>
                    <a:pt x="98" y="1018"/>
                  </a:lnTo>
                  <a:lnTo>
                    <a:pt x="1" y="1163"/>
                  </a:lnTo>
                  <a:lnTo>
                    <a:pt x="1" y="1357"/>
                  </a:lnTo>
                  <a:lnTo>
                    <a:pt x="98" y="1551"/>
                  </a:lnTo>
                  <a:lnTo>
                    <a:pt x="146" y="1648"/>
                  </a:lnTo>
                  <a:lnTo>
                    <a:pt x="292" y="1745"/>
                  </a:lnTo>
                  <a:lnTo>
                    <a:pt x="389" y="1794"/>
                  </a:lnTo>
                  <a:lnTo>
                    <a:pt x="631" y="1794"/>
                  </a:lnTo>
                  <a:lnTo>
                    <a:pt x="776" y="1697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79" y="582"/>
                  </a:lnTo>
                  <a:lnTo>
                    <a:pt x="2279" y="388"/>
                  </a:lnTo>
                  <a:lnTo>
                    <a:pt x="2182" y="194"/>
                  </a:lnTo>
                  <a:lnTo>
                    <a:pt x="2036" y="4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20" name="Google Shape;520;p44"/>
            <p:cNvSpPr/>
            <p:nvPr/>
          </p:nvSpPr>
          <p:spPr>
            <a:xfrm>
              <a:off x="1396677" y="2636227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389" y="0"/>
                  </a:moveTo>
                  <a:lnTo>
                    <a:pt x="243" y="97"/>
                  </a:lnTo>
                  <a:lnTo>
                    <a:pt x="98" y="242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98" y="776"/>
                  </a:lnTo>
                  <a:lnTo>
                    <a:pt x="243" y="921"/>
                  </a:lnTo>
                  <a:lnTo>
                    <a:pt x="1503" y="1745"/>
                  </a:lnTo>
                  <a:lnTo>
                    <a:pt x="1600" y="1793"/>
                  </a:lnTo>
                  <a:lnTo>
                    <a:pt x="1891" y="1793"/>
                  </a:lnTo>
                  <a:lnTo>
                    <a:pt x="1988" y="1745"/>
                  </a:lnTo>
                  <a:lnTo>
                    <a:pt x="2085" y="1696"/>
                  </a:lnTo>
                  <a:lnTo>
                    <a:pt x="2182" y="1551"/>
                  </a:lnTo>
                  <a:lnTo>
                    <a:pt x="2279" y="1406"/>
                  </a:lnTo>
                  <a:lnTo>
                    <a:pt x="2279" y="1212"/>
                  </a:lnTo>
                  <a:lnTo>
                    <a:pt x="2182" y="1018"/>
                  </a:lnTo>
                  <a:lnTo>
                    <a:pt x="2036" y="872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1363817" y="2636227"/>
              <a:ext cx="385579" cy="392133"/>
            </a:xfrm>
            <a:custGeom>
              <a:avLst/>
              <a:gdLst/>
              <a:ahLst/>
              <a:cxnLst/>
              <a:rect l="l" t="t" r="r" b="b"/>
              <a:pathLst>
                <a:path w="17061" h="17351" extrusionOk="0">
                  <a:moveTo>
                    <a:pt x="9161" y="1018"/>
                  </a:moveTo>
                  <a:lnTo>
                    <a:pt x="9645" y="1066"/>
                  </a:lnTo>
                  <a:lnTo>
                    <a:pt x="10082" y="1163"/>
                  </a:lnTo>
                  <a:lnTo>
                    <a:pt x="10469" y="1406"/>
                  </a:lnTo>
                  <a:lnTo>
                    <a:pt x="10809" y="1696"/>
                  </a:lnTo>
                  <a:lnTo>
                    <a:pt x="11099" y="2036"/>
                  </a:lnTo>
                  <a:lnTo>
                    <a:pt x="11342" y="2423"/>
                  </a:lnTo>
                  <a:lnTo>
                    <a:pt x="11487" y="2860"/>
                  </a:lnTo>
                  <a:lnTo>
                    <a:pt x="11536" y="3296"/>
                  </a:lnTo>
                  <a:lnTo>
                    <a:pt x="11487" y="3780"/>
                  </a:lnTo>
                  <a:lnTo>
                    <a:pt x="11342" y="4265"/>
                  </a:lnTo>
                  <a:lnTo>
                    <a:pt x="11099" y="4653"/>
                  </a:lnTo>
                  <a:lnTo>
                    <a:pt x="10809" y="5040"/>
                  </a:lnTo>
                  <a:lnTo>
                    <a:pt x="10518" y="5331"/>
                  </a:lnTo>
                  <a:lnTo>
                    <a:pt x="10275" y="5622"/>
                  </a:lnTo>
                  <a:lnTo>
                    <a:pt x="10082" y="5961"/>
                  </a:lnTo>
                  <a:lnTo>
                    <a:pt x="9888" y="6301"/>
                  </a:lnTo>
                  <a:lnTo>
                    <a:pt x="9742" y="6640"/>
                  </a:lnTo>
                  <a:lnTo>
                    <a:pt x="9597" y="7028"/>
                  </a:lnTo>
                  <a:lnTo>
                    <a:pt x="9500" y="7367"/>
                  </a:lnTo>
                  <a:lnTo>
                    <a:pt x="9452" y="7754"/>
                  </a:lnTo>
                  <a:lnTo>
                    <a:pt x="9015" y="7754"/>
                  </a:lnTo>
                  <a:lnTo>
                    <a:pt x="9015" y="4944"/>
                  </a:lnTo>
                  <a:lnTo>
                    <a:pt x="9452" y="4798"/>
                  </a:lnTo>
                  <a:lnTo>
                    <a:pt x="9888" y="4556"/>
                  </a:lnTo>
                  <a:lnTo>
                    <a:pt x="9985" y="4410"/>
                  </a:lnTo>
                  <a:lnTo>
                    <a:pt x="10082" y="4217"/>
                  </a:lnTo>
                  <a:lnTo>
                    <a:pt x="10082" y="4023"/>
                  </a:lnTo>
                  <a:lnTo>
                    <a:pt x="9985" y="3829"/>
                  </a:lnTo>
                  <a:lnTo>
                    <a:pt x="9839" y="3732"/>
                  </a:lnTo>
                  <a:lnTo>
                    <a:pt x="9645" y="3635"/>
                  </a:lnTo>
                  <a:lnTo>
                    <a:pt x="9452" y="3635"/>
                  </a:lnTo>
                  <a:lnTo>
                    <a:pt x="9258" y="3732"/>
                  </a:lnTo>
                  <a:lnTo>
                    <a:pt x="9112" y="3829"/>
                  </a:lnTo>
                  <a:lnTo>
                    <a:pt x="8918" y="3926"/>
                  </a:lnTo>
                  <a:lnTo>
                    <a:pt x="8725" y="3974"/>
                  </a:lnTo>
                  <a:lnTo>
                    <a:pt x="8337" y="3974"/>
                  </a:lnTo>
                  <a:lnTo>
                    <a:pt x="8143" y="3926"/>
                  </a:lnTo>
                  <a:lnTo>
                    <a:pt x="7949" y="3829"/>
                  </a:lnTo>
                  <a:lnTo>
                    <a:pt x="7755" y="3732"/>
                  </a:lnTo>
                  <a:lnTo>
                    <a:pt x="7610" y="3635"/>
                  </a:lnTo>
                  <a:lnTo>
                    <a:pt x="7416" y="3635"/>
                  </a:lnTo>
                  <a:lnTo>
                    <a:pt x="7222" y="3732"/>
                  </a:lnTo>
                  <a:lnTo>
                    <a:pt x="7077" y="3829"/>
                  </a:lnTo>
                  <a:lnTo>
                    <a:pt x="6980" y="4023"/>
                  </a:lnTo>
                  <a:lnTo>
                    <a:pt x="6980" y="4217"/>
                  </a:lnTo>
                  <a:lnTo>
                    <a:pt x="7028" y="4410"/>
                  </a:lnTo>
                  <a:lnTo>
                    <a:pt x="7174" y="4556"/>
                  </a:lnTo>
                  <a:lnTo>
                    <a:pt x="7561" y="4798"/>
                  </a:lnTo>
                  <a:lnTo>
                    <a:pt x="7998" y="4944"/>
                  </a:lnTo>
                  <a:lnTo>
                    <a:pt x="7998" y="7754"/>
                  </a:lnTo>
                  <a:lnTo>
                    <a:pt x="7561" y="7754"/>
                  </a:lnTo>
                  <a:lnTo>
                    <a:pt x="7513" y="7415"/>
                  </a:lnTo>
                  <a:lnTo>
                    <a:pt x="7416" y="7028"/>
                  </a:lnTo>
                  <a:lnTo>
                    <a:pt x="7271" y="6640"/>
                  </a:lnTo>
                  <a:lnTo>
                    <a:pt x="7125" y="6301"/>
                  </a:lnTo>
                  <a:lnTo>
                    <a:pt x="6931" y="5961"/>
                  </a:lnTo>
                  <a:lnTo>
                    <a:pt x="6737" y="5622"/>
                  </a:lnTo>
                  <a:lnTo>
                    <a:pt x="6495" y="5283"/>
                  </a:lnTo>
                  <a:lnTo>
                    <a:pt x="6204" y="4992"/>
                  </a:lnTo>
                  <a:lnTo>
                    <a:pt x="5914" y="4653"/>
                  </a:lnTo>
                  <a:lnTo>
                    <a:pt x="5671" y="4265"/>
                  </a:lnTo>
                  <a:lnTo>
                    <a:pt x="5574" y="3829"/>
                  </a:lnTo>
                  <a:lnTo>
                    <a:pt x="5526" y="3344"/>
                  </a:lnTo>
                  <a:lnTo>
                    <a:pt x="5526" y="2860"/>
                  </a:lnTo>
                  <a:lnTo>
                    <a:pt x="5671" y="2423"/>
                  </a:lnTo>
                  <a:lnTo>
                    <a:pt x="5914" y="2036"/>
                  </a:lnTo>
                  <a:lnTo>
                    <a:pt x="6204" y="1696"/>
                  </a:lnTo>
                  <a:lnTo>
                    <a:pt x="6544" y="1406"/>
                  </a:lnTo>
                  <a:lnTo>
                    <a:pt x="6931" y="1163"/>
                  </a:lnTo>
                  <a:lnTo>
                    <a:pt x="7368" y="1066"/>
                  </a:lnTo>
                  <a:lnTo>
                    <a:pt x="7852" y="1018"/>
                  </a:lnTo>
                  <a:close/>
                  <a:moveTo>
                    <a:pt x="9452" y="8772"/>
                  </a:moveTo>
                  <a:lnTo>
                    <a:pt x="9452" y="9596"/>
                  </a:lnTo>
                  <a:lnTo>
                    <a:pt x="8531" y="10517"/>
                  </a:lnTo>
                  <a:lnTo>
                    <a:pt x="7610" y="9596"/>
                  </a:lnTo>
                  <a:lnTo>
                    <a:pt x="7610" y="8772"/>
                  </a:lnTo>
                  <a:close/>
                  <a:moveTo>
                    <a:pt x="7077" y="10565"/>
                  </a:moveTo>
                  <a:lnTo>
                    <a:pt x="7804" y="11244"/>
                  </a:lnTo>
                  <a:lnTo>
                    <a:pt x="6059" y="12989"/>
                  </a:lnTo>
                  <a:lnTo>
                    <a:pt x="5332" y="12310"/>
                  </a:lnTo>
                  <a:lnTo>
                    <a:pt x="7077" y="10565"/>
                  </a:lnTo>
                  <a:close/>
                  <a:moveTo>
                    <a:pt x="9936" y="10565"/>
                  </a:moveTo>
                  <a:lnTo>
                    <a:pt x="11681" y="12310"/>
                  </a:lnTo>
                  <a:lnTo>
                    <a:pt x="10954" y="12989"/>
                  </a:lnTo>
                  <a:lnTo>
                    <a:pt x="9209" y="11244"/>
                  </a:lnTo>
                  <a:lnTo>
                    <a:pt x="9936" y="10565"/>
                  </a:lnTo>
                  <a:close/>
                  <a:moveTo>
                    <a:pt x="7998" y="12504"/>
                  </a:moveTo>
                  <a:lnTo>
                    <a:pt x="7998" y="16333"/>
                  </a:lnTo>
                  <a:lnTo>
                    <a:pt x="1212" y="16333"/>
                  </a:lnTo>
                  <a:lnTo>
                    <a:pt x="2085" y="14103"/>
                  </a:lnTo>
                  <a:lnTo>
                    <a:pt x="2376" y="13716"/>
                  </a:lnTo>
                  <a:lnTo>
                    <a:pt x="2715" y="13376"/>
                  </a:lnTo>
                  <a:lnTo>
                    <a:pt x="3103" y="13134"/>
                  </a:lnTo>
                  <a:lnTo>
                    <a:pt x="3490" y="12989"/>
                  </a:lnTo>
                  <a:lnTo>
                    <a:pt x="4314" y="12698"/>
                  </a:lnTo>
                  <a:lnTo>
                    <a:pt x="5720" y="14103"/>
                  </a:lnTo>
                  <a:lnTo>
                    <a:pt x="5865" y="14200"/>
                  </a:lnTo>
                  <a:lnTo>
                    <a:pt x="6059" y="14249"/>
                  </a:lnTo>
                  <a:lnTo>
                    <a:pt x="6253" y="14200"/>
                  </a:lnTo>
                  <a:lnTo>
                    <a:pt x="6447" y="14103"/>
                  </a:lnTo>
                  <a:lnTo>
                    <a:pt x="7998" y="12504"/>
                  </a:lnTo>
                  <a:close/>
                  <a:moveTo>
                    <a:pt x="9015" y="12504"/>
                  </a:moveTo>
                  <a:lnTo>
                    <a:pt x="10615" y="14103"/>
                  </a:lnTo>
                  <a:lnTo>
                    <a:pt x="10760" y="14200"/>
                  </a:lnTo>
                  <a:lnTo>
                    <a:pt x="10954" y="14249"/>
                  </a:lnTo>
                  <a:lnTo>
                    <a:pt x="11148" y="14200"/>
                  </a:lnTo>
                  <a:lnTo>
                    <a:pt x="11342" y="14103"/>
                  </a:lnTo>
                  <a:lnTo>
                    <a:pt x="12699" y="12698"/>
                  </a:lnTo>
                  <a:lnTo>
                    <a:pt x="13523" y="12989"/>
                  </a:lnTo>
                  <a:lnTo>
                    <a:pt x="13959" y="13134"/>
                  </a:lnTo>
                  <a:lnTo>
                    <a:pt x="14346" y="13376"/>
                  </a:lnTo>
                  <a:lnTo>
                    <a:pt x="14686" y="13716"/>
                  </a:lnTo>
                  <a:lnTo>
                    <a:pt x="14928" y="14103"/>
                  </a:lnTo>
                  <a:lnTo>
                    <a:pt x="15800" y="16333"/>
                  </a:lnTo>
                  <a:lnTo>
                    <a:pt x="9015" y="16333"/>
                  </a:lnTo>
                  <a:lnTo>
                    <a:pt x="9015" y="12504"/>
                  </a:lnTo>
                  <a:close/>
                  <a:moveTo>
                    <a:pt x="7513" y="0"/>
                  </a:moveTo>
                  <a:lnTo>
                    <a:pt x="7174" y="49"/>
                  </a:lnTo>
                  <a:lnTo>
                    <a:pt x="6883" y="146"/>
                  </a:lnTo>
                  <a:lnTo>
                    <a:pt x="6544" y="242"/>
                  </a:lnTo>
                  <a:lnTo>
                    <a:pt x="6253" y="388"/>
                  </a:lnTo>
                  <a:lnTo>
                    <a:pt x="5962" y="533"/>
                  </a:lnTo>
                  <a:lnTo>
                    <a:pt x="5720" y="727"/>
                  </a:lnTo>
                  <a:lnTo>
                    <a:pt x="5477" y="969"/>
                  </a:lnTo>
                  <a:lnTo>
                    <a:pt x="5235" y="1212"/>
                  </a:lnTo>
                  <a:lnTo>
                    <a:pt x="5041" y="1503"/>
                  </a:lnTo>
                  <a:lnTo>
                    <a:pt x="4896" y="1745"/>
                  </a:lnTo>
                  <a:lnTo>
                    <a:pt x="4750" y="2036"/>
                  </a:lnTo>
                  <a:lnTo>
                    <a:pt x="4653" y="2375"/>
                  </a:lnTo>
                  <a:lnTo>
                    <a:pt x="4557" y="2666"/>
                  </a:lnTo>
                  <a:lnTo>
                    <a:pt x="4508" y="3005"/>
                  </a:lnTo>
                  <a:lnTo>
                    <a:pt x="4508" y="3344"/>
                  </a:lnTo>
                  <a:lnTo>
                    <a:pt x="4508" y="3683"/>
                  </a:lnTo>
                  <a:lnTo>
                    <a:pt x="4557" y="4023"/>
                  </a:lnTo>
                  <a:lnTo>
                    <a:pt x="4653" y="4313"/>
                  </a:lnTo>
                  <a:lnTo>
                    <a:pt x="4750" y="4653"/>
                  </a:lnTo>
                  <a:lnTo>
                    <a:pt x="4896" y="4944"/>
                  </a:lnTo>
                  <a:lnTo>
                    <a:pt x="5090" y="5234"/>
                  </a:lnTo>
                  <a:lnTo>
                    <a:pt x="5284" y="5477"/>
                  </a:lnTo>
                  <a:lnTo>
                    <a:pt x="5477" y="5767"/>
                  </a:lnTo>
                  <a:lnTo>
                    <a:pt x="5768" y="6010"/>
                  </a:lnTo>
                  <a:lnTo>
                    <a:pt x="5962" y="6301"/>
                  </a:lnTo>
                  <a:lnTo>
                    <a:pt x="6156" y="6591"/>
                  </a:lnTo>
                  <a:lnTo>
                    <a:pt x="6301" y="6931"/>
                  </a:lnTo>
                  <a:lnTo>
                    <a:pt x="6447" y="7221"/>
                  </a:lnTo>
                  <a:lnTo>
                    <a:pt x="6495" y="7609"/>
                  </a:lnTo>
                  <a:lnTo>
                    <a:pt x="6592" y="7948"/>
                  </a:lnTo>
                  <a:lnTo>
                    <a:pt x="6592" y="8288"/>
                  </a:lnTo>
                  <a:lnTo>
                    <a:pt x="6592" y="9596"/>
                  </a:lnTo>
                  <a:lnTo>
                    <a:pt x="4653" y="11583"/>
                  </a:lnTo>
                  <a:lnTo>
                    <a:pt x="3200" y="11971"/>
                  </a:lnTo>
                  <a:lnTo>
                    <a:pt x="2909" y="12116"/>
                  </a:lnTo>
                  <a:lnTo>
                    <a:pt x="2618" y="12262"/>
                  </a:lnTo>
                  <a:lnTo>
                    <a:pt x="2327" y="12407"/>
                  </a:lnTo>
                  <a:lnTo>
                    <a:pt x="2036" y="12601"/>
                  </a:lnTo>
                  <a:lnTo>
                    <a:pt x="1794" y="12843"/>
                  </a:lnTo>
                  <a:lnTo>
                    <a:pt x="1552" y="13086"/>
                  </a:lnTo>
                  <a:lnTo>
                    <a:pt x="1358" y="13328"/>
                  </a:lnTo>
                  <a:lnTo>
                    <a:pt x="1212" y="13619"/>
                  </a:lnTo>
                  <a:lnTo>
                    <a:pt x="1164" y="13667"/>
                  </a:lnTo>
                  <a:lnTo>
                    <a:pt x="1" y="16624"/>
                  </a:lnTo>
                  <a:lnTo>
                    <a:pt x="1" y="16769"/>
                  </a:lnTo>
                  <a:lnTo>
                    <a:pt x="1" y="16866"/>
                  </a:lnTo>
                  <a:lnTo>
                    <a:pt x="1" y="17011"/>
                  </a:lnTo>
                  <a:lnTo>
                    <a:pt x="49" y="17108"/>
                  </a:lnTo>
                  <a:lnTo>
                    <a:pt x="146" y="17205"/>
                  </a:lnTo>
                  <a:lnTo>
                    <a:pt x="243" y="17254"/>
                  </a:lnTo>
                  <a:lnTo>
                    <a:pt x="389" y="17302"/>
                  </a:lnTo>
                  <a:lnTo>
                    <a:pt x="485" y="17351"/>
                  </a:lnTo>
                  <a:lnTo>
                    <a:pt x="16527" y="17351"/>
                  </a:lnTo>
                  <a:lnTo>
                    <a:pt x="16673" y="17302"/>
                  </a:lnTo>
                  <a:lnTo>
                    <a:pt x="16770" y="17254"/>
                  </a:lnTo>
                  <a:lnTo>
                    <a:pt x="16867" y="17205"/>
                  </a:lnTo>
                  <a:lnTo>
                    <a:pt x="16964" y="17108"/>
                  </a:lnTo>
                  <a:lnTo>
                    <a:pt x="17012" y="17011"/>
                  </a:lnTo>
                  <a:lnTo>
                    <a:pt x="17061" y="16866"/>
                  </a:lnTo>
                  <a:lnTo>
                    <a:pt x="17061" y="16769"/>
                  </a:lnTo>
                  <a:lnTo>
                    <a:pt x="17012" y="16624"/>
                  </a:lnTo>
                  <a:lnTo>
                    <a:pt x="15897" y="13667"/>
                  </a:lnTo>
                  <a:lnTo>
                    <a:pt x="15849" y="13619"/>
                  </a:lnTo>
                  <a:lnTo>
                    <a:pt x="15655" y="13328"/>
                  </a:lnTo>
                  <a:lnTo>
                    <a:pt x="15461" y="13086"/>
                  </a:lnTo>
                  <a:lnTo>
                    <a:pt x="15219" y="12843"/>
                  </a:lnTo>
                  <a:lnTo>
                    <a:pt x="14977" y="12601"/>
                  </a:lnTo>
                  <a:lnTo>
                    <a:pt x="14734" y="12407"/>
                  </a:lnTo>
                  <a:lnTo>
                    <a:pt x="14443" y="12262"/>
                  </a:lnTo>
                  <a:lnTo>
                    <a:pt x="14153" y="12116"/>
                  </a:lnTo>
                  <a:lnTo>
                    <a:pt x="13813" y="11971"/>
                  </a:lnTo>
                  <a:lnTo>
                    <a:pt x="12408" y="11583"/>
                  </a:lnTo>
                  <a:lnTo>
                    <a:pt x="10469" y="9596"/>
                  </a:lnTo>
                  <a:lnTo>
                    <a:pt x="10469" y="8288"/>
                  </a:lnTo>
                  <a:lnTo>
                    <a:pt x="10469" y="7948"/>
                  </a:lnTo>
                  <a:lnTo>
                    <a:pt x="10518" y="7561"/>
                  </a:lnTo>
                  <a:lnTo>
                    <a:pt x="10615" y="7221"/>
                  </a:lnTo>
                  <a:lnTo>
                    <a:pt x="10712" y="6931"/>
                  </a:lnTo>
                  <a:lnTo>
                    <a:pt x="10857" y="6591"/>
                  </a:lnTo>
                  <a:lnTo>
                    <a:pt x="11051" y="6301"/>
                  </a:lnTo>
                  <a:lnTo>
                    <a:pt x="11293" y="6010"/>
                  </a:lnTo>
                  <a:lnTo>
                    <a:pt x="11536" y="5767"/>
                  </a:lnTo>
                  <a:lnTo>
                    <a:pt x="11729" y="5525"/>
                  </a:lnTo>
                  <a:lnTo>
                    <a:pt x="11972" y="5234"/>
                  </a:lnTo>
                  <a:lnTo>
                    <a:pt x="12117" y="4944"/>
                  </a:lnTo>
                  <a:lnTo>
                    <a:pt x="12311" y="4653"/>
                  </a:lnTo>
                  <a:lnTo>
                    <a:pt x="12408" y="4313"/>
                  </a:lnTo>
                  <a:lnTo>
                    <a:pt x="12505" y="3974"/>
                  </a:lnTo>
                  <a:lnTo>
                    <a:pt x="12553" y="3635"/>
                  </a:lnTo>
                  <a:lnTo>
                    <a:pt x="12553" y="3296"/>
                  </a:lnTo>
                  <a:lnTo>
                    <a:pt x="12505" y="2956"/>
                  </a:lnTo>
                  <a:lnTo>
                    <a:pt x="12456" y="2617"/>
                  </a:lnTo>
                  <a:lnTo>
                    <a:pt x="12408" y="2326"/>
                  </a:lnTo>
                  <a:lnTo>
                    <a:pt x="12262" y="2036"/>
                  </a:lnTo>
                  <a:lnTo>
                    <a:pt x="12117" y="1745"/>
                  </a:lnTo>
                  <a:lnTo>
                    <a:pt x="11972" y="1454"/>
                  </a:lnTo>
                  <a:lnTo>
                    <a:pt x="11778" y="1212"/>
                  </a:lnTo>
                  <a:lnTo>
                    <a:pt x="11536" y="969"/>
                  </a:lnTo>
                  <a:lnTo>
                    <a:pt x="11293" y="727"/>
                  </a:lnTo>
                  <a:lnTo>
                    <a:pt x="11051" y="533"/>
                  </a:lnTo>
                  <a:lnTo>
                    <a:pt x="10760" y="388"/>
                  </a:lnTo>
                  <a:lnTo>
                    <a:pt x="10469" y="242"/>
                  </a:lnTo>
                  <a:lnTo>
                    <a:pt x="10178" y="146"/>
                  </a:lnTo>
                  <a:lnTo>
                    <a:pt x="9839" y="49"/>
                  </a:lnTo>
                  <a:lnTo>
                    <a:pt x="9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sp>
        <p:nvSpPr>
          <p:cNvPr id="522" name="TextBox 521"/>
          <p:cNvSpPr txBox="1"/>
          <p:nvPr/>
        </p:nvSpPr>
        <p:spPr>
          <a:xfrm>
            <a:off x="722376" y="18288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E9CBF"/>
                </a:solidFill>
                <a:latin typeface="Be vietnam pro"/>
              </a:rPr>
              <a:t>05 · KHUYẾN NGHỊ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2BB4D464-7E89-A22D-F3A8-B19B4C2DD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6">
            <a:extLst>
              <a:ext uri="{FF2B5EF4-FFF2-40B4-BE49-F238E27FC236}">
                <a16:creationId xmlns:a16="http://schemas.microsoft.com/office/drawing/2014/main" id="{2269C1C6-948F-BF65-21E7-FC20BAF9902B}"/>
              </a:ext>
            </a:extLst>
          </p:cNvPr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>
              <a:extLst>
                <a:ext uri="{FF2B5EF4-FFF2-40B4-BE49-F238E27FC236}">
                  <a16:creationId xmlns:a16="http://schemas.microsoft.com/office/drawing/2014/main" id="{310515B7-05B0-922A-8F68-65CA2C081663}"/>
                </a:ext>
              </a:extLst>
            </p:cNvPr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49" name="Google Shape;349;p36">
              <a:extLst>
                <a:ext uri="{FF2B5EF4-FFF2-40B4-BE49-F238E27FC236}">
                  <a16:creationId xmlns:a16="http://schemas.microsoft.com/office/drawing/2014/main" id="{2831EB60-2F6F-5B1F-007A-2F1845E852BC}"/>
                </a:ext>
              </a:extLst>
            </p:cNvPr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0" name="Google Shape;350;p36">
              <a:extLst>
                <a:ext uri="{FF2B5EF4-FFF2-40B4-BE49-F238E27FC236}">
                  <a16:creationId xmlns:a16="http://schemas.microsoft.com/office/drawing/2014/main" id="{04AB2CB3-58FE-9B7C-9421-E317329E87A0}"/>
                </a:ext>
              </a:extLst>
            </p:cNvPr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1" name="Google Shape;351;p36">
              <a:extLst>
                <a:ext uri="{FF2B5EF4-FFF2-40B4-BE49-F238E27FC236}">
                  <a16:creationId xmlns:a16="http://schemas.microsoft.com/office/drawing/2014/main" id="{367EE5B6-8153-BA28-E7B3-8DA10D1FE6E5}"/>
                </a:ext>
              </a:extLst>
            </p:cNvPr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2" name="Google Shape;352;p36">
              <a:extLst>
                <a:ext uri="{FF2B5EF4-FFF2-40B4-BE49-F238E27FC236}">
                  <a16:creationId xmlns:a16="http://schemas.microsoft.com/office/drawing/2014/main" id="{9DA25624-C239-3D07-8220-7B5C56591D49}"/>
                </a:ext>
              </a:extLst>
            </p:cNvPr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3" name="Google Shape;353;p36">
              <a:extLst>
                <a:ext uri="{FF2B5EF4-FFF2-40B4-BE49-F238E27FC236}">
                  <a16:creationId xmlns:a16="http://schemas.microsoft.com/office/drawing/2014/main" id="{1E7A303D-ADDB-EB49-D993-1868D15B6E98}"/>
                </a:ext>
              </a:extLst>
            </p:cNvPr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4" name="Google Shape;354;p36">
              <a:extLst>
                <a:ext uri="{FF2B5EF4-FFF2-40B4-BE49-F238E27FC236}">
                  <a16:creationId xmlns:a16="http://schemas.microsoft.com/office/drawing/2014/main" id="{E51566C7-A06A-FB51-A19E-381E72393E92}"/>
                </a:ext>
              </a:extLst>
            </p:cNvPr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5" name="Google Shape;355;p36">
              <a:extLst>
                <a:ext uri="{FF2B5EF4-FFF2-40B4-BE49-F238E27FC236}">
                  <a16:creationId xmlns:a16="http://schemas.microsoft.com/office/drawing/2014/main" id="{65A35411-8E8C-1778-0FF6-F45A6ADFEA55}"/>
                </a:ext>
              </a:extLst>
            </p:cNvPr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6" name="Google Shape;356;p36">
              <a:extLst>
                <a:ext uri="{FF2B5EF4-FFF2-40B4-BE49-F238E27FC236}">
                  <a16:creationId xmlns:a16="http://schemas.microsoft.com/office/drawing/2014/main" id="{7FCC3AD9-06BE-C472-906F-470FA5BEC502}"/>
                </a:ext>
              </a:extLst>
            </p:cNvPr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7" name="Google Shape;357;p36">
              <a:extLst>
                <a:ext uri="{FF2B5EF4-FFF2-40B4-BE49-F238E27FC236}">
                  <a16:creationId xmlns:a16="http://schemas.microsoft.com/office/drawing/2014/main" id="{CD8AD0DA-9C5B-2B4C-01CC-9C5D923F1A3C}"/>
                </a:ext>
              </a:extLst>
            </p:cNvPr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8" name="Google Shape;358;p36">
              <a:extLst>
                <a:ext uri="{FF2B5EF4-FFF2-40B4-BE49-F238E27FC236}">
                  <a16:creationId xmlns:a16="http://schemas.microsoft.com/office/drawing/2014/main" id="{64676BE5-BC47-C755-93E8-71D016ADCB48}"/>
                </a:ext>
              </a:extLst>
            </p:cNvPr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59" name="Google Shape;359;p36">
              <a:extLst>
                <a:ext uri="{FF2B5EF4-FFF2-40B4-BE49-F238E27FC236}">
                  <a16:creationId xmlns:a16="http://schemas.microsoft.com/office/drawing/2014/main" id="{F0768560-98C8-2CD0-B175-97C2A8A8D93A}"/>
                </a:ext>
              </a:extLst>
            </p:cNvPr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0" name="Google Shape;360;p36">
              <a:extLst>
                <a:ext uri="{FF2B5EF4-FFF2-40B4-BE49-F238E27FC236}">
                  <a16:creationId xmlns:a16="http://schemas.microsoft.com/office/drawing/2014/main" id="{86212A14-55EA-AD6F-5305-189C7452D362}"/>
                </a:ext>
              </a:extLst>
            </p:cNvPr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1" name="Google Shape;361;p36">
              <a:extLst>
                <a:ext uri="{FF2B5EF4-FFF2-40B4-BE49-F238E27FC236}">
                  <a16:creationId xmlns:a16="http://schemas.microsoft.com/office/drawing/2014/main" id="{747904C8-2949-7ADC-B13B-8A99E743DCA6}"/>
                </a:ext>
              </a:extLst>
            </p:cNvPr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2" name="Google Shape;362;p36">
              <a:extLst>
                <a:ext uri="{FF2B5EF4-FFF2-40B4-BE49-F238E27FC236}">
                  <a16:creationId xmlns:a16="http://schemas.microsoft.com/office/drawing/2014/main" id="{2D9B7DFC-1396-707D-1234-3DA0B60CD8EA}"/>
                </a:ext>
              </a:extLst>
            </p:cNvPr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3" name="Google Shape;363;p36">
              <a:extLst>
                <a:ext uri="{FF2B5EF4-FFF2-40B4-BE49-F238E27FC236}">
                  <a16:creationId xmlns:a16="http://schemas.microsoft.com/office/drawing/2014/main" id="{1F758E4A-E59B-4121-9F52-CB260739614E}"/>
                </a:ext>
              </a:extLst>
            </p:cNvPr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4" name="Google Shape;364;p36">
              <a:extLst>
                <a:ext uri="{FF2B5EF4-FFF2-40B4-BE49-F238E27FC236}">
                  <a16:creationId xmlns:a16="http://schemas.microsoft.com/office/drawing/2014/main" id="{BF1C565B-1C45-1527-4336-A50DD74F3B95}"/>
                </a:ext>
              </a:extLst>
            </p:cNvPr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5" name="Google Shape;365;p36">
              <a:extLst>
                <a:ext uri="{FF2B5EF4-FFF2-40B4-BE49-F238E27FC236}">
                  <a16:creationId xmlns:a16="http://schemas.microsoft.com/office/drawing/2014/main" id="{F5959DD3-7F79-B680-B10E-EBDC5474F9E6}"/>
                </a:ext>
              </a:extLst>
            </p:cNvPr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6" name="Google Shape;366;p36">
              <a:extLst>
                <a:ext uri="{FF2B5EF4-FFF2-40B4-BE49-F238E27FC236}">
                  <a16:creationId xmlns:a16="http://schemas.microsoft.com/office/drawing/2014/main" id="{CC60F30C-A08B-42FB-5C2C-857599CB928E}"/>
                </a:ext>
              </a:extLst>
            </p:cNvPr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  <p:sp>
          <p:nvSpPr>
            <p:cNvPr id="367" name="Google Shape;367;p36">
              <a:extLst>
                <a:ext uri="{FF2B5EF4-FFF2-40B4-BE49-F238E27FC236}">
                  <a16:creationId xmlns:a16="http://schemas.microsoft.com/office/drawing/2014/main" id="{73A863C5-4C5F-EF17-D351-3D549280B9DC}"/>
                </a:ext>
              </a:extLst>
            </p:cNvPr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e vietnam pro"/>
              </a:endParaRPr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73D1AADE-6DD1-59C7-44D7-AA4C69393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" y="1677238"/>
            <a:ext cx="4754880" cy="1325880"/>
          </a:xfrm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</a:pPr>
            <a:r>
              <a:rPr lang="en-US" sz="1600" b="1" dirty="0">
                <a:solidFill>
                  <a:srgbClr val="384655"/>
                </a:solidFill>
                <a:latin typeface="Be vietnam pro"/>
              </a:rPr>
              <a:t>Ngô Đức Duy</a:t>
            </a:r>
            <a:r>
              <a:rPr sz="1600" b="0" dirty="0">
                <a:solidFill>
                  <a:srgbClr val="384655"/>
                </a:solidFill>
                <a:latin typeface="Be vietnam pro"/>
              </a:rPr>
              <a:t> · Data Analyst</a:t>
            </a:r>
            <a:r>
              <a:rPr lang="en-US" sz="1600" dirty="0">
                <a:solidFill>
                  <a:srgbClr val="384655"/>
                </a:solidFill>
                <a:latin typeface="Be vietnam pro"/>
              </a:rPr>
              <a:t>/Analytics Engineer</a:t>
            </a:r>
            <a:endParaRPr lang="en-US" dirty="0">
              <a:latin typeface="Be vietnam pro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dirty="0">
                <a:solidFill>
                  <a:srgbClr val="384655"/>
                </a:solidFill>
                <a:latin typeface="Be vietnam pro"/>
              </a:rPr>
              <a:t>GitHub repo: </a:t>
            </a:r>
            <a:r>
              <a:rPr sz="1400" b="1" dirty="0">
                <a:solidFill>
                  <a:schemeClr val="tx1"/>
                </a:solidFill>
                <a:latin typeface="Be vietnam pro"/>
              </a:rPr>
              <a:t>[</a:t>
            </a:r>
            <a:r>
              <a:rPr sz="1400" b="1" dirty="0">
                <a:solidFill>
                  <a:srgbClr val="384655"/>
                </a:solidFill>
                <a:latin typeface="Be vietnam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400" b="1" dirty="0">
                <a:solidFill>
                  <a:srgbClr val="384655"/>
                </a:solidFill>
                <a:latin typeface="Be vietnam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b="1" dirty="0" err="1">
                <a:solidFill>
                  <a:srgbClr val="384655"/>
                </a:solidFill>
                <a:latin typeface="Be vietnam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dẫn</a:t>
            </a:r>
            <a:r>
              <a:rPr sz="1400" b="1" dirty="0">
                <a:solidFill>
                  <a:schemeClr val="tx1"/>
                </a:solidFill>
                <a:latin typeface="Be vietnam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r>
              <a:rPr sz="1400" b="1" dirty="0">
                <a:solidFill>
                  <a:schemeClr val="tx1"/>
                </a:solidFill>
                <a:latin typeface="Be vietnam pro"/>
              </a:rPr>
              <a:t>]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dirty="0">
                <a:solidFill>
                  <a:srgbClr val="384655"/>
                </a:solidFill>
                <a:latin typeface="Be vietnam pro"/>
              </a:rPr>
              <a:t>Notebook </a:t>
            </a:r>
            <a:r>
              <a:rPr sz="1400" b="0" dirty="0" err="1">
                <a:solidFill>
                  <a:srgbClr val="384655"/>
                </a:solidFill>
                <a:latin typeface="Be vietnam pro"/>
              </a:rPr>
              <a:t>đầy</a:t>
            </a:r>
            <a:r>
              <a:rPr sz="1400" b="0" dirty="0">
                <a:solidFill>
                  <a:srgbClr val="384655"/>
                </a:solidFill>
                <a:latin typeface="Be vietnam pro"/>
              </a:rPr>
              <a:t> </a:t>
            </a:r>
            <a:r>
              <a:rPr sz="1400" b="0" dirty="0" err="1">
                <a:solidFill>
                  <a:srgbClr val="384655"/>
                </a:solidFill>
                <a:latin typeface="Be vietnam pro"/>
              </a:rPr>
              <a:t>đủ</a:t>
            </a:r>
            <a:r>
              <a:rPr sz="1400" b="0" dirty="0">
                <a:solidFill>
                  <a:srgbClr val="384655"/>
                </a:solidFill>
                <a:latin typeface="Be vietnam pro"/>
              </a:rPr>
              <a:t>: </a:t>
            </a:r>
            <a:r>
              <a:rPr sz="1400" b="1" dirty="0">
                <a:solidFill>
                  <a:schemeClr val="tx1"/>
                </a:solidFill>
                <a:latin typeface="Be vietnam pro"/>
              </a:rPr>
              <a:t>[</a:t>
            </a:r>
            <a:r>
              <a:rPr sz="1400" b="1" dirty="0">
                <a:solidFill>
                  <a:schemeClr val="tx1"/>
                </a:solidFill>
                <a:latin typeface="Be vietnam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notebook</a:t>
            </a:r>
            <a:r>
              <a:rPr sz="1400" b="1" dirty="0">
                <a:solidFill>
                  <a:schemeClr val="tx1"/>
                </a:solidFill>
                <a:latin typeface="Be vietnam pro"/>
              </a:rPr>
              <a:t>]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dirty="0">
                <a:solidFill>
                  <a:srgbClr val="384655"/>
                </a:solidFill>
                <a:latin typeface="Be vietnam pro"/>
              </a:rPr>
              <a:t>Email: </a:t>
            </a:r>
            <a:r>
              <a:rPr lang="en-US" sz="1400" b="1" dirty="0">
                <a:solidFill>
                  <a:srgbClr val="2E9CBF"/>
                </a:solidFill>
                <a:latin typeface="Be vietnam pro"/>
                <a:hlinkClick r:id="rId5"/>
              </a:rPr>
              <a:t>duyngoduyngo@gmail.com</a:t>
            </a:r>
            <a:endParaRPr sz="1400" b="1" dirty="0">
              <a:solidFill>
                <a:srgbClr val="2E9CBF"/>
              </a:solidFill>
              <a:latin typeface="Be vietnam pro"/>
            </a:endParaRPr>
          </a:p>
        </p:txBody>
      </p:sp>
      <p:sp>
        <p:nvSpPr>
          <p:cNvPr id="6" name="Google Shape;1078;p70">
            <a:extLst>
              <a:ext uri="{FF2B5EF4-FFF2-40B4-BE49-F238E27FC236}">
                <a16:creationId xmlns:a16="http://schemas.microsoft.com/office/drawing/2014/main" id="{FA7A2482-55BA-F54A-A496-583AECE5BCB4}"/>
              </a:ext>
            </a:extLst>
          </p:cNvPr>
          <p:cNvSpPr txBox="1">
            <a:spLocks/>
          </p:cNvSpPr>
          <p:nvPr/>
        </p:nvSpPr>
        <p:spPr>
          <a:xfrm>
            <a:off x="713232" y="731520"/>
            <a:ext cx="5093208" cy="625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"/>
              <a:buNone/>
              <a:defRPr sz="3600" b="1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utfit Medium"/>
              <a:buNone/>
              <a:defRPr sz="5200" b="0" i="0" u="none" strike="noStrike" cap="none" spc="0">
                <a:solidFill>
                  <a:srgbClr val="191919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384655"/>
                </a:solidFill>
                <a:latin typeface="Be vietnam pro"/>
              </a:rPr>
              <a:t>Cảm ơn bạn đã đọc</a:t>
            </a:r>
          </a:p>
        </p:txBody>
      </p:sp>
      <p:cxnSp>
        <p:nvCxnSpPr>
          <p:cNvPr id="7" name="Google Shape;1098;p70">
            <a:extLst>
              <a:ext uri="{FF2B5EF4-FFF2-40B4-BE49-F238E27FC236}">
                <a16:creationId xmlns:a16="http://schemas.microsoft.com/office/drawing/2014/main" id="{38C6E86D-4721-A032-E35C-BF9BF5224BF4}"/>
              </a:ext>
            </a:extLst>
          </p:cNvPr>
          <p:cNvCxnSpPr/>
          <p:nvPr/>
        </p:nvCxnSpPr>
        <p:spPr>
          <a:xfrm>
            <a:off x="814225" y="677513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64362170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1500</Words>
  <Application>Microsoft Office PowerPoint</Application>
  <PresentationFormat>On-screen Show (16:9)</PresentationFormat>
  <Paragraphs>165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DM Sans</vt:lpstr>
      <vt:lpstr>Be vietnam pro</vt:lpstr>
      <vt:lpstr>Arial</vt:lpstr>
      <vt:lpstr>Nunito Light</vt:lpstr>
      <vt:lpstr>Outfit</vt:lpstr>
      <vt:lpstr>Data Collection and Analysis - Master of Science in Community Health and Prevention Research by Slidesgo</vt:lpstr>
      <vt:lpstr>SmartToys Business Review &amp; Growth Strategy</vt:lpstr>
      <vt:lpstr>Ba phát hiện chính</vt:lpstr>
      <vt:lpstr>Bối cảnh, dữ liệu và phương pháp</vt:lpstr>
      <vt:lpstr>$1,938,509.75</vt:lpstr>
      <vt:lpstr>Doanh thu gộp che giấu cấu trúc lợi nhuận thật</vt:lpstr>
      <vt:lpstr>Sản phẩm bán chạy nhất lại có biên lợi nhuận thấp nhất</vt:lpstr>
      <vt:lpstr>Doanh nghiệp gần như không có vòng đời khách hàng</vt:lpstr>
      <vt:lpstr>Mobile kém hơn Desktop ở mọi bước của phễu</vt:lpstr>
      <vt:lpstr>Khoảng cách xuất hiện ở cả 4 nguồn traffic, không trừ nguồn nào</vt:lpstr>
      <vt:lpstr>Khách mobile không kém chất lượng — họ chỉ khó mua hàng hơn</vt:lpstr>
      <vt:lpstr>Mobile luôn cao hơn Desktop suốt ba năm và không thu hẹp</vt:lpstr>
      <vt:lpstr>Sản phẩm sinh lời nhất đang bị chôn vùi ở vị trí không ai nhìn thấy</vt:lpstr>
      <vt:lpstr>Bán chéo nâng AOV 75.6%, nhưng không đến từ liên kết sản phẩm</vt:lpstr>
      <vt:lpstr>Quy mô lớn nhất và mức nghiêm trọng nhất là hai sản phẩm khác nhau</vt:lpstr>
      <vt:lpstr>Đỉnh hoàn hàng rơi vào mùa hè, không phải mùa lễ hội</vt:lpstr>
      <vt:lpstr>Kế hoạch hành động — ưu tiên Cao</vt:lpstr>
      <vt:lpstr>Kế hoạch hành động — ưu tiên Trung bình</vt:lpstr>
      <vt:lpstr>Ba giới hạn của phân tích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Duy Ngo</cp:lastModifiedBy>
  <cp:revision>6</cp:revision>
  <dcterms:modified xsi:type="dcterms:W3CDTF">2026-09-09T08:56:59Z</dcterms:modified>
</cp:coreProperties>
</file>