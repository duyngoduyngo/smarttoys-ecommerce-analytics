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embeddedFontLst>
    <p:embeddedFont>
      <p:font typeface="DM Sans" pitchFamily="2" charset="0"/>
      <p:regular r:id="rId22"/>
      <p:bold r:id="rId23"/>
    </p:embeddedFont>
    <p:embeddedFont>
      <p:font typeface="Nunito Light" pitchFamily="2" charset="0"/>
      <p:regular r:id="rId24"/>
    </p:embeddedFont>
    <p:embeddedFont>
      <p:font typeface="Outfit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F6D339-7C54-44C9-989D-88CB491ACD33}" v="4" dt="2026-09-09T07:47:33.203"/>
  </p1510:revLst>
</p1510:revInfo>
</file>

<file path=ppt/tableStyles.xml><?xml version="1.0" encoding="utf-8"?>
<a:tblStyleLst xmlns:a="http://schemas.openxmlformats.org/drawingml/2006/main" def="{B4535D46-4488-4ECE-AE60-50CAF0AF805C}">
  <a:tblStyle styleId="{B4535D46-4488-4ECE-AE60-50CAF0AF805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y Ngo" userId="60c5046ce41d3b27" providerId="LiveId" clId="{6D8D5DE6-2973-46B7-BA81-D711C2A90C59}"/>
    <pc:docChg chg="undo custSel modSld">
      <pc:chgData name="Duy Ngo" userId="60c5046ce41d3b27" providerId="LiveId" clId="{6D8D5DE6-2973-46B7-BA81-D711C2A90C59}" dt="2026-09-09T07:47:37.086" v="22" actId="20577"/>
      <pc:docMkLst>
        <pc:docMk/>
      </pc:docMkLst>
      <pc:sldChg chg="delSp modSp mod">
        <pc:chgData name="Duy Ngo" userId="60c5046ce41d3b27" providerId="LiveId" clId="{6D8D5DE6-2973-46B7-BA81-D711C2A90C59}" dt="2026-09-09T07:47:37.086" v="22" actId="20577"/>
        <pc:sldMkLst>
          <pc:docMk/>
          <pc:sldMk cId="4164362170" sldId="274"/>
        </pc:sldMkLst>
        <pc:spChg chg="mod">
          <ac:chgData name="Duy Ngo" userId="60c5046ce41d3b27" providerId="LiveId" clId="{6D8D5DE6-2973-46B7-BA81-D711C2A90C59}" dt="2026-09-09T07:47:37.086" v="22" actId="20577"/>
          <ac:spMkLst>
            <pc:docMk/>
            <pc:sldMk cId="4164362170" sldId="274"/>
            <ac:spMk id="5" creationId="{73D1AADE-6DD1-59C7-44D7-AA4C69393241}"/>
          </ac:spMkLst>
        </pc:spChg>
        <pc:spChg chg="del mod">
          <ac:chgData name="Duy Ngo" userId="60c5046ce41d3b27" providerId="LiveId" clId="{6D8D5DE6-2973-46B7-BA81-D711C2A90C59}" dt="2026-09-09T07:46:43.278" v="14" actId="478"/>
          <ac:spMkLst>
            <pc:docMk/>
            <pc:sldMk cId="4164362170" sldId="274"/>
            <ac:spMk id="9" creationId="{36D22020-81E4-EA05-695D-E8673A5369DD}"/>
          </ac:spMkLst>
        </pc:spChg>
        <pc:spChg chg="mod">
          <ac:chgData name="Duy Ngo" userId="60c5046ce41d3b27" providerId="LiveId" clId="{6D8D5DE6-2973-46B7-BA81-D711C2A90C59}" dt="2026-09-09T07:45:50.086" v="7" actId="14100"/>
          <ac:spMkLst>
            <pc:docMk/>
            <pc:sldMk cId="4164362170" sldId="274"/>
            <ac:spMk id="11" creationId="{F96C5FA3-B27B-338C-65F1-EFD3855B21FC}"/>
          </ac:spMkLst>
        </pc:spChg>
        <pc:grpChg chg="del mod">
          <ac:chgData name="Duy Ngo" userId="60c5046ce41d3b27" providerId="LiveId" clId="{6D8D5DE6-2973-46B7-BA81-D711C2A90C59}" dt="2026-09-09T07:46:43.278" v="14" actId="478"/>
          <ac:grpSpMkLst>
            <pc:docMk/>
            <pc:sldMk cId="4164362170" sldId="274"/>
            <ac:grpSpMk id="10" creationId="{709BD7A0-3595-005E-C849-2274AF6017DD}"/>
          </ac:grpSpMkLst>
        </pc:grpChg>
        <pc:grpChg chg="del">
          <ac:chgData name="Duy Ngo" userId="60c5046ce41d3b27" providerId="LiveId" clId="{6D8D5DE6-2973-46B7-BA81-D711C2A90C59}" dt="2026-09-09T07:46:43.278" v="14" actId="478"/>
          <ac:grpSpMkLst>
            <pc:docMk/>
            <pc:sldMk cId="4164362170" sldId="274"/>
            <ac:grpSpMk id="15" creationId="{11C5EC68-08DD-2D1C-D308-7ACAD730435E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1e71a4a866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6" name="Google Shape;956;g1e71a4a866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g1e71a4a866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7" name="Google Shape;1017;g1e71a4a866a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1e71a4a86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1e71a4a86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g1e71a4a866a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9" name="Google Shape;989;g1e71a4a866a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EC4DD899-B067-DF88-8E5B-2BEE5E87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4dfce81f19_0_45:notes">
            <a:extLst>
              <a:ext uri="{FF2B5EF4-FFF2-40B4-BE49-F238E27FC236}">
                <a16:creationId xmlns:a16="http://schemas.microsoft.com/office/drawing/2014/main" id="{D58A24AD-8DC0-A6B7-CC75-DA20C4EED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4dfce81f19_0_45:notes">
            <a:extLst>
              <a:ext uri="{FF2B5EF4-FFF2-40B4-BE49-F238E27FC236}">
                <a16:creationId xmlns:a16="http://schemas.microsoft.com/office/drawing/2014/main" id="{B330B64B-0BD3-93B0-0CC7-EDD31F376B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1749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56000"/>
            <a:ext cx="4160700" cy="238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41600"/>
            <a:ext cx="41607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13225" y="2384250"/>
            <a:ext cx="43443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13225" y="3300150"/>
            <a:ext cx="43443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4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7" name="Google Shape;17;p4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4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4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4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4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215751"/>
            <a:ext cx="7704000" cy="3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5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29" name="Google Shape;29;p5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5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5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5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5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5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055284" y="356257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1583300" y="356257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5055275" y="31225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1583075" y="31225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oogle Shape;43;p6"/>
          <p:cNvGrpSpPr/>
          <p:nvPr/>
        </p:nvGrpSpPr>
        <p:grpSpPr>
          <a:xfrm>
            <a:off x="-247298" y="-284290"/>
            <a:ext cx="9638600" cy="5868163"/>
            <a:chOff x="-247298" y="-284290"/>
            <a:chExt cx="9638600" cy="5868163"/>
          </a:xfrm>
        </p:grpSpPr>
        <p:sp>
          <p:nvSpPr>
            <p:cNvPr id="44" name="Google Shape;44;p6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 rot="10800000" flipH="1">
              <a:off x="-125473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 rot="10800000" flipH="1">
              <a:off x="-125483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6"/>
            <p:cNvSpPr/>
            <p:nvPr/>
          </p:nvSpPr>
          <p:spPr>
            <a:xfrm rot="10800000" flipH="1">
              <a:off x="8424002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10800000" flipH="1">
              <a:off x="8423992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54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ubTitle" idx="1"/>
          </p:nvPr>
        </p:nvSpPr>
        <p:spPr>
          <a:xfrm>
            <a:off x="720000" y="1652075"/>
            <a:ext cx="4294800" cy="21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4292275" y="1663850"/>
            <a:ext cx="4138500" cy="18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3862975" y="1655500"/>
            <a:ext cx="45678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ubTitle" idx="1"/>
          </p:nvPr>
        </p:nvSpPr>
        <p:spPr>
          <a:xfrm>
            <a:off x="3862975" y="2816925"/>
            <a:ext cx="45678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720000" y="3942625"/>
            <a:ext cx="7704000" cy="644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774100"/>
            <a:ext cx="4676100" cy="109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6" name="Google Shape;66;p11"/>
          <p:cNvSpPr txBox="1">
            <a:spLocks noGrp="1"/>
          </p:cNvSpPr>
          <p:nvPr>
            <p:ph type="subTitle" idx="1"/>
          </p:nvPr>
        </p:nvSpPr>
        <p:spPr>
          <a:xfrm>
            <a:off x="713225" y="2872275"/>
            <a:ext cx="46761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13"/>
          <p:cNvGrpSpPr/>
          <p:nvPr/>
        </p:nvGrpSpPr>
        <p:grpSpPr>
          <a:xfrm>
            <a:off x="-417711" y="-428628"/>
            <a:ext cx="9979385" cy="6000759"/>
            <a:chOff x="-417711" y="-428628"/>
            <a:chExt cx="9979385" cy="6000759"/>
          </a:xfrm>
        </p:grpSpPr>
        <p:sp>
          <p:nvSpPr>
            <p:cNvPr id="70" name="Google Shape;70;p13"/>
            <p:cNvSpPr/>
            <p:nvPr/>
          </p:nvSpPr>
          <p:spPr>
            <a:xfrm>
              <a:off x="421002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884277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8430764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8430764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-125486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-125486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-417711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3"/>
            <p:cNvSpPr/>
            <p:nvPr/>
          </p:nvSpPr>
          <p:spPr>
            <a:xfrm>
              <a:off x="872296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"/>
          </p:nvPr>
        </p:nvSpPr>
        <p:spPr>
          <a:xfrm>
            <a:off x="720000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2"/>
          </p:nvPr>
        </p:nvSpPr>
        <p:spPr>
          <a:xfrm>
            <a:off x="3419271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3"/>
          </p:nvPr>
        </p:nvSpPr>
        <p:spPr>
          <a:xfrm>
            <a:off x="720000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4"/>
          </p:nvPr>
        </p:nvSpPr>
        <p:spPr>
          <a:xfrm>
            <a:off x="3419271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5"/>
          </p:nvPr>
        </p:nvSpPr>
        <p:spPr>
          <a:xfrm>
            <a:off x="6118549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6"/>
          </p:nvPr>
        </p:nvSpPr>
        <p:spPr>
          <a:xfrm>
            <a:off x="6118549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7" hasCustomPrompt="1"/>
          </p:nvPr>
        </p:nvSpPr>
        <p:spPr>
          <a:xfrm>
            <a:off x="150540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8" hasCustomPrompt="1"/>
          </p:nvPr>
        </p:nvSpPr>
        <p:spPr>
          <a:xfrm>
            <a:off x="150540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9" hasCustomPrompt="1"/>
          </p:nvPr>
        </p:nvSpPr>
        <p:spPr>
          <a:xfrm>
            <a:off x="4204671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13" hasCustomPrompt="1"/>
          </p:nvPr>
        </p:nvSpPr>
        <p:spPr>
          <a:xfrm>
            <a:off x="4204671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4" hasCustomPrompt="1"/>
          </p:nvPr>
        </p:nvSpPr>
        <p:spPr>
          <a:xfrm>
            <a:off x="690395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5" hasCustomPrompt="1"/>
          </p:nvPr>
        </p:nvSpPr>
        <p:spPr>
          <a:xfrm>
            <a:off x="690395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16"/>
          </p:nvPr>
        </p:nvSpPr>
        <p:spPr>
          <a:xfrm>
            <a:off x="720000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7"/>
          </p:nvPr>
        </p:nvSpPr>
        <p:spPr>
          <a:xfrm>
            <a:off x="3419271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8"/>
          </p:nvPr>
        </p:nvSpPr>
        <p:spPr>
          <a:xfrm>
            <a:off x="6118549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19"/>
          </p:nvPr>
        </p:nvSpPr>
        <p:spPr>
          <a:xfrm>
            <a:off x="720000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20"/>
          </p:nvPr>
        </p:nvSpPr>
        <p:spPr>
          <a:xfrm>
            <a:off x="3419271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21"/>
          </p:nvPr>
        </p:nvSpPr>
        <p:spPr>
          <a:xfrm>
            <a:off x="6118549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14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99" name="Google Shape;99;p14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4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4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4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4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4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4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" name="Google Shape;107;p14"/>
          <p:cNvSpPr txBox="1">
            <a:spLocks noGrp="1"/>
          </p:cNvSpPr>
          <p:nvPr>
            <p:ph type="title"/>
          </p:nvPr>
        </p:nvSpPr>
        <p:spPr>
          <a:xfrm>
            <a:off x="1226425" y="3229500"/>
            <a:ext cx="6691200" cy="54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subTitle" idx="1"/>
          </p:nvPr>
        </p:nvSpPr>
        <p:spPr>
          <a:xfrm>
            <a:off x="1226413" y="1366200"/>
            <a:ext cx="6691200" cy="186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5"/>
          <p:cNvGrpSpPr/>
          <p:nvPr/>
        </p:nvGrpSpPr>
        <p:grpSpPr>
          <a:xfrm>
            <a:off x="-535133" y="-37823"/>
            <a:ext cx="10207495" cy="5621696"/>
            <a:chOff x="-535133" y="-37823"/>
            <a:chExt cx="10207495" cy="5621696"/>
          </a:xfrm>
        </p:grpSpPr>
        <p:sp>
          <p:nvSpPr>
            <p:cNvPr id="111" name="Google Shape;111;p15"/>
            <p:cNvSpPr/>
            <p:nvPr/>
          </p:nvSpPr>
          <p:spPr>
            <a:xfrm>
              <a:off x="-1254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-53513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 rot="10800000">
              <a:off x="8833642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 rot="10800000">
              <a:off x="8430777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 flipH="1">
              <a:off x="84239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5"/>
            <p:cNvSpPr/>
            <p:nvPr/>
          </p:nvSpPr>
          <p:spPr>
            <a:xfrm flipH="1">
              <a:off x="88336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 rot="10800000" flipH="1">
              <a:off x="-528348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5"/>
            <p:cNvSpPr/>
            <p:nvPr/>
          </p:nvSpPr>
          <p:spPr>
            <a:xfrm rot="10800000" flipH="1">
              <a:off x="-125483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6"/>
          <p:cNvGrpSpPr/>
          <p:nvPr/>
        </p:nvGrpSpPr>
        <p:grpSpPr>
          <a:xfrm>
            <a:off x="-247298" y="-446215"/>
            <a:ext cx="9638610" cy="6030088"/>
            <a:chOff x="-247298" y="-446215"/>
            <a:chExt cx="9638610" cy="6030088"/>
          </a:xfrm>
        </p:grpSpPr>
        <p:sp>
          <p:nvSpPr>
            <p:cNvPr id="122" name="Google Shape;122;p16"/>
            <p:cNvSpPr/>
            <p:nvPr/>
          </p:nvSpPr>
          <p:spPr>
            <a:xfrm>
              <a:off x="-1255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/>
            <p:nvPr/>
          </p:nvSpPr>
          <p:spPr>
            <a:xfrm>
              <a:off x="-12558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6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6"/>
            <p:cNvSpPr/>
            <p:nvPr/>
          </p:nvSpPr>
          <p:spPr>
            <a:xfrm rot="10800000" flipH="1">
              <a:off x="346967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6"/>
            <p:cNvSpPr/>
            <p:nvPr/>
          </p:nvSpPr>
          <p:spPr>
            <a:xfrm rot="10800000">
              <a:off x="7958317" y="-4286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6"/>
            <p:cNvSpPr/>
            <p:nvPr/>
          </p:nvSpPr>
          <p:spPr>
            <a:xfrm rot="10800000">
              <a:off x="855260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6"/>
            <p:cNvSpPr/>
            <p:nvPr/>
          </p:nvSpPr>
          <p:spPr>
            <a:xfrm>
              <a:off x="8430777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8430767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oogle Shape;132;p17"/>
          <p:cNvGrpSpPr/>
          <p:nvPr/>
        </p:nvGrpSpPr>
        <p:grpSpPr>
          <a:xfrm>
            <a:off x="-548808" y="-584898"/>
            <a:ext cx="10241610" cy="6168779"/>
            <a:chOff x="-548808" y="-584898"/>
            <a:chExt cx="10241610" cy="6168779"/>
          </a:xfrm>
        </p:grpSpPr>
        <p:sp>
          <p:nvSpPr>
            <p:cNvPr id="133" name="Google Shape;133;p17"/>
            <p:cNvSpPr/>
            <p:nvPr/>
          </p:nvSpPr>
          <p:spPr>
            <a:xfrm>
              <a:off x="293877" y="46157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7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7"/>
            <p:cNvSpPr/>
            <p:nvPr/>
          </p:nvSpPr>
          <p:spPr>
            <a:xfrm rot="10800000" flipH="1">
              <a:off x="-129123" y="44966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7"/>
            <p:cNvSpPr/>
            <p:nvPr/>
          </p:nvSpPr>
          <p:spPr>
            <a:xfrm rot="10800000" flipH="1">
              <a:off x="-548808" y="449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7"/>
            <p:cNvSpPr/>
            <p:nvPr/>
          </p:nvSpPr>
          <p:spPr>
            <a:xfrm>
              <a:off x="185192" y="-58489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7"/>
            <p:cNvSpPr/>
            <p:nvPr/>
          </p:nvSpPr>
          <p:spPr>
            <a:xfrm rot="10800000">
              <a:off x="8434407" y="44966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7"/>
            <p:cNvSpPr/>
            <p:nvPr/>
          </p:nvSpPr>
          <p:spPr>
            <a:xfrm rot="10800000">
              <a:off x="8854092" y="449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7"/>
            <p:cNvSpPr/>
            <p:nvPr/>
          </p:nvSpPr>
          <p:spPr>
            <a:xfrm flipH="1">
              <a:off x="8120092" y="-58489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" name="Google Shape;14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44" name="Google Shape;144;p18"/>
          <p:cNvGrpSpPr/>
          <p:nvPr/>
        </p:nvGrpSpPr>
        <p:grpSpPr>
          <a:xfrm>
            <a:off x="-476796" y="2900252"/>
            <a:ext cx="10097585" cy="2865204"/>
            <a:chOff x="-476796" y="2900252"/>
            <a:chExt cx="10097585" cy="2865204"/>
          </a:xfrm>
        </p:grpSpPr>
        <p:grpSp>
          <p:nvGrpSpPr>
            <p:cNvPr id="145" name="Google Shape;145;p18"/>
            <p:cNvGrpSpPr/>
            <p:nvPr/>
          </p:nvGrpSpPr>
          <p:grpSpPr>
            <a:xfrm>
              <a:off x="-476796" y="2900252"/>
              <a:ext cx="10097585" cy="2865204"/>
              <a:chOff x="-476796" y="2900252"/>
              <a:chExt cx="10097585" cy="2865204"/>
            </a:xfrm>
          </p:grpSpPr>
          <p:sp>
            <p:nvSpPr>
              <p:cNvPr id="146" name="Google Shape;146;p18"/>
              <p:cNvSpPr/>
              <p:nvPr/>
            </p:nvSpPr>
            <p:spPr>
              <a:xfrm rot="10800000" flipH="1">
                <a:off x="-266661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8"/>
              <p:cNvSpPr/>
              <p:nvPr/>
            </p:nvSpPr>
            <p:spPr>
              <a:xfrm>
                <a:off x="-90736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dk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18"/>
              <p:cNvSpPr/>
              <p:nvPr/>
            </p:nvSpPr>
            <p:spPr>
              <a:xfrm>
                <a:off x="-476796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AFC7FF">
                  <a:alpha val="2500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18"/>
              <p:cNvSpPr/>
              <p:nvPr/>
            </p:nvSpPr>
            <p:spPr>
              <a:xfrm rot="10800000">
                <a:off x="8571944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lt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8"/>
              <p:cNvSpPr/>
              <p:nvPr/>
            </p:nvSpPr>
            <p:spPr>
              <a:xfrm flipH="1">
                <a:off x="8396019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8"/>
              <p:cNvSpPr/>
              <p:nvPr/>
            </p:nvSpPr>
            <p:spPr>
              <a:xfrm flipH="1">
                <a:off x="8782079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9FCBFD">
                  <a:alpha val="4114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8"/>
              <p:cNvSpPr/>
              <p:nvPr/>
            </p:nvSpPr>
            <p:spPr>
              <a:xfrm rot="10800000">
                <a:off x="8009979" y="4797335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68DAF8">
                  <a:alpha val="3418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18"/>
            <p:cNvSpPr/>
            <p:nvPr/>
          </p:nvSpPr>
          <p:spPr>
            <a:xfrm rot="10800000" flipH="1">
              <a:off x="293867" y="47973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Google Shape;155;p19"/>
          <p:cNvGrpSpPr/>
          <p:nvPr/>
        </p:nvGrpSpPr>
        <p:grpSpPr>
          <a:xfrm>
            <a:off x="-145083" y="-503840"/>
            <a:ext cx="9434170" cy="6151188"/>
            <a:chOff x="-145083" y="-503840"/>
            <a:chExt cx="9434170" cy="6151188"/>
          </a:xfrm>
        </p:grpSpPr>
        <p:sp>
          <p:nvSpPr>
            <p:cNvPr id="156" name="Google Shape;156;p19"/>
            <p:cNvSpPr/>
            <p:nvPr/>
          </p:nvSpPr>
          <p:spPr>
            <a:xfrm rot="10800000" flipH="1">
              <a:off x="534577" y="46792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9"/>
            <p:cNvSpPr/>
            <p:nvPr/>
          </p:nvSpPr>
          <p:spPr>
            <a:xfrm>
              <a:off x="-145073" y="392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9"/>
            <p:cNvSpPr/>
            <p:nvPr/>
          </p:nvSpPr>
          <p:spPr>
            <a:xfrm>
              <a:off x="-145083" y="44198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9"/>
            <p:cNvSpPr/>
            <p:nvPr/>
          </p:nvSpPr>
          <p:spPr>
            <a:xfrm flipH="1">
              <a:off x="8430777" y="46443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9"/>
            <p:cNvSpPr/>
            <p:nvPr/>
          </p:nvSpPr>
          <p:spPr>
            <a:xfrm rot="10800000" flipH="1">
              <a:off x="-125483" y="-4286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9"/>
            <p:cNvSpPr/>
            <p:nvPr/>
          </p:nvSpPr>
          <p:spPr>
            <a:xfrm flipH="1">
              <a:off x="7770717" y="-5038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9"/>
            <p:cNvSpPr/>
            <p:nvPr/>
          </p:nvSpPr>
          <p:spPr>
            <a:xfrm rot="10800000">
              <a:off x="8450367" y="2513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9"/>
            <p:cNvSpPr/>
            <p:nvPr/>
          </p:nvSpPr>
          <p:spPr>
            <a:xfrm rot="10800000">
              <a:off x="8450377" y="-2444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4" name="Google Shape;164;p19"/>
          <p:cNvSpPr txBox="1">
            <a:spLocks noGrp="1"/>
          </p:cNvSpPr>
          <p:nvPr>
            <p:ph type="title"/>
          </p:nvPr>
        </p:nvSpPr>
        <p:spPr>
          <a:xfrm>
            <a:off x="720000" y="1270313"/>
            <a:ext cx="3777300" cy="170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9"/>
          <p:cNvSpPr txBox="1">
            <a:spLocks noGrp="1"/>
          </p:cNvSpPr>
          <p:nvPr>
            <p:ph type="subTitle" idx="1"/>
          </p:nvPr>
        </p:nvSpPr>
        <p:spPr>
          <a:xfrm>
            <a:off x="720000" y="2979813"/>
            <a:ext cx="3777300" cy="8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9"/>
          <p:cNvSpPr>
            <a:spLocks noGrp="1"/>
          </p:cNvSpPr>
          <p:nvPr>
            <p:ph type="pic" idx="2"/>
          </p:nvPr>
        </p:nvSpPr>
        <p:spPr>
          <a:xfrm>
            <a:off x="5121925" y="1060325"/>
            <a:ext cx="3109200" cy="31092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20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69" name="Google Shape;169;p20"/>
            <p:cNvSpPr/>
            <p:nvPr/>
          </p:nvSpPr>
          <p:spPr>
            <a:xfrm>
              <a:off x="-125473" y="4453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0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0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0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0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0"/>
            <p:cNvSpPr/>
            <p:nvPr/>
          </p:nvSpPr>
          <p:spPr>
            <a:xfrm rot="10800000">
              <a:off x="8430767" y="-4042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0"/>
            <p:cNvSpPr/>
            <p:nvPr/>
          </p:nvSpPr>
          <p:spPr>
            <a:xfrm>
              <a:off x="-125483" y="3996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8430767" y="468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" name="Google Shape;177;p20"/>
          <p:cNvSpPr txBox="1">
            <a:spLocks noGrp="1"/>
          </p:cNvSpPr>
          <p:nvPr>
            <p:ph type="title"/>
          </p:nvPr>
        </p:nvSpPr>
        <p:spPr>
          <a:xfrm>
            <a:off x="720000" y="1637550"/>
            <a:ext cx="35979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"/>
          </p:nvPr>
        </p:nvSpPr>
        <p:spPr>
          <a:xfrm>
            <a:off x="720000" y="2700750"/>
            <a:ext cx="3597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oogle Shape;180;p21"/>
          <p:cNvGrpSpPr/>
          <p:nvPr/>
        </p:nvGrpSpPr>
        <p:grpSpPr>
          <a:xfrm flipH="1"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81" name="Google Shape;181;p21"/>
            <p:cNvSpPr/>
            <p:nvPr/>
          </p:nvSpPr>
          <p:spPr>
            <a:xfrm>
              <a:off x="-125473" y="4453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1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1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1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1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1"/>
            <p:cNvSpPr/>
            <p:nvPr/>
          </p:nvSpPr>
          <p:spPr>
            <a:xfrm rot="10800000">
              <a:off x="8430767" y="-4042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1"/>
            <p:cNvSpPr/>
            <p:nvPr/>
          </p:nvSpPr>
          <p:spPr>
            <a:xfrm>
              <a:off x="-125483" y="3996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1"/>
            <p:cNvSpPr/>
            <p:nvPr/>
          </p:nvSpPr>
          <p:spPr>
            <a:xfrm>
              <a:off x="8430767" y="468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9" name="Google Shape;189;p21"/>
          <p:cNvSpPr txBox="1">
            <a:spLocks noGrp="1"/>
          </p:cNvSpPr>
          <p:nvPr>
            <p:ph type="title"/>
          </p:nvPr>
        </p:nvSpPr>
        <p:spPr>
          <a:xfrm>
            <a:off x="4837200" y="1796350"/>
            <a:ext cx="35934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1"/>
          <p:cNvSpPr txBox="1">
            <a:spLocks noGrp="1"/>
          </p:cNvSpPr>
          <p:nvPr>
            <p:ph type="subTitle" idx="1"/>
          </p:nvPr>
        </p:nvSpPr>
        <p:spPr>
          <a:xfrm>
            <a:off x="4837375" y="2441150"/>
            <a:ext cx="3593400" cy="9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oogle Shape;216;p24"/>
          <p:cNvGrpSpPr/>
          <p:nvPr/>
        </p:nvGrpSpPr>
        <p:grpSpPr>
          <a:xfrm>
            <a:off x="-310473" y="3500727"/>
            <a:ext cx="9764950" cy="2327954"/>
            <a:chOff x="-310473" y="3500727"/>
            <a:chExt cx="9764950" cy="2327954"/>
          </a:xfrm>
        </p:grpSpPr>
        <p:sp>
          <p:nvSpPr>
            <p:cNvPr id="217" name="Google Shape;217;p24"/>
            <p:cNvSpPr/>
            <p:nvPr/>
          </p:nvSpPr>
          <p:spPr>
            <a:xfrm rot="10800000" flipH="1">
              <a:off x="927364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 rot="10800000" flipH="1">
              <a:off x="273054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-310473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-125483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4"/>
            <p:cNvSpPr/>
            <p:nvPr/>
          </p:nvSpPr>
          <p:spPr>
            <a:xfrm flipH="1">
              <a:off x="8615767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4"/>
            <p:cNvSpPr/>
            <p:nvPr/>
          </p:nvSpPr>
          <p:spPr>
            <a:xfrm flipH="1">
              <a:off x="8424002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4"/>
            <p:cNvSpPr/>
            <p:nvPr/>
          </p:nvSpPr>
          <p:spPr>
            <a:xfrm rot="10800000">
              <a:off x="7377929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4"/>
            <p:cNvSpPr/>
            <p:nvPr/>
          </p:nvSpPr>
          <p:spPr>
            <a:xfrm rot="10800000">
              <a:off x="8032239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821081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1478950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1478950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821091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25"/>
          <p:cNvGrpSpPr/>
          <p:nvPr/>
        </p:nvGrpSpPr>
        <p:grpSpPr>
          <a:xfrm>
            <a:off x="-655296" y="3436585"/>
            <a:ext cx="10454595" cy="2311221"/>
            <a:chOff x="-655296" y="3436585"/>
            <a:chExt cx="10454595" cy="2311221"/>
          </a:xfrm>
        </p:grpSpPr>
        <p:sp>
          <p:nvSpPr>
            <p:cNvPr id="232" name="Google Shape;232;p25"/>
            <p:cNvSpPr/>
            <p:nvPr/>
          </p:nvSpPr>
          <p:spPr>
            <a:xfrm rot="10800000" flipH="1">
              <a:off x="-136836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5"/>
            <p:cNvSpPr/>
            <p:nvPr/>
          </p:nvSpPr>
          <p:spPr>
            <a:xfrm>
              <a:off x="183414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5"/>
            <p:cNvSpPr/>
            <p:nvPr/>
          </p:nvSpPr>
          <p:spPr>
            <a:xfrm rot="10800000" flipH="1">
              <a:off x="-655296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5"/>
            <p:cNvSpPr/>
            <p:nvPr/>
          </p:nvSpPr>
          <p:spPr>
            <a:xfrm rot="10800000">
              <a:off x="8442129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5"/>
            <p:cNvSpPr/>
            <p:nvPr/>
          </p:nvSpPr>
          <p:spPr>
            <a:xfrm flipH="1">
              <a:off x="8121879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5"/>
            <p:cNvSpPr/>
            <p:nvPr/>
          </p:nvSpPr>
          <p:spPr>
            <a:xfrm rot="10800000">
              <a:off x="8960589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5"/>
            <p:cNvSpPr/>
            <p:nvPr/>
          </p:nvSpPr>
          <p:spPr>
            <a:xfrm rot="10800000">
              <a:off x="7718714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5"/>
            <p:cNvSpPr/>
            <p:nvPr/>
          </p:nvSpPr>
          <p:spPr>
            <a:xfrm rot="10800000">
              <a:off x="586589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0" name="Google Shape;240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25"/>
          <p:cNvSpPr txBox="1">
            <a:spLocks noGrp="1"/>
          </p:cNvSpPr>
          <p:nvPr>
            <p:ph type="subTitle" idx="1"/>
          </p:nvPr>
        </p:nvSpPr>
        <p:spPr>
          <a:xfrm>
            <a:off x="4646250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25"/>
          <p:cNvSpPr txBox="1">
            <a:spLocks noGrp="1"/>
          </p:cNvSpPr>
          <p:nvPr>
            <p:ph type="subTitle" idx="2"/>
          </p:nvPr>
        </p:nvSpPr>
        <p:spPr>
          <a:xfrm>
            <a:off x="1099338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" name="Google Shape;244;p26"/>
          <p:cNvGrpSpPr/>
          <p:nvPr/>
        </p:nvGrpSpPr>
        <p:grpSpPr>
          <a:xfrm>
            <a:off x="-512036" y="-358023"/>
            <a:ext cx="10169413" cy="5930154"/>
            <a:chOff x="-512036" y="-358023"/>
            <a:chExt cx="10169413" cy="5930154"/>
          </a:xfrm>
        </p:grpSpPr>
        <p:sp>
          <p:nvSpPr>
            <p:cNvPr id="245" name="Google Shape;245;p26"/>
            <p:cNvSpPr/>
            <p:nvPr/>
          </p:nvSpPr>
          <p:spPr>
            <a:xfrm flipH="1">
              <a:off x="8430767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 rot="10800000">
              <a:off x="8818667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 rot="10800000">
              <a:off x="801141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 flipH="1">
              <a:off x="8430777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-124136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rot="10800000" flipH="1">
              <a:off x="-512036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 rot="10800000" flipH="1">
              <a:off x="295217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-124133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" name="Google Shape;253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6"/>
          <p:cNvSpPr txBox="1">
            <a:spLocks noGrp="1"/>
          </p:cNvSpPr>
          <p:nvPr>
            <p:ph type="subTitle" idx="1"/>
          </p:nvPr>
        </p:nvSpPr>
        <p:spPr>
          <a:xfrm>
            <a:off x="881225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26"/>
          <p:cNvSpPr txBox="1">
            <a:spLocks noGrp="1"/>
          </p:cNvSpPr>
          <p:nvPr>
            <p:ph type="subTitle" idx="2"/>
          </p:nvPr>
        </p:nvSpPr>
        <p:spPr>
          <a:xfrm>
            <a:off x="342795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26"/>
          <p:cNvSpPr txBox="1">
            <a:spLocks noGrp="1"/>
          </p:cNvSpPr>
          <p:nvPr>
            <p:ph type="subTitle" idx="3"/>
          </p:nvPr>
        </p:nvSpPr>
        <p:spPr>
          <a:xfrm>
            <a:off x="597470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26"/>
          <p:cNvSpPr txBox="1">
            <a:spLocks noGrp="1"/>
          </p:cNvSpPr>
          <p:nvPr>
            <p:ph type="subTitle" idx="4"/>
          </p:nvPr>
        </p:nvSpPr>
        <p:spPr>
          <a:xfrm>
            <a:off x="881225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8" name="Google Shape;258;p26"/>
          <p:cNvSpPr txBox="1">
            <a:spLocks noGrp="1"/>
          </p:cNvSpPr>
          <p:nvPr>
            <p:ph type="subTitle" idx="5"/>
          </p:nvPr>
        </p:nvSpPr>
        <p:spPr>
          <a:xfrm>
            <a:off x="3427954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9" name="Google Shape;259;p26"/>
          <p:cNvSpPr txBox="1">
            <a:spLocks noGrp="1"/>
          </p:cNvSpPr>
          <p:nvPr>
            <p:ph type="subTitle" idx="6"/>
          </p:nvPr>
        </p:nvSpPr>
        <p:spPr>
          <a:xfrm>
            <a:off x="5974700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27"/>
          <p:cNvGrpSpPr/>
          <p:nvPr/>
        </p:nvGrpSpPr>
        <p:grpSpPr>
          <a:xfrm>
            <a:off x="-519458" y="2674710"/>
            <a:ext cx="10224210" cy="2744938"/>
            <a:chOff x="-519458" y="2674710"/>
            <a:chExt cx="10224210" cy="2744938"/>
          </a:xfrm>
        </p:grpSpPr>
        <p:sp>
          <p:nvSpPr>
            <p:cNvPr id="262" name="Google Shape;262;p27"/>
            <p:cNvSpPr/>
            <p:nvPr/>
          </p:nvSpPr>
          <p:spPr>
            <a:xfrm rot="10800000" flipH="1">
              <a:off x="-118698" y="30847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7"/>
            <p:cNvSpPr/>
            <p:nvPr/>
          </p:nvSpPr>
          <p:spPr>
            <a:xfrm rot="10800000" flipH="1">
              <a:off x="-519458" y="2674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7"/>
            <p:cNvSpPr/>
            <p:nvPr/>
          </p:nvSpPr>
          <p:spPr>
            <a:xfrm>
              <a:off x="-519448" y="3955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7"/>
            <p:cNvSpPr/>
            <p:nvPr/>
          </p:nvSpPr>
          <p:spPr>
            <a:xfrm>
              <a:off x="21392" y="44515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7"/>
            <p:cNvSpPr/>
            <p:nvPr/>
          </p:nvSpPr>
          <p:spPr>
            <a:xfrm rot="10800000">
              <a:off x="8465282" y="30847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7"/>
            <p:cNvSpPr/>
            <p:nvPr/>
          </p:nvSpPr>
          <p:spPr>
            <a:xfrm rot="10800000">
              <a:off x="8866042" y="2674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7"/>
            <p:cNvSpPr/>
            <p:nvPr/>
          </p:nvSpPr>
          <p:spPr>
            <a:xfrm flipH="1">
              <a:off x="8866032" y="3955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7"/>
            <p:cNvSpPr/>
            <p:nvPr/>
          </p:nvSpPr>
          <p:spPr>
            <a:xfrm flipH="1">
              <a:off x="8325192" y="44515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27"/>
          <p:cNvSpPr txBox="1">
            <a:spLocks noGrp="1"/>
          </p:cNvSpPr>
          <p:nvPr>
            <p:ph type="subTitle" idx="1"/>
          </p:nvPr>
        </p:nvSpPr>
        <p:spPr>
          <a:xfrm>
            <a:off x="1142950" y="221906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27"/>
          <p:cNvSpPr txBox="1">
            <a:spLocks noGrp="1"/>
          </p:cNvSpPr>
          <p:nvPr>
            <p:ph type="subTitle" idx="2"/>
          </p:nvPr>
        </p:nvSpPr>
        <p:spPr>
          <a:xfrm>
            <a:off x="4749341" y="221906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subTitle" idx="3"/>
          </p:nvPr>
        </p:nvSpPr>
        <p:spPr>
          <a:xfrm>
            <a:off x="1142950" y="401031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27"/>
          <p:cNvSpPr txBox="1">
            <a:spLocks noGrp="1"/>
          </p:cNvSpPr>
          <p:nvPr>
            <p:ph type="subTitle" idx="4"/>
          </p:nvPr>
        </p:nvSpPr>
        <p:spPr>
          <a:xfrm>
            <a:off x="4749341" y="401031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27"/>
          <p:cNvSpPr txBox="1">
            <a:spLocks noGrp="1"/>
          </p:cNvSpPr>
          <p:nvPr>
            <p:ph type="subTitle" idx="5"/>
          </p:nvPr>
        </p:nvSpPr>
        <p:spPr>
          <a:xfrm>
            <a:off x="1142962" y="186058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6" name="Google Shape;276;p27"/>
          <p:cNvSpPr txBox="1">
            <a:spLocks noGrp="1"/>
          </p:cNvSpPr>
          <p:nvPr>
            <p:ph type="subTitle" idx="6"/>
          </p:nvPr>
        </p:nvSpPr>
        <p:spPr>
          <a:xfrm>
            <a:off x="1142962" y="365193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7" name="Google Shape;277;p27"/>
          <p:cNvSpPr txBox="1">
            <a:spLocks noGrp="1"/>
          </p:cNvSpPr>
          <p:nvPr>
            <p:ph type="subTitle" idx="7"/>
          </p:nvPr>
        </p:nvSpPr>
        <p:spPr>
          <a:xfrm>
            <a:off x="4749338" y="186058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8" name="Google Shape;278;p27"/>
          <p:cNvSpPr txBox="1">
            <a:spLocks noGrp="1"/>
          </p:cNvSpPr>
          <p:nvPr>
            <p:ph type="subTitle" idx="8"/>
          </p:nvPr>
        </p:nvSpPr>
        <p:spPr>
          <a:xfrm>
            <a:off x="4749338" y="365193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28"/>
          <p:cNvGrpSpPr/>
          <p:nvPr/>
        </p:nvGrpSpPr>
        <p:grpSpPr>
          <a:xfrm>
            <a:off x="-266473" y="3341397"/>
            <a:ext cx="9676960" cy="2321921"/>
            <a:chOff x="-266473" y="3341397"/>
            <a:chExt cx="9676960" cy="2321921"/>
          </a:xfrm>
        </p:grpSpPr>
        <p:sp>
          <p:nvSpPr>
            <p:cNvPr id="281" name="Google Shape;281;p28"/>
            <p:cNvSpPr/>
            <p:nvPr/>
          </p:nvSpPr>
          <p:spPr>
            <a:xfrm flipH="1">
              <a:off x="7441675" y="46951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8"/>
            <p:cNvSpPr/>
            <p:nvPr/>
          </p:nvSpPr>
          <p:spPr>
            <a:xfrm>
              <a:off x="863615" y="46951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8"/>
            <p:cNvSpPr/>
            <p:nvPr/>
          </p:nvSpPr>
          <p:spPr>
            <a:xfrm rot="10800000" flipH="1">
              <a:off x="-266473" y="4028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8"/>
            <p:cNvSpPr/>
            <p:nvPr/>
          </p:nvSpPr>
          <p:spPr>
            <a:xfrm>
              <a:off x="152867" y="4524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8"/>
            <p:cNvSpPr/>
            <p:nvPr/>
          </p:nvSpPr>
          <p:spPr>
            <a:xfrm rot="10800000" flipH="1">
              <a:off x="-151033" y="33413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8"/>
            <p:cNvSpPr/>
            <p:nvPr/>
          </p:nvSpPr>
          <p:spPr>
            <a:xfrm rot="10800000">
              <a:off x="8571777" y="4028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8"/>
            <p:cNvSpPr/>
            <p:nvPr/>
          </p:nvSpPr>
          <p:spPr>
            <a:xfrm flipH="1">
              <a:off x="8152437" y="4524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8"/>
            <p:cNvSpPr/>
            <p:nvPr/>
          </p:nvSpPr>
          <p:spPr>
            <a:xfrm rot="10800000">
              <a:off x="8456337" y="33413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9" name="Google Shape;289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28"/>
          <p:cNvSpPr txBox="1">
            <a:spLocks noGrp="1"/>
          </p:cNvSpPr>
          <p:nvPr>
            <p:ph type="subTitle" idx="1"/>
          </p:nvPr>
        </p:nvSpPr>
        <p:spPr>
          <a:xfrm>
            <a:off x="968524" y="2235613"/>
            <a:ext cx="2266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28"/>
          <p:cNvSpPr txBox="1">
            <a:spLocks noGrp="1"/>
          </p:cNvSpPr>
          <p:nvPr>
            <p:ph type="subTitle" idx="2"/>
          </p:nvPr>
        </p:nvSpPr>
        <p:spPr>
          <a:xfrm>
            <a:off x="3439063" y="2235613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28"/>
          <p:cNvSpPr txBox="1">
            <a:spLocks noGrp="1"/>
          </p:cNvSpPr>
          <p:nvPr>
            <p:ph type="subTitle" idx="3"/>
          </p:nvPr>
        </p:nvSpPr>
        <p:spPr>
          <a:xfrm>
            <a:off x="968524" y="3967325"/>
            <a:ext cx="2266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28"/>
          <p:cNvSpPr txBox="1">
            <a:spLocks noGrp="1"/>
          </p:cNvSpPr>
          <p:nvPr>
            <p:ph type="subTitle" idx="4"/>
          </p:nvPr>
        </p:nvSpPr>
        <p:spPr>
          <a:xfrm>
            <a:off x="3439063" y="3967325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8"/>
          <p:cNvSpPr txBox="1">
            <a:spLocks noGrp="1"/>
          </p:cNvSpPr>
          <p:nvPr>
            <p:ph type="subTitle" idx="5"/>
          </p:nvPr>
        </p:nvSpPr>
        <p:spPr>
          <a:xfrm>
            <a:off x="5909375" y="2235613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ubTitle" idx="6"/>
          </p:nvPr>
        </p:nvSpPr>
        <p:spPr>
          <a:xfrm>
            <a:off x="5909375" y="3967325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28"/>
          <p:cNvSpPr txBox="1">
            <a:spLocks noGrp="1"/>
          </p:cNvSpPr>
          <p:nvPr>
            <p:ph type="subTitle" idx="7"/>
          </p:nvPr>
        </p:nvSpPr>
        <p:spPr>
          <a:xfrm>
            <a:off x="968524" y="1890138"/>
            <a:ext cx="2266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7" name="Google Shape;297;p28"/>
          <p:cNvSpPr txBox="1">
            <a:spLocks noGrp="1"/>
          </p:cNvSpPr>
          <p:nvPr>
            <p:ph type="subTitle" idx="8"/>
          </p:nvPr>
        </p:nvSpPr>
        <p:spPr>
          <a:xfrm>
            <a:off x="3439063" y="1890138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8" name="Google Shape;298;p28"/>
          <p:cNvSpPr txBox="1">
            <a:spLocks noGrp="1"/>
          </p:cNvSpPr>
          <p:nvPr>
            <p:ph type="subTitle" idx="9"/>
          </p:nvPr>
        </p:nvSpPr>
        <p:spPr>
          <a:xfrm>
            <a:off x="5909375" y="1890138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9" name="Google Shape;299;p28"/>
          <p:cNvSpPr txBox="1">
            <a:spLocks noGrp="1"/>
          </p:cNvSpPr>
          <p:nvPr>
            <p:ph type="subTitle" idx="13"/>
          </p:nvPr>
        </p:nvSpPr>
        <p:spPr>
          <a:xfrm>
            <a:off x="968524" y="3621825"/>
            <a:ext cx="2266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00" name="Google Shape;300;p28"/>
          <p:cNvSpPr txBox="1">
            <a:spLocks noGrp="1"/>
          </p:cNvSpPr>
          <p:nvPr>
            <p:ph type="subTitle" idx="14"/>
          </p:nvPr>
        </p:nvSpPr>
        <p:spPr>
          <a:xfrm>
            <a:off x="3439063" y="3621825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01" name="Google Shape;301;p28"/>
          <p:cNvSpPr txBox="1">
            <a:spLocks noGrp="1"/>
          </p:cNvSpPr>
          <p:nvPr>
            <p:ph type="subTitle" idx="15"/>
          </p:nvPr>
        </p:nvSpPr>
        <p:spPr>
          <a:xfrm>
            <a:off x="5909375" y="3621825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9"/>
          <p:cNvSpPr txBox="1">
            <a:spLocks noGrp="1"/>
          </p:cNvSpPr>
          <p:nvPr>
            <p:ph type="title" hasCustomPrompt="1"/>
          </p:nvPr>
        </p:nvSpPr>
        <p:spPr>
          <a:xfrm>
            <a:off x="4351975" y="638350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4" name="Google Shape;304;p29"/>
          <p:cNvSpPr txBox="1">
            <a:spLocks noGrp="1"/>
          </p:cNvSpPr>
          <p:nvPr>
            <p:ph type="subTitle" idx="1"/>
          </p:nvPr>
        </p:nvSpPr>
        <p:spPr>
          <a:xfrm>
            <a:off x="4351975" y="1327275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5" name="Google Shape;305;p29"/>
          <p:cNvSpPr txBox="1">
            <a:spLocks noGrp="1"/>
          </p:cNvSpPr>
          <p:nvPr>
            <p:ph type="title" idx="2" hasCustomPrompt="1"/>
          </p:nvPr>
        </p:nvSpPr>
        <p:spPr>
          <a:xfrm>
            <a:off x="4351975" y="1990612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6" name="Google Shape;306;p29"/>
          <p:cNvSpPr txBox="1">
            <a:spLocks noGrp="1"/>
          </p:cNvSpPr>
          <p:nvPr>
            <p:ph type="subTitle" idx="3"/>
          </p:nvPr>
        </p:nvSpPr>
        <p:spPr>
          <a:xfrm>
            <a:off x="4351975" y="2679529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29"/>
          <p:cNvSpPr txBox="1">
            <a:spLocks noGrp="1"/>
          </p:cNvSpPr>
          <p:nvPr>
            <p:ph type="title" idx="4" hasCustomPrompt="1"/>
          </p:nvPr>
        </p:nvSpPr>
        <p:spPr>
          <a:xfrm>
            <a:off x="4351975" y="3342874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8" name="Google Shape;308;p29"/>
          <p:cNvSpPr txBox="1">
            <a:spLocks noGrp="1"/>
          </p:cNvSpPr>
          <p:nvPr>
            <p:ph type="subTitle" idx="5"/>
          </p:nvPr>
        </p:nvSpPr>
        <p:spPr>
          <a:xfrm>
            <a:off x="4351975" y="4031799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31"/>
          <p:cNvGrpSpPr/>
          <p:nvPr/>
        </p:nvGrpSpPr>
        <p:grpSpPr>
          <a:xfrm>
            <a:off x="-247298" y="-446215"/>
            <a:ext cx="9638610" cy="6030088"/>
            <a:chOff x="-247298" y="-446215"/>
            <a:chExt cx="9638610" cy="6030088"/>
          </a:xfrm>
        </p:grpSpPr>
        <p:sp>
          <p:nvSpPr>
            <p:cNvPr id="315" name="Google Shape;315;p31"/>
            <p:cNvSpPr/>
            <p:nvPr/>
          </p:nvSpPr>
          <p:spPr>
            <a:xfrm>
              <a:off x="-1255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1"/>
            <p:cNvSpPr/>
            <p:nvPr/>
          </p:nvSpPr>
          <p:spPr>
            <a:xfrm>
              <a:off x="-12558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1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1"/>
            <p:cNvSpPr/>
            <p:nvPr/>
          </p:nvSpPr>
          <p:spPr>
            <a:xfrm rot="10800000" flipH="1">
              <a:off x="346967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1"/>
            <p:cNvSpPr/>
            <p:nvPr/>
          </p:nvSpPr>
          <p:spPr>
            <a:xfrm rot="10800000">
              <a:off x="7958317" y="-4286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1"/>
            <p:cNvSpPr/>
            <p:nvPr/>
          </p:nvSpPr>
          <p:spPr>
            <a:xfrm rot="10800000">
              <a:off x="855260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1"/>
            <p:cNvSpPr/>
            <p:nvPr/>
          </p:nvSpPr>
          <p:spPr>
            <a:xfrm>
              <a:off x="8430777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1"/>
            <p:cNvSpPr/>
            <p:nvPr/>
          </p:nvSpPr>
          <p:spPr>
            <a:xfrm>
              <a:off x="8430767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32"/>
          <p:cNvGrpSpPr/>
          <p:nvPr/>
        </p:nvGrpSpPr>
        <p:grpSpPr>
          <a:xfrm>
            <a:off x="-476796" y="2900252"/>
            <a:ext cx="10097585" cy="2865204"/>
            <a:chOff x="-476796" y="2900252"/>
            <a:chExt cx="10097585" cy="2865204"/>
          </a:xfrm>
        </p:grpSpPr>
        <p:grpSp>
          <p:nvGrpSpPr>
            <p:cNvPr id="325" name="Google Shape;325;p32"/>
            <p:cNvGrpSpPr/>
            <p:nvPr/>
          </p:nvGrpSpPr>
          <p:grpSpPr>
            <a:xfrm>
              <a:off x="-476796" y="2900252"/>
              <a:ext cx="10097585" cy="2865204"/>
              <a:chOff x="-476796" y="2900252"/>
              <a:chExt cx="10097585" cy="2865204"/>
            </a:xfrm>
          </p:grpSpPr>
          <p:sp>
            <p:nvSpPr>
              <p:cNvPr id="326" name="Google Shape;326;p32"/>
              <p:cNvSpPr/>
              <p:nvPr/>
            </p:nvSpPr>
            <p:spPr>
              <a:xfrm rot="10800000" flipH="1">
                <a:off x="-266661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32"/>
              <p:cNvSpPr/>
              <p:nvPr/>
            </p:nvSpPr>
            <p:spPr>
              <a:xfrm>
                <a:off x="-90736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dk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32"/>
              <p:cNvSpPr/>
              <p:nvPr/>
            </p:nvSpPr>
            <p:spPr>
              <a:xfrm>
                <a:off x="-476796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AFC7FF">
                  <a:alpha val="2500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32"/>
              <p:cNvSpPr/>
              <p:nvPr/>
            </p:nvSpPr>
            <p:spPr>
              <a:xfrm rot="10800000">
                <a:off x="8571944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lt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32"/>
              <p:cNvSpPr/>
              <p:nvPr/>
            </p:nvSpPr>
            <p:spPr>
              <a:xfrm flipH="1">
                <a:off x="8396019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32"/>
              <p:cNvSpPr/>
              <p:nvPr/>
            </p:nvSpPr>
            <p:spPr>
              <a:xfrm flipH="1">
                <a:off x="8782079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9FCBFD">
                  <a:alpha val="4114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32"/>
              <p:cNvSpPr/>
              <p:nvPr/>
            </p:nvSpPr>
            <p:spPr>
              <a:xfrm rot="10800000">
                <a:off x="8009979" y="4797335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68DAF8">
                  <a:alpha val="3418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33" name="Google Shape;333;p32"/>
            <p:cNvSpPr/>
            <p:nvPr/>
          </p:nvSpPr>
          <p:spPr>
            <a:xfrm rot="10800000" flipH="1">
              <a:off x="293867" y="47973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7" r:id="rId27"/>
    <p:sldLayoutId id="2147483678" r:id="rId2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uyngoduyngo/smarttoys-ecommerce-analytic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duyngoduyngo@gmail.com" TargetMode="External"/><Relationship Id="rId4" Type="http://schemas.openxmlformats.org/officeDocument/2006/relationships/hyperlink" Target="https://github.com/duyngoduyngo/smarttoys-ecommerce-analytics/blob/main/notebooks/smarttoys_business_review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6"/>
          <p:cNvSpPr txBox="1">
            <a:spLocks noGrp="1"/>
          </p:cNvSpPr>
          <p:nvPr>
            <p:ph type="ctrTitle"/>
          </p:nvPr>
        </p:nvSpPr>
        <p:spPr>
          <a:xfrm>
            <a:off x="713232" y="1051560"/>
            <a:ext cx="4343400" cy="16916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400" b="1" dirty="0" err="1">
                <a:solidFill>
                  <a:srgbClr val="384655"/>
                </a:solidFill>
                <a:latin typeface="Be vietnam pro"/>
              </a:rPr>
              <a:t>SmartToys</a:t>
            </a:r>
            <a:endParaRPr sz="4800" dirty="0">
              <a:latin typeface="Be vietnam pro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400" b="1" dirty="0">
                <a:solidFill>
                  <a:srgbClr val="384655"/>
                </a:solidFill>
                <a:latin typeface="Be vietnam pro"/>
              </a:rPr>
              <a:t>Business Review &amp; Growth Strategy</a:t>
            </a:r>
          </a:p>
        </p:txBody>
      </p:sp>
      <p:sp>
        <p:nvSpPr>
          <p:cNvPr id="345" name="Google Shape;345;p36"/>
          <p:cNvSpPr txBox="1">
            <a:spLocks noGrp="1"/>
          </p:cNvSpPr>
          <p:nvPr>
            <p:ph type="subTitle" idx="1"/>
          </p:nvPr>
        </p:nvSpPr>
        <p:spPr>
          <a:xfrm>
            <a:off x="713232" y="3383280"/>
            <a:ext cx="4343400" cy="1463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dirty="0" err="1">
                <a:solidFill>
                  <a:srgbClr val="2E9CBF"/>
                </a:solidFill>
                <a:latin typeface="Be vietnam pro"/>
              </a:rPr>
              <a:t>Giải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mã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hiện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tượng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trượt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lợi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nhuận</a:t>
            </a:r>
            <a:endParaRPr dirty="0">
              <a:latin typeface="Be vietnam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Unit Economics · Cohort · Funnel · Market Basket · Refund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400" b="0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liệu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03/2012 – 03/2015 · 472,871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phiên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· 32,313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đơn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hàng</a:t>
            </a:r>
            <a:endParaRPr sz="1400" b="0" dirty="0">
              <a:solidFill>
                <a:srgbClr val="384655"/>
              </a:solidFill>
              <a:latin typeface="Be vietnam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84655"/>
                </a:solidFill>
                <a:latin typeface="Be vietnam pro"/>
              </a:rPr>
              <a:t>Ngô Đức Duy</a:t>
            </a:r>
            <a:r>
              <a:rPr sz="1400" b="1" dirty="0">
                <a:solidFill>
                  <a:srgbClr val="384655"/>
                </a:solidFill>
                <a:latin typeface="Be vietnam pro"/>
              </a:rPr>
              <a:t> · Data Analyst Portfolio</a:t>
            </a:r>
          </a:p>
        </p:txBody>
      </p:sp>
      <p:cxnSp>
        <p:nvCxnSpPr>
          <p:cNvPr id="346" name="Google Shape;346;p36"/>
          <p:cNvCxnSpPr/>
          <p:nvPr/>
        </p:nvCxnSpPr>
        <p:spPr>
          <a:xfrm>
            <a:off x="823425" y="987213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7" name="Google Shape;347;p36"/>
          <p:cNvGrpSpPr/>
          <p:nvPr/>
        </p:nvGrpSpPr>
        <p:grpSpPr>
          <a:xfrm>
            <a:off x="5115337" y="-428624"/>
            <a:ext cx="4275118" cy="6450405"/>
            <a:chOff x="5115337" y="-428624"/>
            <a:chExt cx="4275118" cy="6450405"/>
          </a:xfrm>
        </p:grpSpPr>
        <p:sp>
          <p:nvSpPr>
            <p:cNvPr id="348" name="Google Shape;348;p36"/>
            <p:cNvSpPr/>
            <p:nvPr/>
          </p:nvSpPr>
          <p:spPr>
            <a:xfrm rot="10800000" flipH="1">
              <a:off x="8492525" y="-1927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6"/>
            <p:cNvSpPr/>
            <p:nvPr/>
          </p:nvSpPr>
          <p:spPr>
            <a:xfrm>
              <a:off x="8551745" y="32678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6"/>
            <p:cNvSpPr/>
            <p:nvPr/>
          </p:nvSpPr>
          <p:spPr>
            <a:xfrm>
              <a:off x="6606686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7103477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6"/>
            <p:cNvSpPr/>
            <p:nvPr/>
          </p:nvSpPr>
          <p:spPr>
            <a:xfrm>
              <a:off x="6684072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>
              <a:off x="6109895" y="11940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6109895" y="6977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>
              <a:off x="7587339" y="1194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6"/>
            <p:cNvSpPr/>
            <p:nvPr/>
          </p:nvSpPr>
          <p:spPr>
            <a:xfrm>
              <a:off x="5634170" y="-42862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6"/>
            <p:cNvSpPr/>
            <p:nvPr/>
          </p:nvSpPr>
          <p:spPr>
            <a:xfrm>
              <a:off x="7017892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6"/>
            <p:cNvSpPr/>
            <p:nvPr/>
          </p:nvSpPr>
          <p:spPr>
            <a:xfrm>
              <a:off x="5193798" y="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8068891" y="16222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6"/>
            <p:cNvSpPr/>
            <p:nvPr/>
          </p:nvSpPr>
          <p:spPr>
            <a:xfrm rot="10800000" flipH="1">
              <a:off x="5115337" y="3655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6"/>
            <p:cNvSpPr/>
            <p:nvPr/>
          </p:nvSpPr>
          <p:spPr>
            <a:xfrm rot="10800000" flipH="1">
              <a:off x="6606680" y="39247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6"/>
            <p:cNvSpPr/>
            <p:nvPr/>
          </p:nvSpPr>
          <p:spPr>
            <a:xfrm rot="10800000" flipH="1">
              <a:off x="5983934" y="50536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6"/>
            <p:cNvSpPr/>
            <p:nvPr/>
          </p:nvSpPr>
          <p:spPr>
            <a:xfrm rot="10800000" flipH="1">
              <a:off x="7178797" y="35333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6"/>
            <p:cNvSpPr/>
            <p:nvPr/>
          </p:nvSpPr>
          <p:spPr>
            <a:xfrm rot="10800000" flipH="1">
              <a:off x="6606686" y="460940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6"/>
            <p:cNvSpPr/>
            <p:nvPr/>
          </p:nvSpPr>
          <p:spPr>
            <a:xfrm rot="10800000" flipH="1">
              <a:off x="5526543" y="41283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6"/>
            <p:cNvSpPr/>
            <p:nvPr/>
          </p:nvSpPr>
          <p:spPr>
            <a:xfrm>
              <a:off x="8117298" y="28522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6"/>
            <p:cNvSpPr/>
            <p:nvPr/>
          </p:nvSpPr>
          <p:spPr>
            <a:xfrm>
              <a:off x="8172542" y="3036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>
                <a:solidFill>
                  <a:srgbClr val="384655"/>
                </a:solidFill>
                <a:latin typeface="Be vietnam pro"/>
              </a:rPr>
              <a:t>Ba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phát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hiện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chính</a:t>
            </a:r>
            <a:endParaRPr dirty="0"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517380"/>
            <a:ext cx="2606040" cy="197784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dirty="0">
                <a:solidFill>
                  <a:srgbClr val="384655"/>
                </a:solidFill>
                <a:latin typeface="Be vietnam pro"/>
              </a:rPr>
              <a:t>98.14%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một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lần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; retention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1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là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0.84%.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Mỗi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đem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về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$61.16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rồi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biến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mất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nên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mọi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tăng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trưởng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đều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phải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bằng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ngân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sách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quảng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cáo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mới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.</a:t>
            </a:r>
            <a:endParaRPr dirty="0"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CR 3.09% so với Desktop 8.50%. Ước tính $473,000 doanh thu bị bỏ lỡ, và khoảng cách đang nới rộng.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Hudson có biên ròng cao nhất 67.08% và refund thấp nhất 1.28%, nhưng chỉ 1.00% khách xem danh mục click vào.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dirty="0" err="1">
                <a:solidFill>
                  <a:srgbClr val="384655"/>
                </a:solidFill>
                <a:latin typeface="Be vietnam pro"/>
              </a:rPr>
              <a:t>Không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có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vòng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đời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hàng</a:t>
            </a:r>
            <a:endParaRPr dirty="0"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Mobile là lỗ hổng tốn kém nhất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Sản phẩm sinh lời nhất bị chôn vùi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206093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206093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206093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dirty="0">
                <a:solidFill>
                  <a:srgbClr val="2E9CBF"/>
                </a:solidFill>
                <a:latin typeface="Be vietnam pro"/>
              </a:rPr>
              <a:t>TÓM TẮT ĐIỀU HÀNH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62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 err="1">
                <a:solidFill>
                  <a:srgbClr val="384655"/>
                </a:solidFill>
                <a:latin typeface="Be vietnam pro"/>
              </a:rPr>
              <a:t>Bối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cảnh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liệu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và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phương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pháp</a:t>
            </a:r>
            <a:endParaRPr dirty="0">
              <a:latin typeface="Be vietnam pro"/>
            </a:endParaRPr>
          </a:p>
        </p:txBody>
      </p:sp>
      <p:sp>
        <p:nvSpPr>
          <p:cNvPr id="962" name="Google Shape;962;p62"/>
          <p:cNvSpPr txBox="1"/>
          <p:nvPr/>
        </p:nvSpPr>
        <p:spPr>
          <a:xfrm>
            <a:off x="722376" y="1170432"/>
            <a:ext cx="3657600" cy="663122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Câu hỏi kinh doanh &amp; dữ liệu</a:t>
            </a:r>
            <a:endParaRPr sz="2400" b="1">
              <a:solidFill>
                <a:schemeClr val="dk1"/>
              </a:solidFill>
              <a:latin typeface="Be vietnam pro"/>
              <a:ea typeface="Outfit"/>
              <a:cs typeface="Outfit"/>
              <a:sym typeface="Outfit"/>
            </a:endParaRPr>
          </a:p>
        </p:txBody>
      </p:sp>
      <p:sp>
        <p:nvSpPr>
          <p:cNvPr id="969" name="Google Shape;969;p62"/>
          <p:cNvSpPr txBox="1"/>
          <p:nvPr/>
        </p:nvSpPr>
        <p:spPr>
          <a:xfrm>
            <a:off x="4754880" y="1170432"/>
            <a:ext cx="3675887" cy="663122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Kỹ thuật đã áp dụng trong notebook</a:t>
            </a:r>
            <a:endParaRPr sz="2400" b="1">
              <a:solidFill>
                <a:schemeClr val="dk1"/>
              </a:solidFill>
              <a:latin typeface="Be vietnam pro"/>
              <a:ea typeface="Outfit"/>
              <a:cs typeface="Outfit"/>
              <a:sym typeface="Outfit"/>
            </a:endParaRPr>
          </a:p>
        </p:txBody>
      </p:sp>
      <p:sp>
        <p:nvSpPr>
          <p:cNvPr id="973" name="TextBox 972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BỐI CẢNH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978408" y="2034722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“Làm thế nào để tối ưu hóa lợi nhuận và trải nghiệm khách hàng trong năm tới?”</a:t>
            </a:r>
          </a:p>
        </p:txBody>
      </p:sp>
      <p:sp>
        <p:nvSpPr>
          <p:cNvPr id="975" name="Octagon 974"/>
          <p:cNvSpPr/>
          <p:nvPr/>
        </p:nvSpPr>
        <p:spPr>
          <a:xfrm>
            <a:off x="740664" y="2117018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76" name="TextBox 975"/>
          <p:cNvSpPr txBox="1"/>
          <p:nvPr/>
        </p:nvSpPr>
        <p:spPr>
          <a:xfrm>
            <a:off x="978408" y="3083539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472,871 phiên truy cập · 32,313 đơn hàng</a:t>
            </a:r>
          </a:p>
        </p:txBody>
      </p:sp>
      <p:sp>
        <p:nvSpPr>
          <p:cNvPr id="977" name="Octagon 976"/>
          <p:cNvSpPr/>
          <p:nvPr/>
        </p:nvSpPr>
        <p:spPr>
          <a:xfrm>
            <a:off x="740664" y="3165835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978408" y="3858950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6 bảng dữ liệu · 3 năm, 03/2012 – 03/2015</a:t>
            </a:r>
          </a:p>
        </p:txBody>
      </p:sp>
      <p:sp>
        <p:nvSpPr>
          <p:cNvPr id="979" name="Octagon 978"/>
          <p:cNvSpPr/>
          <p:nvPr/>
        </p:nvSpPr>
        <p:spPr>
          <a:xfrm>
            <a:off x="740664" y="3941246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80" name="TextBox 979"/>
          <p:cNvSpPr txBox="1"/>
          <p:nvPr/>
        </p:nvSpPr>
        <p:spPr>
          <a:xfrm>
            <a:off x="5010912" y="2034722"/>
            <a:ext cx="3419855" cy="11159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Unit Economics · Pareto &amp; phân loại ABC · RFM Segmentation · Cohort Retention · Sankey Journey · Conversion Funnel · Market Basket Analysis</a:t>
            </a:r>
          </a:p>
        </p:txBody>
      </p:sp>
      <p:sp>
        <p:nvSpPr>
          <p:cNvPr id="981" name="Octagon 980"/>
          <p:cNvSpPr/>
          <p:nvPr/>
        </p:nvSpPr>
        <p:spPr>
          <a:xfrm>
            <a:off x="4773168" y="2117018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82" name="TextBox 981"/>
          <p:cNvSpPr txBox="1"/>
          <p:nvPr/>
        </p:nvSpPr>
        <p:spPr>
          <a:xfrm>
            <a:off x="5010912" y="3630350"/>
            <a:ext cx="3419855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Python · pandas · numpy · matplotlib · seaborn · plotly</a:t>
            </a:r>
          </a:p>
        </p:txBody>
      </p:sp>
      <p:sp>
        <p:nvSpPr>
          <p:cNvPr id="983" name="Octagon 982"/>
          <p:cNvSpPr/>
          <p:nvPr/>
        </p:nvSpPr>
        <p:spPr>
          <a:xfrm>
            <a:off x="4773168" y="3712646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2"/>
          <p:cNvSpPr/>
          <p:nvPr/>
        </p:nvSpPr>
        <p:spPr>
          <a:xfrm>
            <a:off x="2757270" y="2876959"/>
            <a:ext cx="838710" cy="968121"/>
          </a:xfrm>
          <a:custGeom>
            <a:avLst/>
            <a:gdLst/>
            <a:ahLst/>
            <a:cxnLst/>
            <a:rect l="l" t="t" r="r" b="b"/>
            <a:pathLst>
              <a:path w="181539" h="209550" extrusionOk="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sp>
        <p:nvSpPr>
          <p:cNvPr id="697" name="Google Shape;697;p52"/>
          <p:cNvSpPr txBox="1">
            <a:spLocks noGrp="1"/>
          </p:cNvSpPr>
          <p:nvPr>
            <p:ph type="subTitle" idx="1"/>
          </p:nvPr>
        </p:nvSpPr>
        <p:spPr>
          <a:xfrm>
            <a:off x="4352544" y="2084832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Doanh thu gộp</a:t>
            </a:r>
            <a:endParaRPr>
              <a:latin typeface="Be vietnam pro"/>
            </a:endParaRPr>
          </a:p>
        </p:txBody>
      </p:sp>
      <p:sp>
        <p:nvSpPr>
          <p:cNvPr id="698" name="Google Shape;698;p52"/>
          <p:cNvSpPr txBox="1">
            <a:spLocks noGrp="1"/>
          </p:cNvSpPr>
          <p:nvPr>
            <p:ph type="title"/>
          </p:nvPr>
        </p:nvSpPr>
        <p:spPr>
          <a:xfrm>
            <a:off x="4352544" y="1481328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384655"/>
                </a:solidFill>
                <a:latin typeface="Be vietnam pro"/>
              </a:rPr>
              <a:t>$1,938,509.75</a:t>
            </a:r>
            <a:endParaRPr dirty="0">
              <a:latin typeface="Be vietnam pro"/>
            </a:endParaRPr>
          </a:p>
        </p:txBody>
      </p:sp>
      <p:sp>
        <p:nvSpPr>
          <p:cNvPr id="699" name="Google Shape;699;p52"/>
          <p:cNvSpPr txBox="1">
            <a:spLocks noGrp="1"/>
          </p:cNvSpPr>
          <p:nvPr>
            <p:ph type="title" idx="2"/>
          </p:nvPr>
        </p:nvSpPr>
        <p:spPr>
          <a:xfrm>
            <a:off x="4352544" y="2615184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E9CBF"/>
                </a:solidFill>
                <a:latin typeface="Be vietnam pro"/>
              </a:rPr>
              <a:t>$1,130,800.81</a:t>
            </a:r>
            <a:endParaRPr>
              <a:latin typeface="Be vietnam pro"/>
            </a:endParaRPr>
          </a:p>
        </p:txBody>
      </p:sp>
      <p:sp>
        <p:nvSpPr>
          <p:cNvPr id="700" name="Google Shape;700;p52"/>
          <p:cNvSpPr txBox="1">
            <a:spLocks noGrp="1"/>
          </p:cNvSpPr>
          <p:nvPr>
            <p:ph type="subTitle" idx="3"/>
          </p:nvPr>
        </p:nvSpPr>
        <p:spPr>
          <a:xfrm>
            <a:off x="4352544" y="3218688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Lợi nhuận ròng · biên 58.33%</a:t>
            </a:r>
            <a:endParaRPr>
              <a:latin typeface="Be vietnam pro"/>
            </a:endParaRPr>
          </a:p>
        </p:txBody>
      </p:sp>
      <p:sp>
        <p:nvSpPr>
          <p:cNvPr id="701" name="Google Shape;701;p52"/>
          <p:cNvSpPr txBox="1">
            <a:spLocks noGrp="1"/>
          </p:cNvSpPr>
          <p:nvPr>
            <p:ph type="title" idx="4"/>
          </p:nvPr>
        </p:nvSpPr>
        <p:spPr>
          <a:xfrm>
            <a:off x="4352544" y="3749039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384655"/>
                </a:solidFill>
                <a:latin typeface="Be vietnam pro"/>
              </a:rPr>
              <a:t>6.83%</a:t>
            </a:r>
            <a:endParaRPr>
              <a:latin typeface="Be vietnam pro"/>
            </a:endParaRPr>
          </a:p>
        </p:txBody>
      </p:sp>
      <p:sp>
        <p:nvSpPr>
          <p:cNvPr id="702" name="Google Shape;702;p52"/>
          <p:cNvSpPr txBox="1">
            <a:spLocks noGrp="1"/>
          </p:cNvSpPr>
          <p:nvPr>
            <p:ph type="subTitle" idx="5"/>
          </p:nvPr>
        </p:nvSpPr>
        <p:spPr>
          <a:xfrm>
            <a:off x="4352544" y="4352544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Tỷ lệ chuyển đổi · AOV $59.99</a:t>
            </a:r>
            <a:endParaRPr>
              <a:latin typeface="Be vietnam pro"/>
            </a:endParaRPr>
          </a:p>
        </p:txBody>
      </p:sp>
      <p:grpSp>
        <p:nvGrpSpPr>
          <p:cNvPr id="703" name="Google Shape;703;p52"/>
          <p:cNvGrpSpPr/>
          <p:nvPr/>
        </p:nvGrpSpPr>
        <p:grpSpPr>
          <a:xfrm>
            <a:off x="-130025" y="-312465"/>
            <a:ext cx="3330702" cy="5732675"/>
            <a:chOff x="-130025" y="-312465"/>
            <a:chExt cx="3330702" cy="5732675"/>
          </a:xfrm>
        </p:grpSpPr>
        <p:sp>
          <p:nvSpPr>
            <p:cNvPr id="704" name="Google Shape;704;p52"/>
            <p:cNvSpPr/>
            <p:nvPr/>
          </p:nvSpPr>
          <p:spPr>
            <a:xfrm>
              <a:off x="1575672" y="423331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5" name="Google Shape;705;p52"/>
            <p:cNvSpPr/>
            <p:nvPr/>
          </p:nvSpPr>
          <p:spPr>
            <a:xfrm>
              <a:off x="1955986" y="23050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6" name="Google Shape;706;p52"/>
            <p:cNvSpPr/>
            <p:nvPr/>
          </p:nvSpPr>
          <p:spPr>
            <a:xfrm>
              <a:off x="173058" y="13833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7" name="Google Shape;707;p52"/>
            <p:cNvSpPr/>
            <p:nvPr/>
          </p:nvSpPr>
          <p:spPr>
            <a:xfrm>
              <a:off x="-96967" y="9018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8" name="Google Shape;708;p52"/>
            <p:cNvSpPr/>
            <p:nvPr/>
          </p:nvSpPr>
          <p:spPr>
            <a:xfrm>
              <a:off x="1575664" y="10205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9" name="Google Shape;709;p52"/>
            <p:cNvSpPr/>
            <p:nvPr/>
          </p:nvSpPr>
          <p:spPr>
            <a:xfrm>
              <a:off x="2361967" y="283544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0" name="Google Shape;710;p52"/>
            <p:cNvSpPr/>
            <p:nvPr/>
          </p:nvSpPr>
          <p:spPr>
            <a:xfrm>
              <a:off x="1144579" y="15147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1" name="Google Shape;711;p52"/>
            <p:cNvSpPr/>
            <p:nvPr/>
          </p:nvSpPr>
          <p:spPr>
            <a:xfrm rot="10800000" flipH="1">
              <a:off x="618137" y="24749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2" name="Google Shape;712;p52"/>
            <p:cNvSpPr/>
            <p:nvPr/>
          </p:nvSpPr>
          <p:spPr>
            <a:xfrm rot="10800000" flipH="1">
              <a:off x="869355" y="34993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3" name="Google Shape;713;p52"/>
            <p:cNvSpPr/>
            <p:nvPr/>
          </p:nvSpPr>
          <p:spPr>
            <a:xfrm rot="10800000" flipH="1">
              <a:off x="1396209" y="-31246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4" name="Google Shape;714;p52"/>
            <p:cNvSpPr/>
            <p:nvPr/>
          </p:nvSpPr>
          <p:spPr>
            <a:xfrm rot="10800000" flipH="1">
              <a:off x="301247" y="30080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5" name="Google Shape;715;p52"/>
            <p:cNvSpPr/>
            <p:nvPr/>
          </p:nvSpPr>
          <p:spPr>
            <a:xfrm rot="10800000" flipH="1">
              <a:off x="1011780" y="16415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6" name="Google Shape;716;p52"/>
            <p:cNvSpPr/>
            <p:nvPr/>
          </p:nvSpPr>
          <p:spPr>
            <a:xfrm rot="10800000" flipH="1">
              <a:off x="-130025" y="4047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7" name="Google Shape;717;p52"/>
            <p:cNvSpPr/>
            <p:nvPr/>
          </p:nvSpPr>
          <p:spPr>
            <a:xfrm rot="10800000" flipH="1">
              <a:off x="1994793" y="374927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8" name="Google Shape;718;p52"/>
            <p:cNvSpPr/>
            <p:nvPr/>
          </p:nvSpPr>
          <p:spPr>
            <a:xfrm rot="10800000" flipH="1">
              <a:off x="2150368" y="86088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9" name="Google Shape;719;p52"/>
            <p:cNvSpPr/>
            <p:nvPr/>
          </p:nvSpPr>
          <p:spPr>
            <a:xfrm>
              <a:off x="236023" y="445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720" name="TextBox 719"/>
          <p:cNvSpPr txBox="1"/>
          <p:nvPr/>
        </p:nvSpPr>
        <p:spPr>
          <a:xfrm>
            <a:off x="4352544" y="274320"/>
            <a:ext cx="4078224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TỔNG QUAN</a:t>
            </a:r>
          </a:p>
        </p:txBody>
      </p:sp>
      <p:sp>
        <p:nvSpPr>
          <p:cNvPr id="721" name="TextBox 720"/>
          <p:cNvSpPr txBox="1"/>
          <p:nvPr/>
        </p:nvSpPr>
        <p:spPr>
          <a:xfrm>
            <a:off x="4352544" y="566928"/>
            <a:ext cx="4078224" cy="792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Bức tranh tổng thể sau ba năm vận hành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Doanh thu gộp che giấu cấu trúc lợi nhuận thật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01 · DOANH THU &amp; SẢN PHẨM</a:t>
            </a:r>
          </a:p>
        </p:txBody>
      </p:sp>
      <p:pic>
        <p:nvPicPr>
          <p:cNvPr id="943" name="Picture 942" descr="02_margi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768900"/>
            <a:ext cx="5440680" cy="2441459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178661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096365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Giá vốn $722,370.25 — chiếm 37.26% doanh thu gộp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227477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145181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Hoàn tiền $85,338.69 — ăn 4.40% doanh thu, gần 7.5% lợi nhuận ròng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549700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467404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Lợi nhuận ròng còn $1,130,800.81 — biên 58.33%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Sản phẩm bán chạy nhất lại có biên lợi nhuận thấp nhất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01 · DOANH THU &amp; SẢN PHẨM</a:t>
            </a:r>
          </a:p>
        </p:txBody>
      </p:sp>
      <p:pic>
        <p:nvPicPr>
          <p:cNvPr id="943" name="Picture 942" descr="03_margin_refund_by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48" y="1470355"/>
            <a:ext cx="6925303" cy="2345436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Mr. Fuzzy: 62.47% doanh thu nhưng biên ròng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thấp nhất, 55.91%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Thua Hudson (67.08%) tới </a:t>
            </a:r>
            <a:r>
              <a:rPr sz="1600" b="1">
                <a:solidFill>
                  <a:srgbClr val="384655"/>
                </a:solidFill>
                <a:latin typeface="Be vietnam pro"/>
              </a:rPr>
              <a:t>11.17 điểm phần trăm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cao nhất là Panda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6.04%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, không phải Mr. Fuzzy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3" name="Picture 94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6779" y="1517752"/>
            <a:ext cx="5290800" cy="3336034"/>
          </a:xfrm>
          <a:prstGeom prst="rect">
            <a:avLst/>
          </a:prstGeom>
        </p:spPr>
      </p:pic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Doanh nghiệp gần như không có vòng đời khách hàng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02 · KHÁCH HÀNG</a:t>
            </a:r>
          </a:p>
        </p:txBody>
      </p:sp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31,105 trong 31,696 khách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(98.14%)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chỉ mua đúng một lần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Retention tháng 1 chỉ 0.84%, tháng 3 còn 0.20%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668572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586276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Doanh thu trung bình mỗi khách $61.16, gần bằng AOV $59.99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>
                <a:solidFill>
                  <a:srgbClr val="384655"/>
                </a:solidFill>
                <a:latin typeface="Be vietnam pro"/>
              </a:rPr>
              <a:t>Mobile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kém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hơn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Desktop ở </a:t>
            </a:r>
            <a:r>
              <a:rPr lang="en-US" sz="2400" b="1" dirty="0" err="1">
                <a:solidFill>
                  <a:srgbClr val="384655"/>
                </a:solidFill>
                <a:latin typeface="Be vietnam pro"/>
              </a:rPr>
              <a:t>mọi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bước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2400" b="1" dirty="0" err="1">
                <a:solidFill>
                  <a:srgbClr val="384655"/>
                </a:solidFill>
                <a:latin typeface="Be vietnam pro"/>
              </a:rPr>
              <a:t>của</a:t>
            </a:r>
            <a:r>
              <a:rPr lang="en-US"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phễu</a:t>
            </a:r>
            <a:endParaRPr dirty="0"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585325"/>
            <a:ext cx="5440680" cy="2808610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178661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096365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CR Desktop 8.50%, Mobile 3.09% — chênh 2.75 lần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227477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145181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Nếu Mobile đạt CR Desktop: thêm 7,889 đơn, khoảng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$473,000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549700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467404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Điểm gãy lớn nhất ở cả hai thiết bị: Product Detail →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Khoảng cách xuất hiện ở cả 4 nguồn traffic, không trừ nguồn nào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0_cr_source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018241"/>
            <a:ext cx="5440680" cy="2335055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direct/organic tốt nhất: 9.89% desktop vs 3.20% mobile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socialbook trên mobile chỉ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0.83%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120 phiên mới có 1 đơn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941978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859682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Traffic mobile tốt nhất vẫn thua traffic desktop tệ nhất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68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7315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mobile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không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kém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chất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lượng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—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họ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khó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hàng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hơn</a:t>
            </a:r>
            <a:endParaRPr dirty="0">
              <a:latin typeface="Be vietnam pro"/>
            </a:endParaRPr>
          </a:p>
        </p:txBody>
      </p:sp>
      <p:sp>
        <p:nvSpPr>
          <p:cNvPr id="1044" name="TextBox 1043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22960" y="1298448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84655"/>
                </a:solidFill>
                <a:latin typeface="Be vietnam pro"/>
              </a:rPr>
              <a:t>Desktop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822960" y="178308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384655"/>
                </a:solidFill>
                <a:latin typeface="Be vietnam pro"/>
              </a:rPr>
              <a:t>8.50%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822960" y="233172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chuyển đổi (CR)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22960" y="278892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384655"/>
                </a:solidFill>
                <a:latin typeface="Be vietnam pro"/>
              </a:rPr>
              <a:t>1.90%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822960" y="333756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mua lại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4754880" y="1298448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84655"/>
                </a:solidFill>
                <a:latin typeface="Be vietnam pro"/>
              </a:rPr>
              <a:t>Mobile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4754880" y="178308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5263"/>
                </a:solidFill>
                <a:latin typeface="Be vietnam pro"/>
              </a:rPr>
              <a:t>3.09%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4754880" y="233172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chuyển đổi (CR)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754880" y="278892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5263"/>
                </a:solidFill>
                <a:latin typeface="Be vietnam pro"/>
              </a:rPr>
              <a:t>1.63%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54880" y="333756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mua lại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722376" y="3840480"/>
            <a:ext cx="7708392" cy="866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Repeat rate gần bằng nhau, chỉ CR chênh gần 3 lần. Nếu khách mobile kém chất lượng thì cả hai chỉ số phải kém đều nhau. Khoảng cách chỉ giãn ra ở khâu mua hàng — </a:t>
            </a:r>
            <a:r>
              <a:rPr sz="1600" b="1">
                <a:solidFill>
                  <a:srgbClr val="384655"/>
                </a:solidFill>
                <a:latin typeface="Be vietnam pro"/>
              </a:rPr>
              <a:t>vấn đề nằm ở giao diện website, không ở khách.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dirty="0">
                <a:latin typeface="Be vietnam pro"/>
              </a:rPr>
              <a:t>Mobile </a:t>
            </a:r>
            <a:r>
              <a:rPr lang="en-US" sz="2400" dirty="0" err="1">
                <a:latin typeface="Be vietnam pro"/>
              </a:rPr>
              <a:t>luôn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cao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hơn</a:t>
            </a:r>
            <a:r>
              <a:rPr lang="en-US" sz="2400" dirty="0">
                <a:latin typeface="Be vietnam pro"/>
              </a:rPr>
              <a:t> Desktop </a:t>
            </a:r>
            <a:r>
              <a:rPr lang="en-US" sz="2400" dirty="0" err="1">
                <a:latin typeface="Be vietnam pro"/>
              </a:rPr>
              <a:t>suốt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ba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năm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và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không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thu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hẹp</a:t>
            </a:r>
            <a:endParaRPr lang="en-US" sz="2400" dirty="0"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1_dropoff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00540"/>
            <a:ext cx="8229600" cy="2692787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45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vi-VN" sz="1600" b="0" dirty="0">
                <a:solidFill>
                  <a:srgbClr val="384655"/>
                </a:solidFill>
                <a:latin typeface="Be vietnam pro"/>
              </a:rPr>
              <a:t>Mobile cao hơn Desktop ở cả hai bước, liên tục suốt 3 năm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vi-VN" sz="1600" b="0" dirty="0">
                <a:solidFill>
                  <a:srgbClr val="384655"/>
                </a:solidFill>
                <a:latin typeface="Be vietnam pro"/>
              </a:rPr>
              <a:t>Bước thanh toán: Desktop giảm còn 33.55%, Mobile tăng lên 47.72%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8345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Riêng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6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cuối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khoảng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cách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nới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từ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10.3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lên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14.2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điểm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phần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trăm</a:t>
            </a:r>
            <a:endParaRPr lang="en-US" sz="1600" b="0" dirty="0">
              <a:solidFill>
                <a:srgbClr val="384655"/>
              </a:solidFill>
              <a:latin typeface="Be vietnam pr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Sản phẩm sinh lời nhất đang bị chôn vùi ở vị trí không ai nhìn thấy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1b_funnel_by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962371"/>
            <a:ext cx="5440680" cy="2446795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Hudson chỉ được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1.00%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khách xem danh mục click vào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Nhưng </a:t>
            </a:r>
            <a:r>
              <a:rPr sz="1600" b="1">
                <a:solidFill>
                  <a:srgbClr val="2E9CBF"/>
                </a:solidFill>
                <a:latin typeface="Be vietnam pro"/>
              </a:rPr>
              <a:t>65.13%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người đã xem chi tiết thì thêm vào giỏ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668572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586276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Cao nhất danh mục — vượt Mr. Fuzzy (43.04%) tới 22 điểm phần trăm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Bán chéo nâng AOV 75.6%, nhưng không đến từ liên kết sản phẩm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2_aov_crosss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963" y="1470355"/>
            <a:ext cx="6184073" cy="2345436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Đơn bán chéo AOV $89.25 so với $50.82 của đơn đơn lẻ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Chiếm 23.87% số đơn nhưng đóng góp 35.51% doanh thu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Cả 6 cặp đều có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Lift &lt; 1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dùng Confidence, không dùng Lift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Quy mô lớn nhất và mức nghiêm trọng nhất là hai sản phẩm khác nhau</a:t>
            </a:r>
            <a:endParaRPr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$61,837.63 tiền hoàn, chiếm 72.5% tổng tiền hoàn của toàn công ty.</a:t>
            </a:r>
            <a:endParaRPr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6.04%, cao nhất danh mục, ăn 9.67% lợi nhuận của chính nó.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1.28%, thấp nhất danh mục; chênh 4.7 lần so với Panda.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Mr. Fuzzy — quy mô</a:t>
            </a:r>
            <a:endParaRPr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Panda — mức độ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Hudson — chuẩn so sánh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598371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598371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598371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04 · CHẤT LƯỢNG &amp; VẬN HÀNH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Đỉnh hoàn hàng rơi vào mùa hè, không phải mùa lễ hội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04 · CHẤT LƯỢNG &amp; VẬN HÀNH</a:t>
            </a:r>
          </a:p>
        </p:txBody>
      </p:sp>
      <p:pic>
        <p:nvPicPr>
          <p:cNvPr id="943" name="Picture 942" descr="15_refund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016573"/>
            <a:ext cx="5440680" cy="2338391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Tháng 8 và 9 cùng đạt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7.76%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gấp 2.4 lần tháng 10 (3.17%)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11–12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bán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nhiều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nhất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lại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hoàn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thấp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hơn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trung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bình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4.3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2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941978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859682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Tháng 6–9 bán ít nhất, nên không thể do quá tải công suất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63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Kế hoạch hành động — ưu tiên Cao</a:t>
            </a:r>
            <a:endParaRPr>
              <a:latin typeface="Be vietnam pro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  <p:graphicFrame>
        <p:nvGraphicFramePr>
          <p:cNvPr id="979" name="Table 9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599136"/>
              </p:ext>
            </p:extLst>
          </p:nvPr>
        </p:nvGraphicFramePr>
        <p:xfrm>
          <a:off x="457200" y="1105509"/>
          <a:ext cx="8229600" cy="38948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#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Hành động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Căn cứ dữ liệu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Bộ phận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Kỳ vọng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Thiết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kế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lại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thanh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toán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Mobile: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rút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gọn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/billing,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nút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Thanh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toán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above-the-fold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Drop-off Mobile 47.72% vs Desktop 33.55%, khoảng cách đang nới rộng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Thu hồi ~$150K/năm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0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2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Đưa Hudson lên vị trí nổi bật; gợi ý mua kèm tại Cart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1.00% click nhưng 65.13% thêm giỏ; margin 67.08%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 &amp; Marketing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Hudson từ 7.76% lên 15%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3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Rà soát chất lượng &amp; đóng gói Panda và Mr. Fuzzy; bổ sung lý do hoàn hàng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Panda refund 6.04%; Mr. Fuzzy mất $61,838 (72.5% tiền hoàn)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Vận hành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Refund dưới 3%, tiết kiệm ~$40K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4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Siết đóng gói &amp; lưu kho tháng 6–9, kiểm tra vật liệu chống ẩm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Refund tháng 8–9 đạt 7.76%, gấp 2.4 lần tháng 10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Vận hành &amp; Kho vận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Refund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mùa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hè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về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4.33%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65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Kế hoạch hành động — ưu tiên Trung bình</a:t>
            </a:r>
            <a:endParaRPr>
              <a:latin typeface="Be vietnam pro"/>
            </a:endParaRPr>
          </a:p>
        </p:txBody>
      </p:sp>
      <p:sp>
        <p:nvSpPr>
          <p:cNvPr id="992" name="TextBox 99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  <p:graphicFrame>
        <p:nvGraphicFramePr>
          <p:cNvPr id="993" name="Table 9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217420"/>
              </p:ext>
            </p:extLst>
          </p:nvPr>
        </p:nvGraphicFramePr>
        <p:xfrm>
          <a:off x="457200" y="1105509"/>
          <a:ext cx="8229600" cy="38948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#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Hành động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Căn cứ dữ liệu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Bộ phận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Kỳ vọng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Xây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chương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trình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mua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lại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: email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sau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30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ngày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ưu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đãi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thứ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hai</a:t>
                      </a:r>
                      <a:endParaRPr sz="1400" b="0" dirty="0">
                        <a:solidFill>
                          <a:srgbClr val="384655"/>
                        </a:solidFill>
                        <a:latin typeface="Be vietnam pro"/>
                      </a:endParaRP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Repeat rate 1.86%; mua lần 2 đạt $122–188 vs $61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CRM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Repeat rate lên 5%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6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Rà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soát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/lander-3,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áp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dụng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thiết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kế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của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/lander-5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Drop-off 96.61% trên 79,000 phiên, cao nhất site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Thêm khoảng 5,300 đơn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7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Cắt ngân sách socialbook, dồn cho direct/organic (SEO)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Socialbook 1.15% doanh thu, repeat 1.17%, CR Mobile 0.83%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Performance Media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Giảm CAC lãng phí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8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Bổ sung dashboard theo dõi LTV/CAC theo cohort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Chưa có chỉ số đo chất lượng khách hàng dài hạn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Data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Đo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hiệu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quả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của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mục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5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Ba giới hạn của phân tích</a:t>
            </a:r>
            <a:endParaRPr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Frequency chỉ có 3 giá trị nên thang F thực chất chỉ 3 bậc; tên segment phản ánh chủ yếu Recency và Monetary.</a:t>
            </a:r>
            <a:endParaRPr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Cả 6 cặp đều có Lift &lt; 1. Khuyến nghị bán chéo dựa trên Confidence và biên lợi nhuận, không dựa trên Lift.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517380"/>
            <a:ext cx="2606040" cy="115763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Các nguyên nhân nêu ở Phần 4 là giả thuyết cần kiểm chứng, không phải kết luận.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dirty="0">
                <a:solidFill>
                  <a:srgbClr val="384655"/>
                </a:solidFill>
                <a:latin typeface="Be vietnam pro"/>
              </a:rPr>
              <a:t>RFM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bị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hạn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chế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bởi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liệu</a:t>
            </a:r>
            <a:endParaRPr dirty="0"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Market Basket không có liên kết dương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Chưa có dữ liệu lý do hoàn hàng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206093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206093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206093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2BB4D464-7E89-A22D-F3A8-B19B4C2DD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7" name="Google Shape;347;p36">
            <a:extLst>
              <a:ext uri="{FF2B5EF4-FFF2-40B4-BE49-F238E27FC236}">
                <a16:creationId xmlns:a16="http://schemas.microsoft.com/office/drawing/2014/main" id="{2269C1C6-948F-BF65-21E7-FC20BAF9902B}"/>
              </a:ext>
            </a:extLst>
          </p:cNvPr>
          <p:cNvGrpSpPr/>
          <p:nvPr/>
        </p:nvGrpSpPr>
        <p:grpSpPr>
          <a:xfrm>
            <a:off x="5115337" y="-428624"/>
            <a:ext cx="4275118" cy="6450405"/>
            <a:chOff x="5115337" y="-428624"/>
            <a:chExt cx="4275118" cy="6450405"/>
          </a:xfrm>
        </p:grpSpPr>
        <p:sp>
          <p:nvSpPr>
            <p:cNvPr id="348" name="Google Shape;348;p36">
              <a:extLst>
                <a:ext uri="{FF2B5EF4-FFF2-40B4-BE49-F238E27FC236}">
                  <a16:creationId xmlns:a16="http://schemas.microsoft.com/office/drawing/2014/main" id="{310515B7-05B0-922A-8F68-65CA2C081663}"/>
                </a:ext>
              </a:extLst>
            </p:cNvPr>
            <p:cNvSpPr/>
            <p:nvPr/>
          </p:nvSpPr>
          <p:spPr>
            <a:xfrm rot="10800000" flipH="1">
              <a:off x="8492525" y="-1927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49" name="Google Shape;349;p36">
              <a:extLst>
                <a:ext uri="{FF2B5EF4-FFF2-40B4-BE49-F238E27FC236}">
                  <a16:creationId xmlns:a16="http://schemas.microsoft.com/office/drawing/2014/main" id="{2831EB60-2F6F-5B1F-007A-2F1845E852BC}"/>
                </a:ext>
              </a:extLst>
            </p:cNvPr>
            <p:cNvSpPr/>
            <p:nvPr/>
          </p:nvSpPr>
          <p:spPr>
            <a:xfrm>
              <a:off x="8551745" y="32678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04AB2CB3-58FE-9B7C-9421-E317329E87A0}"/>
                </a:ext>
              </a:extLst>
            </p:cNvPr>
            <p:cNvSpPr/>
            <p:nvPr/>
          </p:nvSpPr>
          <p:spPr>
            <a:xfrm>
              <a:off x="6606686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367EE5B6-8153-BA28-E7B3-8DA10D1FE6E5}"/>
                </a:ext>
              </a:extLst>
            </p:cNvPr>
            <p:cNvSpPr/>
            <p:nvPr/>
          </p:nvSpPr>
          <p:spPr>
            <a:xfrm>
              <a:off x="7103477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2" name="Google Shape;352;p36">
              <a:extLst>
                <a:ext uri="{FF2B5EF4-FFF2-40B4-BE49-F238E27FC236}">
                  <a16:creationId xmlns:a16="http://schemas.microsoft.com/office/drawing/2014/main" id="{9DA25624-C239-3D07-8220-7B5C56591D49}"/>
                </a:ext>
              </a:extLst>
            </p:cNvPr>
            <p:cNvSpPr/>
            <p:nvPr/>
          </p:nvSpPr>
          <p:spPr>
            <a:xfrm>
              <a:off x="6684072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7A303D-ADDB-EB49-D993-1868D15B6E98}"/>
                </a:ext>
              </a:extLst>
            </p:cNvPr>
            <p:cNvSpPr/>
            <p:nvPr/>
          </p:nvSpPr>
          <p:spPr>
            <a:xfrm>
              <a:off x="6109895" y="11940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E51566C7-A06A-FB51-A19E-381E72393E92}"/>
                </a:ext>
              </a:extLst>
            </p:cNvPr>
            <p:cNvSpPr/>
            <p:nvPr/>
          </p:nvSpPr>
          <p:spPr>
            <a:xfrm>
              <a:off x="6109895" y="6977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5" name="Google Shape;355;p36">
              <a:extLst>
                <a:ext uri="{FF2B5EF4-FFF2-40B4-BE49-F238E27FC236}">
                  <a16:creationId xmlns:a16="http://schemas.microsoft.com/office/drawing/2014/main" id="{65A35411-8E8C-1778-0FF6-F45A6ADFEA55}"/>
                </a:ext>
              </a:extLst>
            </p:cNvPr>
            <p:cNvSpPr/>
            <p:nvPr/>
          </p:nvSpPr>
          <p:spPr>
            <a:xfrm>
              <a:off x="7587339" y="1194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6" name="Google Shape;356;p36">
              <a:extLst>
                <a:ext uri="{FF2B5EF4-FFF2-40B4-BE49-F238E27FC236}">
                  <a16:creationId xmlns:a16="http://schemas.microsoft.com/office/drawing/2014/main" id="{7FCC3AD9-06BE-C472-906F-470FA5BEC502}"/>
                </a:ext>
              </a:extLst>
            </p:cNvPr>
            <p:cNvSpPr/>
            <p:nvPr/>
          </p:nvSpPr>
          <p:spPr>
            <a:xfrm>
              <a:off x="5634170" y="-42862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7" name="Google Shape;357;p36">
              <a:extLst>
                <a:ext uri="{FF2B5EF4-FFF2-40B4-BE49-F238E27FC236}">
                  <a16:creationId xmlns:a16="http://schemas.microsoft.com/office/drawing/2014/main" id="{CD8AD0DA-9C5B-2B4C-01CC-9C5D923F1A3C}"/>
                </a:ext>
              </a:extLst>
            </p:cNvPr>
            <p:cNvSpPr/>
            <p:nvPr/>
          </p:nvSpPr>
          <p:spPr>
            <a:xfrm>
              <a:off x="7017892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64676BE5-BC47-C755-93E8-71D016ADCB48}"/>
                </a:ext>
              </a:extLst>
            </p:cNvPr>
            <p:cNvSpPr/>
            <p:nvPr/>
          </p:nvSpPr>
          <p:spPr>
            <a:xfrm>
              <a:off x="5193798" y="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F0768560-98C8-2CD0-B175-97C2A8A8D93A}"/>
                </a:ext>
              </a:extLst>
            </p:cNvPr>
            <p:cNvSpPr/>
            <p:nvPr/>
          </p:nvSpPr>
          <p:spPr>
            <a:xfrm>
              <a:off x="8068891" y="16222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0" name="Google Shape;360;p36">
              <a:extLst>
                <a:ext uri="{FF2B5EF4-FFF2-40B4-BE49-F238E27FC236}">
                  <a16:creationId xmlns:a16="http://schemas.microsoft.com/office/drawing/2014/main" id="{86212A14-55EA-AD6F-5305-189C7452D362}"/>
                </a:ext>
              </a:extLst>
            </p:cNvPr>
            <p:cNvSpPr/>
            <p:nvPr/>
          </p:nvSpPr>
          <p:spPr>
            <a:xfrm rot="10800000" flipH="1">
              <a:off x="5115337" y="3655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1" name="Google Shape;361;p36">
              <a:extLst>
                <a:ext uri="{FF2B5EF4-FFF2-40B4-BE49-F238E27FC236}">
                  <a16:creationId xmlns:a16="http://schemas.microsoft.com/office/drawing/2014/main" id="{747904C8-2949-7ADC-B13B-8A99E743DCA6}"/>
                </a:ext>
              </a:extLst>
            </p:cNvPr>
            <p:cNvSpPr/>
            <p:nvPr/>
          </p:nvSpPr>
          <p:spPr>
            <a:xfrm rot="10800000" flipH="1">
              <a:off x="6606680" y="39247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2" name="Google Shape;362;p36">
              <a:extLst>
                <a:ext uri="{FF2B5EF4-FFF2-40B4-BE49-F238E27FC236}">
                  <a16:creationId xmlns:a16="http://schemas.microsoft.com/office/drawing/2014/main" id="{2D9B7DFC-1396-707D-1234-3DA0B60CD8EA}"/>
                </a:ext>
              </a:extLst>
            </p:cNvPr>
            <p:cNvSpPr/>
            <p:nvPr/>
          </p:nvSpPr>
          <p:spPr>
            <a:xfrm rot="10800000" flipH="1">
              <a:off x="5983934" y="50536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3" name="Google Shape;363;p36">
              <a:extLst>
                <a:ext uri="{FF2B5EF4-FFF2-40B4-BE49-F238E27FC236}">
                  <a16:creationId xmlns:a16="http://schemas.microsoft.com/office/drawing/2014/main" id="{1F758E4A-E59B-4121-9F52-CB260739614E}"/>
                </a:ext>
              </a:extLst>
            </p:cNvPr>
            <p:cNvSpPr/>
            <p:nvPr/>
          </p:nvSpPr>
          <p:spPr>
            <a:xfrm rot="10800000" flipH="1">
              <a:off x="7178797" y="35333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4" name="Google Shape;364;p36">
              <a:extLst>
                <a:ext uri="{FF2B5EF4-FFF2-40B4-BE49-F238E27FC236}">
                  <a16:creationId xmlns:a16="http://schemas.microsoft.com/office/drawing/2014/main" id="{BF1C565B-1C45-1527-4336-A50DD74F3B95}"/>
                </a:ext>
              </a:extLst>
            </p:cNvPr>
            <p:cNvSpPr/>
            <p:nvPr/>
          </p:nvSpPr>
          <p:spPr>
            <a:xfrm rot="10800000" flipH="1">
              <a:off x="6606686" y="460940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5" name="Google Shape;365;p36">
              <a:extLst>
                <a:ext uri="{FF2B5EF4-FFF2-40B4-BE49-F238E27FC236}">
                  <a16:creationId xmlns:a16="http://schemas.microsoft.com/office/drawing/2014/main" id="{F5959DD3-7F79-B680-B10E-EBDC5474F9E6}"/>
                </a:ext>
              </a:extLst>
            </p:cNvPr>
            <p:cNvSpPr/>
            <p:nvPr/>
          </p:nvSpPr>
          <p:spPr>
            <a:xfrm rot="10800000" flipH="1">
              <a:off x="5526543" y="41283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6" name="Google Shape;366;p36">
              <a:extLst>
                <a:ext uri="{FF2B5EF4-FFF2-40B4-BE49-F238E27FC236}">
                  <a16:creationId xmlns:a16="http://schemas.microsoft.com/office/drawing/2014/main" id="{CC60F30C-A08B-42FB-5C2C-857599CB928E}"/>
                </a:ext>
              </a:extLst>
            </p:cNvPr>
            <p:cNvSpPr/>
            <p:nvPr/>
          </p:nvSpPr>
          <p:spPr>
            <a:xfrm>
              <a:off x="8117298" y="28522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7" name="Google Shape;367;p36">
              <a:extLst>
                <a:ext uri="{FF2B5EF4-FFF2-40B4-BE49-F238E27FC236}">
                  <a16:creationId xmlns:a16="http://schemas.microsoft.com/office/drawing/2014/main" id="{73A863C5-4C5F-EF17-D351-3D549280B9DC}"/>
                </a:ext>
              </a:extLst>
            </p:cNvPr>
            <p:cNvSpPr/>
            <p:nvPr/>
          </p:nvSpPr>
          <p:spPr>
            <a:xfrm>
              <a:off x="8172542" y="3036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" name="Subtitle 4">
            <a:extLst>
              <a:ext uri="{FF2B5EF4-FFF2-40B4-BE49-F238E27FC236}">
                <a16:creationId xmlns:a16="http://schemas.microsoft.com/office/drawing/2014/main" id="{73D1AADE-6DD1-59C7-44D7-AA4C693932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" y="1677238"/>
            <a:ext cx="4754880" cy="1325880"/>
          </a:xfrm>
        </p:spPr>
        <p:txBody>
          <a:bodyPr wrap="square" lIns="0" tIns="0" rIns="0" bIns="0" anchor="t"/>
          <a:lstStyle/>
          <a:p>
            <a:pPr>
              <a:spcAft>
                <a:spcPts val="300"/>
              </a:spcAft>
            </a:pPr>
            <a:r>
              <a:rPr lang="en-US" sz="1600" b="1" dirty="0">
                <a:solidFill>
                  <a:srgbClr val="384655"/>
                </a:solidFill>
                <a:latin typeface="Be vietnam pro"/>
              </a:rPr>
              <a:t>Ngô Đức Duy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· Data Analyst</a:t>
            </a:r>
            <a:r>
              <a:rPr lang="en-US" sz="1600" dirty="0">
                <a:solidFill>
                  <a:srgbClr val="384655"/>
                </a:solidFill>
                <a:latin typeface="Be vietnam pro"/>
              </a:rPr>
              <a:t>/Analytics Engineer</a:t>
            </a:r>
            <a:endParaRPr lang="en-US" dirty="0">
              <a:latin typeface="Be vietnam pro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GitHub repo: </a:t>
            </a:r>
            <a:r>
              <a:rPr sz="1400" b="1" dirty="0">
                <a:solidFill>
                  <a:schemeClr val="tx1"/>
                </a:solidFill>
                <a:latin typeface="Be vietnam pro"/>
              </a:rPr>
              <a:t>[</a:t>
            </a:r>
            <a:r>
              <a:rPr sz="1400" b="1" dirty="0">
                <a:solidFill>
                  <a:srgbClr val="384655"/>
                </a:solidFill>
                <a:latin typeface="Be vietnam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r>
              <a:rPr lang="en-US" sz="1400" b="1" dirty="0">
                <a:solidFill>
                  <a:srgbClr val="384655"/>
                </a:solidFill>
                <a:latin typeface="Be vietnam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400" b="1" dirty="0" err="1">
                <a:solidFill>
                  <a:srgbClr val="384655"/>
                </a:solidFill>
                <a:latin typeface="Be vietnam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dẫn</a:t>
            </a:r>
            <a:r>
              <a:rPr sz="1400" b="1" dirty="0">
                <a:solidFill>
                  <a:schemeClr val="tx1"/>
                </a:solidFill>
                <a:latin typeface="Be vietnam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GitHub</a:t>
            </a:r>
            <a:r>
              <a:rPr sz="1400" b="1" dirty="0">
                <a:solidFill>
                  <a:schemeClr val="tx1"/>
                </a:solidFill>
                <a:latin typeface="Be vietnam pro"/>
              </a:rPr>
              <a:t>]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Notebook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đầy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đủ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: </a:t>
            </a:r>
            <a:r>
              <a:rPr sz="1400" b="1" dirty="0">
                <a:solidFill>
                  <a:schemeClr val="tx1"/>
                </a:solidFill>
                <a:latin typeface="Be vietnam pro"/>
              </a:rPr>
              <a:t>[</a:t>
            </a:r>
            <a:r>
              <a:rPr sz="1400" b="1" dirty="0">
                <a:solidFill>
                  <a:schemeClr val="tx1"/>
                </a:solidFill>
                <a:latin typeface="Be vietnam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 notebook</a:t>
            </a:r>
            <a:r>
              <a:rPr sz="1400" b="1" dirty="0">
                <a:solidFill>
                  <a:schemeClr val="tx1"/>
                </a:solidFill>
                <a:latin typeface="Be vietnam pro"/>
              </a:rPr>
              <a:t>]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Email: </a:t>
            </a:r>
            <a:r>
              <a:rPr lang="en-US" sz="1400" b="1" dirty="0">
                <a:solidFill>
                  <a:srgbClr val="2E9CBF"/>
                </a:solidFill>
                <a:latin typeface="Be vietnam pro"/>
                <a:hlinkClick r:id="rId5"/>
              </a:rPr>
              <a:t>duyngoduyngo@gmail.com</a:t>
            </a:r>
            <a:endParaRPr sz="1400" b="1" dirty="0">
              <a:solidFill>
                <a:srgbClr val="2E9CBF"/>
              </a:solidFill>
              <a:latin typeface="Be vietnam pro"/>
            </a:endParaRPr>
          </a:p>
        </p:txBody>
      </p:sp>
      <p:sp>
        <p:nvSpPr>
          <p:cNvPr id="6" name="Google Shape;1078;p70">
            <a:extLst>
              <a:ext uri="{FF2B5EF4-FFF2-40B4-BE49-F238E27FC236}">
                <a16:creationId xmlns:a16="http://schemas.microsoft.com/office/drawing/2014/main" id="{FA7A2482-55BA-F54A-A496-583AECE5BCB4}"/>
              </a:ext>
            </a:extLst>
          </p:cNvPr>
          <p:cNvSpPr txBox="1">
            <a:spLocks/>
          </p:cNvSpPr>
          <p:nvPr/>
        </p:nvSpPr>
        <p:spPr>
          <a:xfrm>
            <a:off x="713232" y="731520"/>
            <a:ext cx="5093208" cy="62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"/>
              <a:buNone/>
              <a:defRPr sz="3600" b="1" i="0" u="none" strike="noStrike" cap="none" spc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9pPr>
          </a:lstStyle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384655"/>
                </a:solidFill>
                <a:latin typeface="Be vietnam pro"/>
              </a:rPr>
              <a:t>Cảm ơn bạn đã đọc</a:t>
            </a:r>
          </a:p>
        </p:txBody>
      </p:sp>
      <p:cxnSp>
        <p:nvCxnSpPr>
          <p:cNvPr id="7" name="Google Shape;1098;p70">
            <a:extLst>
              <a:ext uri="{FF2B5EF4-FFF2-40B4-BE49-F238E27FC236}">
                <a16:creationId xmlns:a16="http://schemas.microsoft.com/office/drawing/2014/main" id="{38C6E86D-4721-A032-E35C-BF9BF5224BF4}"/>
              </a:ext>
            </a:extLst>
          </p:cNvPr>
          <p:cNvCxnSpPr/>
          <p:nvPr/>
        </p:nvCxnSpPr>
        <p:spPr>
          <a:xfrm>
            <a:off x="814225" y="677513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64362170"/>
      </p:ext>
    </p:extLst>
  </p:cSld>
  <p:clrMapOvr>
    <a:masterClrMapping/>
  </p:clrMapOvr>
</p:sld>
</file>

<file path=ppt/theme/theme1.xml><?xml version="1.0" encoding="utf-8"?>
<a:theme xmlns:a="http://schemas.openxmlformats.org/drawingml/2006/main" name="Data Collection and Analysis - Master of Science in Community Health and Prevention Research by Slidesgo">
  <a:themeElements>
    <a:clrScheme name="Simple Light">
      <a:dk1>
        <a:srgbClr val="384655"/>
      </a:dk1>
      <a:lt1>
        <a:srgbClr val="FFFFFF"/>
      </a:lt1>
      <a:dk2>
        <a:srgbClr val="AFC7FF"/>
      </a:dk2>
      <a:lt2>
        <a:srgbClr val="9FCBFD"/>
      </a:lt2>
      <a:accent1>
        <a:srgbClr val="68DAF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8465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1477</Words>
  <Application>Microsoft Office PowerPoint</Application>
  <PresentationFormat>On-screen Show (16:9)</PresentationFormat>
  <Paragraphs>164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Outfit</vt:lpstr>
      <vt:lpstr>DM Sans</vt:lpstr>
      <vt:lpstr>Be vietnam pro</vt:lpstr>
      <vt:lpstr>Nunito Light</vt:lpstr>
      <vt:lpstr>Data Collection and Analysis - Master of Science in Community Health and Prevention Research by Slidesgo</vt:lpstr>
      <vt:lpstr>SmartToys Business Review &amp; Growth Strategy</vt:lpstr>
      <vt:lpstr>Ba phát hiện chính</vt:lpstr>
      <vt:lpstr>Bối cảnh, dữ liệu và phương pháp</vt:lpstr>
      <vt:lpstr>$1,938,509.75</vt:lpstr>
      <vt:lpstr>Doanh thu gộp che giấu cấu trúc lợi nhuận thật</vt:lpstr>
      <vt:lpstr>Sản phẩm bán chạy nhất lại có biên lợi nhuận thấp nhất</vt:lpstr>
      <vt:lpstr>Doanh nghiệp gần như không có vòng đời khách hàng</vt:lpstr>
      <vt:lpstr>Mobile kém hơn Desktop ở mọi bước của phễu</vt:lpstr>
      <vt:lpstr>Khoảng cách xuất hiện ở cả 4 nguồn traffic, không trừ nguồn nào</vt:lpstr>
      <vt:lpstr>Khách mobile không kém chất lượng — họ chỉ khó mua hàng hơn</vt:lpstr>
      <vt:lpstr>Mobile luôn cao hơn Desktop suốt ba năm và không thu hẹp</vt:lpstr>
      <vt:lpstr>Sản phẩm sinh lời nhất đang bị chôn vùi ở vị trí không ai nhìn thấy</vt:lpstr>
      <vt:lpstr>Bán chéo nâng AOV 75.6%, nhưng không đến từ liên kết sản phẩm</vt:lpstr>
      <vt:lpstr>Quy mô lớn nhất và mức nghiêm trọng nhất là hai sản phẩm khác nhau</vt:lpstr>
      <vt:lpstr>Đỉnh hoàn hàng rơi vào mùa hè, không phải mùa lễ hội</vt:lpstr>
      <vt:lpstr>Kế hoạch hành động — ưu tiên Cao</vt:lpstr>
      <vt:lpstr>Kế hoạch hành động — ưu tiên Trung bình</vt:lpstr>
      <vt:lpstr>Ba giới hạn của phân tích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Duy Ngo</cp:lastModifiedBy>
  <cp:revision>7</cp:revision>
  <dcterms:modified xsi:type="dcterms:W3CDTF">2026-09-09T09:08:07Z</dcterms:modified>
</cp:coreProperties>
</file>